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Acre Area</c:v>
                </c:pt>
              </c:strCache>
            </c:strRef>
          </c:tx>
          <c:spPr>
            <a:solidFill>
              <a:srgbClr val="16A34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Paddy</c:v>
                  </c:pt>
                  <c:pt idx="1">
                    <c:v>Wheat</c:v>
                  </c:pt>
                  <c:pt idx="2">
                    <c:v>Cotton</c:v>
                  </c:pt>
                  <c:pt idx="3">
                    <c:v>Groundnut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18.5</c:v>
                </c:pt>
                <c:pt idx="2">
                  <c:v>12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97280"/>
            <a:ext cx="3108960" cy="310896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754880"/>
            <a:ext cx="2377440" cy="2377440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120640"/>
            <a:ext cx="2377440" cy="237744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Agriculture Management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microservices-based portal connecting farmers, officers and administrators — for crop planning, input supply, produce sales, subsidies and analytics.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Evaluation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Bhuvaneshvar 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ownership:  Subsidy &amp; Scheme  ·  Reporting &amp;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support programs are fragmented across disconnected registers, paperwork and manual approvals — creating delays, errors and no single source of truth.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715768"/>
            <a:ext cx="457200" cy="45720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679192"/>
            <a:ext cx="4128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41742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land, crop and produce data live in separate silos with no linkage.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3076" y="242316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7396" y="2715768"/>
            <a:ext cx="457200" cy="45720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6597396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37476" y="2679192"/>
            <a:ext cx="4128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subsidy handling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37476" y="3108960"/>
            <a:ext cx="41742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eligibility checks and disbursements tracked on paper — slow and error-prone.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599432"/>
            <a:ext cx="4128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boundaries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5029200"/>
            <a:ext cx="41742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accesses everything; no enforced separation between farmers, officers and admins.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23076" y="434340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97396" y="4636008"/>
            <a:ext cx="457200" cy="45720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6597396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37476" y="4599432"/>
            <a:ext cx="4128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237476" y="5029200"/>
            <a:ext cx="41742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lack consolidated analytics on yield, subsidies and market sales.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secure, cloud-style microservices platform that unifies the entire agricultural workflow with strict role-based access.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system  —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land, crop, input, produce, subsidy &amp; report data linked end-to-end.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74136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3284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role  —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per-service authorization for 6 distinct user roles.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16966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+ oversight  —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self-register &amp; apply; officers verify; admins approve &amp; analyse.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56632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50109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analytics  —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plus exportable Excel/PDF reports for decision makers.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40880" y="1828800"/>
            <a:ext cx="4599432" cy="4206240"/>
          </a:xfrm>
          <a:prstGeom prst="roundRect">
            <a:avLst>
              <a:gd name="adj" fmla="val 1957"/>
            </a:avLst>
          </a:prstGeom>
          <a:solidFill>
            <a:srgbClr val="1440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21031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144000" y="260604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34472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144000" y="3447288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42885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144000" y="4288536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51297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9144000" y="5129784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APIs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0" y="1417320"/>
            <a:ext cx="5239512" cy="640080"/>
          </a:xfrm>
          <a:prstGeom prst="roundRect">
            <a:avLst>
              <a:gd name="adj" fmla="val 12857"/>
            </a:avLst>
          </a:prstGeom>
          <a:solidFill>
            <a:srgbClr val="22C55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29584" y="1417320"/>
            <a:ext cx="5129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 SPA  —  Web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0" y="2331720"/>
            <a:ext cx="5239512" cy="640080"/>
          </a:xfrm>
          <a:prstGeom prst="roundRect">
            <a:avLst>
              <a:gd name="adj" fmla="val 12857"/>
            </a:avLst>
          </a:prstGeom>
          <a:solidFill>
            <a:srgbClr val="1440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2331720"/>
            <a:ext cx="5129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API Gateway  ( :9091 )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98280" y="141732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53144" y="141732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:8761 )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" y="141732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per-service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3487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3429000"/>
            <a:ext cx="1239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043684" y="3429000"/>
            <a:ext cx="13487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98548" y="3429000"/>
            <a:ext cx="1239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38728" y="3429000"/>
            <a:ext cx="13487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93592" y="3429000"/>
            <a:ext cx="1239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33772" y="3429000"/>
            <a:ext cx="13487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88636" y="3429000"/>
            <a:ext cx="1239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:8084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28816" y="3429000"/>
            <a:ext cx="1348740" cy="1051560"/>
          </a:xfrm>
          <a:prstGeom prst="roundRect">
            <a:avLst>
              <a:gd name="adj" fmla="val 7826"/>
            </a:avLst>
          </a:prstGeom>
          <a:solidFill>
            <a:srgbClr val="16A3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3429000"/>
            <a:ext cx="1239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23860" y="3429000"/>
            <a:ext cx="13487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78724" y="3429000"/>
            <a:ext cx="1239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:8086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18904" y="3429000"/>
            <a:ext cx="1348740" cy="1051560"/>
          </a:xfrm>
          <a:prstGeom prst="roundRect">
            <a:avLst>
              <a:gd name="adj" fmla="val 7826"/>
            </a:avLst>
          </a:prstGeom>
          <a:solidFill>
            <a:srgbClr val="16A3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73768" y="3429000"/>
            <a:ext cx="1239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:8087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013948" y="3429000"/>
            <a:ext cx="13487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068812" y="3429000"/>
            <a:ext cx="1239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:8088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&amp; Report = my modules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97680" y="5440680"/>
            <a:ext cx="35661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52544" y="544068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—  Persistent Data Store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089904" y="2057400"/>
            <a:ext cx="0" cy="27432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89904" y="2971800"/>
            <a:ext cx="0" cy="4572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89904" y="4480560"/>
            <a:ext cx="0" cy="96012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498598" cy="402336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2498598" cy="640080"/>
          </a:xfrm>
          <a:prstGeom prst="roundRect">
            <a:avLst>
              <a:gd name="adj" fmla="val 12857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22242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0871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 / REST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· Hibernate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2998" y="1828800"/>
            <a:ext cx="2498598" cy="402336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2998" y="1828800"/>
            <a:ext cx="2498598" cy="640080"/>
          </a:xfrm>
          <a:prstGeom prst="roundRect">
            <a:avLst>
              <a:gd name="adj" fmla="val 12857"/>
            </a:avLst>
          </a:prstGeom>
          <a:solidFill>
            <a:srgbClr val="14402B"/>
          </a:solidFill>
          <a:ln/>
        </p:spPr>
      </p:sp>
      <p:sp>
        <p:nvSpPr>
          <p:cNvPr id="11" name="Text 9"/>
          <p:cNvSpPr/>
          <p:nvPr/>
        </p:nvSpPr>
        <p:spPr>
          <a:xfrm>
            <a:off x="3550158" y="1828800"/>
            <a:ext cx="22242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41598" y="2697480"/>
            <a:ext cx="20871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2025.x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Eureka (discovery)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RestTemplate (inter-service)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fallbacks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1828800"/>
            <a:ext cx="2498598" cy="402336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7356" y="1828800"/>
            <a:ext cx="2498598" cy="640080"/>
          </a:xfrm>
          <a:prstGeom prst="roundRect">
            <a:avLst>
              <a:gd name="adj" fmla="val 12857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14516" y="1828800"/>
            <a:ext cx="22242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5956" y="2697480"/>
            <a:ext cx="20871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 (standalone)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5.5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Signals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routing + guards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1714" y="1828800"/>
            <a:ext cx="2498598" cy="402336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1714" y="1828800"/>
            <a:ext cx="2498598" cy="640080"/>
          </a:xfrm>
          <a:prstGeom prst="roundRect">
            <a:avLst>
              <a:gd name="adj" fmla="val 12857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278874" y="1828800"/>
            <a:ext cx="22242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Tooling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70314" y="2697480"/>
            <a:ext cx="20871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(H2 for tests)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 (Excel)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OpenPDF (PDF export)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(multi-module)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/ Mockito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84248"/>
            <a:ext cx="457200" cy="457200"/>
          </a:xfrm>
          <a:prstGeom prst="ellipse">
            <a:avLst/>
          </a:prstGeom>
          <a:solidFill>
            <a:srgbClr val="1440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002536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AgriLinkAdmin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Superuser — full CRUD across every module &amp; user/role management.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784" y="169164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2104" y="198424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64210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36464" y="2002536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ExtensionOfficer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42104" y="260604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 — registers/verifies farmers, records crop observations.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6928" y="169164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1248" y="198424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46124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55608" y="2002536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ProcurementOfficer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61248" y="260604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input catalogs and produce sales / procurement.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8736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4105656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SubsidyAdmin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subsidies — manages schemes, reviews/approves/disburses claims.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7784" y="379476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2104" y="40873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642104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36464" y="4105656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ComplianceAnalyst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42104" y="470916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— read-only oversight plus audit-log access everywhere.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6928" y="379476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61248" y="4087368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2" name="Text 30"/>
          <p:cNvSpPr/>
          <p:nvPr/>
        </p:nvSpPr>
        <p:spPr>
          <a:xfrm>
            <a:off x="8461248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55608" y="4105656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61248" y="470916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— own profile, land, crops, inputs, produce &amp; subsidy requests.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the backend: every service validates a JWT and applies its own role rules — not just hidden in the UI.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DOES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3288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93392"/>
            <a:ext cx="402336" cy="402336"/>
          </a:xfrm>
          <a:prstGeom prst="ellipse">
            <a:avLst/>
          </a:prstGeom>
          <a:solidFill>
            <a:srgbClr val="14402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registration, users, roles, audit trail (JWT-secured).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37360"/>
            <a:ext cx="253288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993392"/>
            <a:ext cx="402336" cy="402336"/>
          </a:xfrm>
          <a:prstGeom prst="ellipse">
            <a:avLst/>
          </a:prstGeom>
          <a:solidFill>
            <a:srgbClr val="1440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0168" y="248716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&amp; Land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30168" y="294436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profiles + land holdings with admin approval workflow.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737360"/>
            <a:ext cx="253288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0528" y="1993392"/>
            <a:ext cx="402336" cy="402336"/>
          </a:xfrm>
          <a:prstGeom prst="ellipse">
            <a:avLst/>
          </a:prstGeom>
          <a:solidFill>
            <a:srgbClr val="14402B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83096" y="248716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83096" y="294436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catalog, seasonal crop plans and growth observations.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1737360"/>
            <a:ext cx="253288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63456" y="1993392"/>
            <a:ext cx="402336" cy="402336"/>
          </a:xfrm>
          <a:prstGeom prst="ellipse">
            <a:avLst/>
          </a:prstGeom>
          <a:solidFill>
            <a:srgbClr val="14402B"/>
          </a:solidFill>
          <a:ln/>
        </p:spPr>
      </p:sp>
      <p:sp>
        <p:nvSpPr>
          <p:cNvPr id="22" name="Text 20"/>
          <p:cNvSpPr/>
          <p:nvPr/>
        </p:nvSpPr>
        <p:spPr>
          <a:xfrm>
            <a:off x="9363456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36024" y="248716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Supply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36024" y="294436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catalogs and farmer input requests / fulfilment.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2532888" cy="1783080"/>
          </a:xfrm>
          <a:prstGeom prst="roundRect">
            <a:avLst>
              <a:gd name="adj" fmla="val 4615"/>
            </a:avLst>
          </a:prstGeom>
          <a:solidFill>
            <a:srgbClr val="EAF7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4096512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459028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&amp; Scheme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" y="504748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catalog + subsidy application lifecycle.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1568" y="3840480"/>
            <a:ext cx="253288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4096512"/>
            <a:ext cx="402336" cy="402336"/>
          </a:xfrm>
          <a:prstGeom prst="ellipse">
            <a:avLst/>
          </a:prstGeom>
          <a:solidFill>
            <a:srgbClr val="14402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30168" y="459028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0168" y="504748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listings and produce sales / market records.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54496" y="3840480"/>
            <a:ext cx="2532888" cy="1783080"/>
          </a:xfrm>
          <a:prstGeom prst="roundRect">
            <a:avLst>
              <a:gd name="adj" fmla="val 4615"/>
            </a:avLst>
          </a:prstGeom>
          <a:solidFill>
            <a:srgbClr val="EAF7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0528" y="4096512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6510528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83096" y="459028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83096" y="504748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custom reports and Excel/PDF export.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07424" y="3840480"/>
            <a:ext cx="253288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363456" y="4096512"/>
            <a:ext cx="402336" cy="402336"/>
          </a:xfrm>
          <a:prstGeom prst="ellipse">
            <a:avLst/>
          </a:prstGeom>
          <a:solidFill>
            <a:srgbClr val="14402B"/>
          </a:solidFill>
          <a:ln/>
        </p:spPr>
      </p:sp>
      <p:sp>
        <p:nvSpPr>
          <p:cNvPr id="42" name="Text 40"/>
          <p:cNvSpPr/>
          <p:nvPr/>
        </p:nvSpPr>
        <p:spPr>
          <a:xfrm>
            <a:off x="9363456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36024" y="459028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336024" y="504748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notifications across the platform.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my modules  ·  supported by Gateway &amp; Eureka infrastructure services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MODULE · 1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&amp; Scheme Module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1440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Catalog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catalog of government relief schemes, grants &amp; seed subsidies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name, category, benefit amount, funding source, eligibility, validity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Inactive status controls what farmers can apply for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SubsidyAdmin &amp; Admin: full create / update / delete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can browse the catalog (farmers need it to apply)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filter by name, category and status; Excel export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45920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45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Lifecycle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0" y="24688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2450592"/>
            <a:ext cx="4096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/ officer files an application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3310128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69480" y="3291840"/>
            <a:ext cx="4096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SubsidyAdmin reviews eligibility &amp; approves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4151376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4133088"/>
            <a:ext cx="4096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Disbursed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recorded as disbursed to the farmer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4992624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992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4974336"/>
            <a:ext cx="4096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declined with reason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MODULE ·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— Access Control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subsidy endpoint is guarded per-role in the service's SecurityConfig. Farmers can apply &amp; withdraw their own; only SubsidyAdmin / Admin can review, approve and disburse.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108960" cy="512064"/>
          </a:xfrm>
          <a:prstGeom prst="rect">
            <a:avLst/>
          </a:prstGeom>
          <a:solidFill>
            <a:srgbClr val="14402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774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377440"/>
            <a:ext cx="2926080" cy="512064"/>
          </a:xfrm>
          <a:prstGeom prst="rect">
            <a:avLst/>
          </a:prstGeom>
          <a:solidFill>
            <a:srgbClr val="14402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3774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377440"/>
            <a:ext cx="5056632" cy="512064"/>
          </a:xfrm>
          <a:prstGeom prst="rect">
            <a:avLst/>
          </a:prstGeom>
          <a:solidFill>
            <a:srgbClr val="14402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37744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8950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889504"/>
            <a:ext cx="2926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8895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catalog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889504"/>
            <a:ext cx="50566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889504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/ view / withdraw 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01568"/>
            <a:ext cx="3108960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0156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ExtensionOfficer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3401568"/>
            <a:ext cx="2926080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34015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catalog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401568"/>
            <a:ext cx="5056632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401568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 farmers / 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13632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136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SubsidyAdmin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3913632"/>
            <a:ext cx="2926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91363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913632"/>
            <a:ext cx="50566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3913632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+ review / approve / disburse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425696"/>
            <a:ext cx="3108960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42569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AgriLinkAdmin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0" y="4425696"/>
            <a:ext cx="2926080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4256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4425696"/>
            <a:ext cx="5056632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4425696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+ review / approve / disburse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937760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9377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ComplianceAnalyst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0" y="4937760"/>
            <a:ext cx="2926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493776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0" y="4937760"/>
            <a:ext cx="50566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93776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(+ audit logs)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449824"/>
            <a:ext cx="3108960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4498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ProcurementOfficer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0" y="5449824"/>
            <a:ext cx="2926080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544982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catalog only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0" y="5449824"/>
            <a:ext cx="5056632" cy="512064"/>
          </a:xfrm>
          <a:prstGeom prst="rect">
            <a:avLst/>
          </a:prstGeom>
          <a:solidFill>
            <a:srgbClr val="EAF2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5449824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61447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identically in the Angular UI (canCreate / canReview / canDelete) so buttons match backend permissions.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MODULE · 1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service aggregates live data from crop, produce, subsidy and farmer services into dashboards — with resilient fallbacks if a source service is unavailable.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endpoints: crop coverage, yield estimate, harvest volume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utilisation, input delivery rate, produce sales summary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subsidy &amp; produce analytics endpoints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roles for viewing analytics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3796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Crop Yield Distribution (Acres)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46520" y="2057400"/>
          <a:ext cx="5257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MODULE · 2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Reports &amp; Export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1440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 Generation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report scope + target metrics, then generate a report record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metadata: generated-by, scope, metrics, date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history log with view / delete and scope filtering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 export / delete restricted to SubsidyAdmin, ComplianceAnalyst &amp; Admin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reports: officers + admins  ·  Farmers: dashboards only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3095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45920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45920"/>
            <a:ext cx="4782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4782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Excel (Apache POI) &amp; PDF (OpenPDF) export of report data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client-side Excel export across module tables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4023360"/>
            <a:ext cx="533095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4023360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023360"/>
            <a:ext cx="4782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with @PreAuthorize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4754880"/>
            <a:ext cx="4782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Method-level role checks guard every report endpoint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URL-alias gaps so roles can't be bypassed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16A34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937760"/>
            <a:ext cx="2560320" cy="256032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819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module  —  </a:t>
            </a:r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catalog + full application lifecycle with correct role rules.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9514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module  —  </a:t>
            </a:r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dashboards, custom reports and Excel/PDF export.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0083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 —  </a:t>
            </a:r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RBAC to spec; added @PreAuthorize to close bypass gaps.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7216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improvements  —  </a:t>
            </a:r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Farmer-name column, chart legends &amp; axis titles, global date pickers.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434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 —  </a:t>
            </a:r>
            <a:pPr indent="0" marL="0">
              <a:buNone/>
            </a:pPr>
            <a:r>
              <a:rPr lang="en-US" sz="14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Single-window backend launcher for running all services together.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Bhuvaneshvar A  ·  AgriLink  ·  Subsidy &amp; Reporting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AgriLink</dc:title>
  <dc:subject>PptxGenJS Presentation</dc:subject>
  <dc:creator>Bhuvaneshvar A</dc:creator>
  <cp:lastModifiedBy>Bhuvaneshvar A</cp:lastModifiedBy>
  <cp:revision>1</cp:revision>
  <dcterms:created xsi:type="dcterms:W3CDTF">2026-07-31T18:44:43Z</dcterms:created>
  <dcterms:modified xsi:type="dcterms:W3CDTF">2026-07-31T18:44:43Z</dcterms:modified>
</cp:coreProperties>
</file>