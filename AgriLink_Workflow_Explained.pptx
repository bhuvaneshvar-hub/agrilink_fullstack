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one sentence: AgriLink digitises the whole farming cycle for farmers, agri-department staff and buyers. Then say what it is built from: one Angular SPA, a gateway, eight Spring Boot services, database-per-service, JWT auth. Say up front which module is mine: crop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This is the slide to use if the interviewer asks 'what does the product actually do'. Point out that the module boundaries follow the business stages — that is why the service split looks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six. Name Farmer, Officer and Admin, then say the other three are staff specialisations. The point to land: role comes from the token, and it is enforced server-side, not by hiding 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draw on a whiteboard. Trace one finger down: browser, gateway, service, database. Mention Eureka once (services find each other by name) and the shared secret once (stateless validation, no round trip to iam per request). Crop is highlighted because it is my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does auth work', answer with these two columns. The 403-instead-of-401 detail and the single-refresh concurrency guard are the two things that show you actually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when asked 'walk me through the code'. Emphasise that RBAC is declared in SecurityConfig (coarse: URL plus method) and refined in the service layer (fine: ownership and region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aloud. Point at the last column and use it to introduce the security fix slide. Interviewers respond well to a candidate who names remaining gaps and knows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module — spend the most time here. One catalogue entry fans out to many plans; one plan fans out to many observations. Note the two foreign keys that point into another service (farmerId, holdingId) — that is why crop-service needs a REST client, not a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forward-only rule is the best example of 'business logic belongs in the service layer, not the UI'. Mention the crop module uses full-word enums while the other modules use two-letter codes — an inconsistency I can point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'stateless' and explain why it matters: any instance can serve any request, so services scale horizontally. The regionId claim is there for data partitioning as the platform grows across districts.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I noticed the UI was doing the filtering, tried the endpoint directly with a farmer token, and got everyone's rows back. Then explain the fix, and finish with the general principle. If asked what you would do next, name the three services still unscoped.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fix, not on the technology list. It is the only slide that shows judgement rather than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1C"/>
        </a:solidFill>
      </p:bgPr>
    </p:bg>
    <p:spTree>
      <p:nvGrpSpPr>
        <p:cNvPr id="1" name=""/>
        <p:cNvGrpSpPr/>
        <p:nvPr/>
      </p:nvGrpSpPr>
      <p:grpSpPr>
        <a:xfrm>
          <a:off x="0" y="0"/>
          <a:ext cx="0" cy="0"/>
          <a:chOff x="0" y="0"/>
          <a:chExt cx="0" cy="0"/>
        </a:xfrm>
      </p:grpSpPr>
      <p:sp>
        <p:nvSpPr>
          <p:cNvPr id="2" name="Text 0"/>
          <p:cNvSpPr/>
          <p:nvPr/>
        </p:nvSpPr>
        <p:spPr>
          <a:xfrm>
            <a:off x="822960" y="1234440"/>
            <a:ext cx="7315200" cy="274320"/>
          </a:xfrm>
          <a:prstGeom prst="rect">
            <a:avLst/>
          </a:prstGeom>
          <a:noFill/>
          <a:ln/>
        </p:spPr>
        <p:txBody>
          <a:bodyPr wrap="square" lIns="0" tIns="0" rIns="0" bIns="0" rtlCol="0" anchor="ctr"/>
          <a:lstStyle/>
          <a:p>
            <a:pPr indent="0" marL="0">
              <a:buNone/>
            </a:pPr>
            <a:r>
              <a:rPr lang="en-US" sz="1200" b="1" spc="300" kern="0" dirty="0">
                <a:solidFill>
                  <a:srgbClr val="97BC62"/>
                </a:solidFill>
                <a:latin typeface="Calibri" pitchFamily="34" charset="0"/>
                <a:ea typeface="Calibri" pitchFamily="34" charset="-122"/>
                <a:cs typeface="Calibri" pitchFamily="34" charset="-120"/>
              </a:rPr>
              <a:t>INTERVIEW WALKTHROUGH</a:t>
            </a:r>
            <a:endParaRPr lang="en-US" sz="1200" dirty="0"/>
          </a:p>
        </p:txBody>
      </p:sp>
      <p:sp>
        <p:nvSpPr>
          <p:cNvPr id="3" name="Text 1"/>
          <p:cNvSpPr/>
          <p:nvPr/>
        </p:nvSpPr>
        <p:spPr>
          <a:xfrm>
            <a:off x="777240" y="1554480"/>
            <a:ext cx="7315200" cy="914400"/>
          </a:xfrm>
          <a:prstGeom prst="rect">
            <a:avLst/>
          </a:prstGeom>
          <a:noFill/>
          <a:ln/>
        </p:spPr>
        <p:txBody>
          <a:bodyPr wrap="square" lIns="0" tIns="0" rIns="0" bIns="0" rtlCol="0" anchor="t"/>
          <a:lstStyle/>
          <a:p>
            <a:pPr indent="0" marL="0">
              <a:buNone/>
            </a:pPr>
            <a:r>
              <a:rPr lang="en-US" sz="5800" b="1" dirty="0">
                <a:solidFill>
                  <a:srgbClr val="FFFFFF"/>
                </a:solidFill>
                <a:latin typeface="Cambria" pitchFamily="34" charset="0"/>
                <a:ea typeface="Cambria" pitchFamily="34" charset="-122"/>
                <a:cs typeface="Cambria" pitchFamily="34" charset="-120"/>
              </a:rPr>
              <a:t>AgriLink</a:t>
            </a:r>
            <a:endParaRPr lang="en-US" sz="5800" dirty="0"/>
          </a:p>
        </p:txBody>
      </p:sp>
      <p:sp>
        <p:nvSpPr>
          <p:cNvPr id="4" name="Text 2"/>
          <p:cNvSpPr/>
          <p:nvPr/>
        </p:nvSpPr>
        <p:spPr>
          <a:xfrm>
            <a:off x="822960" y="2514600"/>
            <a:ext cx="8686800" cy="411480"/>
          </a:xfrm>
          <a:prstGeom prst="rect">
            <a:avLst/>
          </a:prstGeom>
          <a:noFill/>
          <a:ln/>
        </p:spPr>
        <p:txBody>
          <a:bodyPr wrap="square" lIns="0" tIns="0" rIns="0" bIns="0" rtlCol="0" anchor="ctr"/>
          <a:lstStyle/>
          <a:p>
            <a:pPr indent="0" marL="0">
              <a:buNone/>
            </a:pPr>
            <a:r>
              <a:rPr lang="en-US" sz="2100" dirty="0">
                <a:solidFill>
                  <a:srgbClr val="97BC62"/>
                </a:solidFill>
                <a:latin typeface="Cambria" pitchFamily="34" charset="0"/>
                <a:ea typeface="Cambria" pitchFamily="34" charset="-122"/>
                <a:cs typeface="Cambria" pitchFamily="34" charset="-120"/>
              </a:rPr>
              <a:t>Farm Management &amp; Agricultural Services Platform</a:t>
            </a:r>
            <a:endParaRPr lang="en-US" sz="2100" dirty="0"/>
          </a:p>
        </p:txBody>
      </p:sp>
      <p:sp>
        <p:nvSpPr>
          <p:cNvPr id="5" name="Text 3"/>
          <p:cNvSpPr/>
          <p:nvPr/>
        </p:nvSpPr>
        <p:spPr>
          <a:xfrm>
            <a:off x="822960" y="2999232"/>
            <a:ext cx="10515600" cy="292608"/>
          </a:xfrm>
          <a:prstGeom prst="rect">
            <a:avLst/>
          </a:prstGeom>
          <a:noFill/>
          <a:ln/>
        </p:spPr>
        <p:txBody>
          <a:bodyPr wrap="square" lIns="0" tIns="0" rIns="0" bIns="0" rtlCol="0" anchor="ctr"/>
          <a:lstStyle/>
          <a:p>
            <a:pPr indent="0" marL="0">
              <a:buNone/>
            </a:pPr>
            <a:r>
              <a:rPr lang="en-US" sz="1300" dirty="0">
                <a:solidFill>
                  <a:srgbClr val="D7E3CE"/>
                </a:solidFill>
                <a:latin typeface="Calibri" pitchFamily="34" charset="0"/>
                <a:ea typeface="Calibri" pitchFamily="34" charset="-122"/>
                <a:cs typeface="Calibri" pitchFamily="34" charset="-120"/>
              </a:rPr>
              <a:t>Java 17 + Spring Boot microservices  ·  Angular 18 SPA  ·  MySQL 8  ·  Eureka + Gateway  ·  JWT &amp; RBAC</a:t>
            </a:r>
            <a:endParaRPr lang="en-US" sz="1300" dirty="0"/>
          </a:p>
        </p:txBody>
      </p:sp>
      <p:sp>
        <p:nvSpPr>
          <p:cNvPr id="6" name="Shape 4"/>
          <p:cNvSpPr/>
          <p:nvPr/>
        </p:nvSpPr>
        <p:spPr>
          <a:xfrm>
            <a:off x="822960" y="3794760"/>
            <a:ext cx="2377440" cy="914400"/>
          </a:xfrm>
          <a:prstGeom prst="roundRect">
            <a:avLst>
              <a:gd name="adj" fmla="val 6000"/>
            </a:avLst>
          </a:prstGeom>
          <a:solidFill>
            <a:srgbClr val="22452A"/>
          </a:solidFill>
          <a:ln w="12700">
            <a:solidFill>
              <a:srgbClr val="5F8A3E"/>
            </a:solidFill>
            <a:prstDash val="solid"/>
          </a:ln>
        </p:spPr>
      </p:sp>
      <p:sp>
        <p:nvSpPr>
          <p:cNvPr id="7" name="Text 5"/>
          <p:cNvSpPr/>
          <p:nvPr/>
        </p:nvSpPr>
        <p:spPr>
          <a:xfrm>
            <a:off x="822960" y="3858768"/>
            <a:ext cx="2377440" cy="786384"/>
          </a:xfrm>
          <a:prstGeom prst="rect">
            <a:avLst/>
          </a:prstGeom>
          <a:noFill/>
          <a:ln/>
        </p:spPr>
        <p:txBody>
          <a:bodyPr wrap="square" lIns="0" tIns="0" rIns="0" bIns="0" rtlCol="0" anchor="ctr"/>
          <a:lstStyle/>
          <a:p>
            <a:pPr algn="ctr" indent="0" marL="0">
              <a:buNone/>
            </a:pPr>
            <a:r>
              <a:rPr lang="en-US" sz="2600" b="1" dirty="0">
                <a:solidFill>
                  <a:srgbClr val="97BC62"/>
                </a:solidFill>
                <a:latin typeface="Cambria" pitchFamily="34" charset="0"/>
                <a:ea typeface="Cambria" pitchFamily="34" charset="-122"/>
                <a:cs typeface="Cambria" pitchFamily="34" charset="-120"/>
              </a:rPr>
              <a:t>8</a:t>
            </a:r>
            <a:endParaRPr lang="en-US" sz="2600" dirty="0"/>
          </a:p>
          <a:p>
            <a:pPr algn="ctr" indent="0" marL="0">
              <a:buNone/>
            </a:pPr>
            <a:r>
              <a:rPr lang="en-US" sz="1100" dirty="0">
                <a:solidFill>
                  <a:srgbClr val="D7E3CE"/>
                </a:solidFill>
                <a:latin typeface="Calibri" pitchFamily="34" charset="0"/>
                <a:ea typeface="Calibri" pitchFamily="34" charset="-122"/>
                <a:cs typeface="Calibri" pitchFamily="34" charset="-120"/>
              </a:rPr>
              <a:t>microservices</a:t>
            </a:r>
            <a:endParaRPr lang="en-US" sz="2600" dirty="0"/>
          </a:p>
        </p:txBody>
      </p:sp>
      <p:sp>
        <p:nvSpPr>
          <p:cNvPr id="8" name="Shape 6"/>
          <p:cNvSpPr/>
          <p:nvPr/>
        </p:nvSpPr>
        <p:spPr>
          <a:xfrm>
            <a:off x="3429000" y="3794760"/>
            <a:ext cx="2377440" cy="914400"/>
          </a:xfrm>
          <a:prstGeom prst="roundRect">
            <a:avLst>
              <a:gd name="adj" fmla="val 6000"/>
            </a:avLst>
          </a:prstGeom>
          <a:solidFill>
            <a:srgbClr val="22452A"/>
          </a:solidFill>
          <a:ln w="12700">
            <a:solidFill>
              <a:srgbClr val="5F8A3E"/>
            </a:solidFill>
            <a:prstDash val="solid"/>
          </a:ln>
        </p:spPr>
      </p:sp>
      <p:sp>
        <p:nvSpPr>
          <p:cNvPr id="9" name="Text 7"/>
          <p:cNvSpPr/>
          <p:nvPr/>
        </p:nvSpPr>
        <p:spPr>
          <a:xfrm>
            <a:off x="3429000" y="3858768"/>
            <a:ext cx="2377440" cy="786384"/>
          </a:xfrm>
          <a:prstGeom prst="rect">
            <a:avLst/>
          </a:prstGeom>
          <a:noFill/>
          <a:ln/>
        </p:spPr>
        <p:txBody>
          <a:bodyPr wrap="square" lIns="0" tIns="0" rIns="0" bIns="0" rtlCol="0" anchor="ctr"/>
          <a:lstStyle/>
          <a:p>
            <a:pPr algn="ctr" indent="0" marL="0">
              <a:buNone/>
            </a:pPr>
            <a:r>
              <a:rPr lang="en-US" sz="2600" b="1" dirty="0">
                <a:solidFill>
                  <a:srgbClr val="97BC62"/>
                </a:solidFill>
                <a:latin typeface="Cambria" pitchFamily="34" charset="0"/>
                <a:ea typeface="Cambria" pitchFamily="34" charset="-122"/>
                <a:cs typeface="Cambria" pitchFamily="34" charset="-120"/>
              </a:rPr>
              <a:t>8</a:t>
            </a:r>
            <a:endParaRPr lang="en-US" sz="2600" dirty="0"/>
          </a:p>
          <a:p>
            <a:pPr algn="ctr" indent="0" marL="0">
              <a:buNone/>
            </a:pPr>
            <a:r>
              <a:rPr lang="en-US" sz="1100" dirty="0">
                <a:solidFill>
                  <a:srgbClr val="D7E3CE"/>
                </a:solidFill>
                <a:latin typeface="Calibri" pitchFamily="34" charset="0"/>
                <a:ea typeface="Calibri" pitchFamily="34" charset="-122"/>
                <a:cs typeface="Calibri" pitchFamily="34" charset="-120"/>
              </a:rPr>
              <a:t>MySQL schemas</a:t>
            </a:r>
            <a:endParaRPr lang="en-US" sz="2600" dirty="0"/>
          </a:p>
        </p:txBody>
      </p:sp>
      <p:sp>
        <p:nvSpPr>
          <p:cNvPr id="10" name="Shape 8"/>
          <p:cNvSpPr/>
          <p:nvPr/>
        </p:nvSpPr>
        <p:spPr>
          <a:xfrm>
            <a:off x="6035040" y="3794760"/>
            <a:ext cx="2377440" cy="914400"/>
          </a:xfrm>
          <a:prstGeom prst="roundRect">
            <a:avLst>
              <a:gd name="adj" fmla="val 6000"/>
            </a:avLst>
          </a:prstGeom>
          <a:solidFill>
            <a:srgbClr val="22452A"/>
          </a:solidFill>
          <a:ln w="12700">
            <a:solidFill>
              <a:srgbClr val="5F8A3E"/>
            </a:solidFill>
            <a:prstDash val="solid"/>
          </a:ln>
        </p:spPr>
      </p:sp>
      <p:sp>
        <p:nvSpPr>
          <p:cNvPr id="11" name="Text 9"/>
          <p:cNvSpPr/>
          <p:nvPr/>
        </p:nvSpPr>
        <p:spPr>
          <a:xfrm>
            <a:off x="6035040" y="3858768"/>
            <a:ext cx="2377440" cy="786384"/>
          </a:xfrm>
          <a:prstGeom prst="rect">
            <a:avLst/>
          </a:prstGeom>
          <a:noFill/>
          <a:ln/>
        </p:spPr>
        <p:txBody>
          <a:bodyPr wrap="square" lIns="0" tIns="0" rIns="0" bIns="0" rtlCol="0" anchor="ctr"/>
          <a:lstStyle/>
          <a:p>
            <a:pPr algn="ctr" indent="0" marL="0">
              <a:buNone/>
            </a:pPr>
            <a:r>
              <a:rPr lang="en-US" sz="2600" b="1" dirty="0">
                <a:solidFill>
                  <a:srgbClr val="97BC62"/>
                </a:solidFill>
                <a:latin typeface="Cambria" pitchFamily="34" charset="0"/>
                <a:ea typeface="Cambria" pitchFamily="34" charset="-122"/>
                <a:cs typeface="Cambria" pitchFamily="34" charset="-120"/>
              </a:rPr>
              <a:t>6</a:t>
            </a:r>
            <a:endParaRPr lang="en-US" sz="2600" dirty="0"/>
          </a:p>
          <a:p>
            <a:pPr algn="ctr" indent="0" marL="0">
              <a:buNone/>
            </a:pPr>
            <a:r>
              <a:rPr lang="en-US" sz="1100" dirty="0">
                <a:solidFill>
                  <a:srgbClr val="D7E3CE"/>
                </a:solidFill>
                <a:latin typeface="Calibri" pitchFamily="34" charset="0"/>
                <a:ea typeface="Calibri" pitchFamily="34" charset="-122"/>
                <a:cs typeface="Calibri" pitchFamily="34" charset="-120"/>
              </a:rPr>
              <a:t>user roles</a:t>
            </a:r>
            <a:endParaRPr lang="en-US" sz="2600" dirty="0"/>
          </a:p>
        </p:txBody>
      </p:sp>
      <p:sp>
        <p:nvSpPr>
          <p:cNvPr id="12" name="Shape 10"/>
          <p:cNvSpPr/>
          <p:nvPr/>
        </p:nvSpPr>
        <p:spPr>
          <a:xfrm>
            <a:off x="8641080" y="3794760"/>
            <a:ext cx="2377440" cy="914400"/>
          </a:xfrm>
          <a:prstGeom prst="roundRect">
            <a:avLst>
              <a:gd name="adj" fmla="val 6000"/>
            </a:avLst>
          </a:prstGeom>
          <a:solidFill>
            <a:srgbClr val="22452A"/>
          </a:solidFill>
          <a:ln w="12700">
            <a:solidFill>
              <a:srgbClr val="5F8A3E"/>
            </a:solidFill>
            <a:prstDash val="solid"/>
          </a:ln>
        </p:spPr>
      </p:sp>
      <p:sp>
        <p:nvSpPr>
          <p:cNvPr id="13" name="Text 11"/>
          <p:cNvSpPr/>
          <p:nvPr/>
        </p:nvSpPr>
        <p:spPr>
          <a:xfrm>
            <a:off x="8641080" y="3858768"/>
            <a:ext cx="2377440" cy="786384"/>
          </a:xfrm>
          <a:prstGeom prst="rect">
            <a:avLst/>
          </a:prstGeom>
          <a:noFill/>
          <a:ln/>
        </p:spPr>
        <p:txBody>
          <a:bodyPr wrap="square" lIns="0" tIns="0" rIns="0" bIns="0" rtlCol="0" anchor="ctr"/>
          <a:lstStyle/>
          <a:p>
            <a:pPr algn="ctr" indent="0" marL="0">
              <a:buNone/>
            </a:pPr>
            <a:r>
              <a:rPr lang="en-US" sz="2600" b="1" dirty="0">
                <a:solidFill>
                  <a:srgbClr val="97BC62"/>
                </a:solidFill>
                <a:latin typeface="Cambria" pitchFamily="34" charset="0"/>
                <a:ea typeface="Cambria" pitchFamily="34" charset="-122"/>
                <a:cs typeface="Cambria" pitchFamily="34" charset="-120"/>
              </a:rPr>
              <a:t>1</a:t>
            </a:r>
            <a:endParaRPr lang="en-US" sz="2600" dirty="0"/>
          </a:p>
          <a:p>
            <a:pPr algn="ctr" indent="0" marL="0">
              <a:buNone/>
            </a:pPr>
            <a:r>
              <a:rPr lang="en-US" sz="1100" dirty="0">
                <a:solidFill>
                  <a:srgbClr val="D7E3CE"/>
                </a:solidFill>
                <a:latin typeface="Calibri" pitchFamily="34" charset="0"/>
                <a:ea typeface="Calibri" pitchFamily="34" charset="-122"/>
                <a:cs typeface="Calibri" pitchFamily="34" charset="-120"/>
              </a:rPr>
              <a:t>Angular SPA</a:t>
            </a:r>
            <a:endParaRPr lang="en-US" sz="2600" dirty="0"/>
          </a:p>
        </p:txBody>
      </p:sp>
      <p:sp>
        <p:nvSpPr>
          <p:cNvPr id="14" name="Text 12"/>
          <p:cNvSpPr/>
          <p:nvPr/>
        </p:nvSpPr>
        <p:spPr>
          <a:xfrm>
            <a:off x="822960" y="5120640"/>
            <a:ext cx="10607040" cy="365760"/>
          </a:xfrm>
          <a:prstGeom prst="rect">
            <a:avLst/>
          </a:prstGeom>
          <a:noFill/>
          <a:ln/>
        </p:spPr>
        <p:txBody>
          <a:bodyPr wrap="square" lIns="0" tIns="0" rIns="0" bIns="0" rtlCol="0" anchor="ctr"/>
          <a:lstStyle/>
          <a:p>
            <a:pPr indent="0" marL="0">
              <a:buNone/>
            </a:pPr>
            <a:r>
              <a:rPr lang="en-US" sz="1300" i="1" dirty="0">
                <a:solidFill>
                  <a:srgbClr val="97BC62"/>
                </a:solidFill>
                <a:latin typeface="Calibri" pitchFamily="34" charset="0"/>
                <a:ea typeface="Calibri" pitchFamily="34" charset="-122"/>
                <a:cs typeface="Calibri" pitchFamily="34" charset="-120"/>
              </a:rPr>
              <a:t>Register farmer &amp; land  →  plan the crop  →  track growth  →  request inputs  →  apply for subsidy  →  sell produce  →  report &amp; notify</a:t>
            </a:r>
            <a:endParaRPr lang="en-US" sz="1300" dirty="0"/>
          </a:p>
        </p:txBody>
      </p:sp>
      <p:sp>
        <p:nvSpPr>
          <p:cNvPr id="15" name="Text 13"/>
          <p:cNvSpPr/>
          <p:nvPr/>
        </p:nvSpPr>
        <p:spPr>
          <a:xfrm>
            <a:off x="822960" y="5943600"/>
            <a:ext cx="10607040" cy="274320"/>
          </a:xfrm>
          <a:prstGeom prst="rect">
            <a:avLst/>
          </a:prstGeom>
          <a:noFill/>
          <a:ln/>
        </p:spPr>
        <p:txBody>
          <a:bodyPr wrap="square" lIns="0" tIns="0" rIns="0" bIns="0" rtlCol="0" anchor="ctr"/>
          <a:lstStyle/>
          <a:p>
            <a:pPr indent="0" marL="0">
              <a:buNone/>
            </a:pPr>
            <a:r>
              <a:rPr lang="en-US" sz="1100" dirty="0">
                <a:solidFill>
                  <a:srgbClr val="8FA487"/>
                </a:solidFill>
                <a:latin typeface="Calibri" pitchFamily="34" charset="0"/>
                <a:ea typeface="Calibri" pitchFamily="34" charset="-122"/>
                <a:cs typeface="Calibri" pitchFamily="34" charset="-120"/>
              </a:rPr>
              <a:t>Presented by Sharath  ·  module owned: Crop Planning (2.3)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11155680" cy="256032"/>
          </a:xfrm>
          <a:prstGeom prst="rect">
            <a:avLst/>
          </a:prstGeom>
          <a:noFill/>
          <a:ln/>
        </p:spPr>
        <p:txBody>
          <a:bodyPr wrap="square" lIns="0" tIns="0" rIns="0" bIns="0" rtlCol="0" anchor="ctr"/>
          <a:lstStyle/>
          <a:p>
            <a:pPr indent="0" marL="0">
              <a:buNone/>
            </a:pPr>
            <a:r>
              <a:rPr lang="en-US" sz="1100" b="1" spc="250" kern="0" dirty="0">
                <a:solidFill>
                  <a:srgbClr val="5F8A3E"/>
                </a:solidFill>
                <a:latin typeface="Calibri" pitchFamily="34" charset="0"/>
                <a:ea typeface="Calibri" pitchFamily="34" charset="-122"/>
                <a:cs typeface="Calibri" pitchFamily="34" charset="-120"/>
              </a:rPr>
              <a:t>BUSINESS WORKFLOW</a:t>
            </a:r>
            <a:endParaRPr lang="en-US" sz="1100" dirty="0"/>
          </a:p>
        </p:txBody>
      </p:sp>
      <p:sp>
        <p:nvSpPr>
          <p:cNvPr id="3" name="Text 1"/>
          <p:cNvSpPr/>
          <p:nvPr/>
        </p:nvSpPr>
        <p:spPr>
          <a:xfrm>
            <a:off x="502920" y="548640"/>
            <a:ext cx="11155680" cy="502920"/>
          </a:xfrm>
          <a:prstGeom prst="rect">
            <a:avLst/>
          </a:prstGeom>
          <a:noFill/>
          <a:ln/>
        </p:spPr>
        <p:txBody>
          <a:bodyPr wrap="square" lIns="0" tIns="0" rIns="0" bIns="0" rtlCol="0" anchor="t"/>
          <a:lstStyle/>
          <a:p>
            <a:pPr indent="0" marL="0">
              <a:buNone/>
            </a:pPr>
            <a:r>
              <a:rPr lang="en-US" sz="3000" b="1" dirty="0">
                <a:solidFill>
                  <a:srgbClr val="1F2A24"/>
                </a:solidFill>
                <a:latin typeface="Cambria" pitchFamily="34" charset="0"/>
                <a:ea typeface="Cambria" pitchFamily="34" charset="-122"/>
                <a:cs typeface="Cambria" pitchFamily="34" charset="-120"/>
              </a:rPr>
              <a:t>The Lifecycle AgriLink Digitises</a:t>
            </a:r>
            <a:endParaRPr lang="en-US" sz="3000" dirty="0"/>
          </a:p>
        </p:txBody>
      </p:sp>
      <p:sp>
        <p:nvSpPr>
          <p:cNvPr id="4" name="Text 2"/>
          <p:cNvSpPr/>
          <p:nvPr/>
        </p:nvSpPr>
        <p:spPr>
          <a:xfrm>
            <a:off x="502920" y="1078992"/>
            <a:ext cx="11155680" cy="310896"/>
          </a:xfrm>
          <a:prstGeom prst="rect">
            <a:avLst/>
          </a:prstGeom>
          <a:noFill/>
          <a:ln/>
        </p:spPr>
        <p:txBody>
          <a:bodyPr wrap="square" lIns="0" tIns="0" rIns="0" bIns="0" rtlCol="0" anchor="t"/>
          <a:lstStyle/>
          <a:p>
            <a:pPr indent="0" marL="0">
              <a:buNone/>
            </a:pPr>
            <a:r>
              <a:rPr lang="en-US" sz="1250" dirty="0">
                <a:solidFill>
                  <a:srgbClr val="5F6E64"/>
                </a:solidFill>
                <a:latin typeface="Calibri" pitchFamily="34" charset="0"/>
                <a:ea typeface="Calibri" pitchFamily="34" charset="-122"/>
                <a:cs typeface="Calibri" pitchFamily="34" charset="-120"/>
              </a:rPr>
              <a:t>One farming journey, seven stages. Each stage is an independent microservice that owns its own database.</a:t>
            </a:r>
            <a:endParaRPr lang="en-US" sz="1250" dirty="0"/>
          </a:p>
        </p:txBody>
      </p:sp>
      <p:sp>
        <p:nvSpPr>
          <p:cNvPr id="5" name="Shape 3"/>
          <p:cNvSpPr/>
          <p:nvPr/>
        </p:nvSpPr>
        <p:spPr>
          <a:xfrm>
            <a:off x="365760" y="1874520"/>
            <a:ext cx="1417320" cy="2514600"/>
          </a:xfrm>
          <a:prstGeom prst="roundRect">
            <a:avLst>
              <a:gd name="adj" fmla="val 3226"/>
            </a:avLst>
          </a:prstGeom>
          <a:solidFill>
            <a:srgbClr val="EDF3E8"/>
          </a:solidFill>
          <a:ln w="12700">
            <a:solidFill>
              <a:srgbClr val="97BC62"/>
            </a:solidFill>
            <a:prstDash val="solid"/>
          </a:ln>
        </p:spPr>
      </p:sp>
      <p:sp>
        <p:nvSpPr>
          <p:cNvPr id="6" name="Text 4"/>
          <p:cNvSpPr/>
          <p:nvPr/>
        </p:nvSpPr>
        <p:spPr>
          <a:xfrm>
            <a:off x="900684" y="2020824"/>
            <a:ext cx="347472" cy="347472"/>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365760" y="2441448"/>
            <a:ext cx="1417320" cy="274320"/>
          </a:xfrm>
          <a:prstGeom prst="rect">
            <a:avLst/>
          </a:prstGeom>
          <a:noFill/>
          <a:ln/>
        </p:spPr>
        <p:txBody>
          <a:bodyPr wrap="square" lIns="0" tIns="0" rIns="0" bIns="0" rtlCol="0" anchor="ctr"/>
          <a:lstStyle/>
          <a:p>
            <a:pPr algn="ctr" indent="0" marL="0">
              <a:buNone/>
            </a:pPr>
            <a:r>
              <a:rPr lang="en-US" sz="1300" b="1" dirty="0">
                <a:solidFill>
                  <a:srgbClr val="2C5F2D"/>
                </a:solidFill>
                <a:latin typeface="Cambria" pitchFamily="34" charset="0"/>
                <a:ea typeface="Cambria" pitchFamily="34" charset="-122"/>
                <a:cs typeface="Cambria" pitchFamily="34" charset="-120"/>
              </a:rPr>
              <a:t>Register</a:t>
            </a:r>
            <a:endParaRPr lang="en-US" sz="1300" dirty="0"/>
          </a:p>
        </p:txBody>
      </p:sp>
      <p:sp>
        <p:nvSpPr>
          <p:cNvPr id="8" name="Text 6"/>
          <p:cNvSpPr/>
          <p:nvPr/>
        </p:nvSpPr>
        <p:spPr>
          <a:xfrm>
            <a:off x="457200" y="2743200"/>
            <a:ext cx="1234440" cy="1143000"/>
          </a:xfrm>
          <a:prstGeom prst="rect">
            <a:avLst/>
          </a:prstGeom>
          <a:noFill/>
          <a:ln/>
        </p:spPr>
        <p:txBody>
          <a:bodyPr wrap="square" lIns="0" tIns="0" rIns="0" bIns="0" rtlCol="0" anchor="ctr"/>
          <a:lstStyle/>
          <a:p>
            <a:pPr algn="ctr" indent="0" marL="0">
              <a:lnSpc>
                <a:spcPct val="105000"/>
              </a:lnSpc>
              <a:buNone/>
            </a:pPr>
            <a:r>
              <a:rPr lang="en-US" sz="900" dirty="0">
                <a:solidFill>
                  <a:srgbClr val="5F6E64"/>
                </a:solidFill>
                <a:latin typeface="Calibri" pitchFamily="34" charset="0"/>
                <a:ea typeface="Calibri" pitchFamily="34" charset="-122"/>
                <a:cs typeface="Calibri" pitchFamily="34" charset="-120"/>
              </a:rPr>
              <a:t>Farmer profile + land holdings (survey no., acres, soil)</a:t>
            </a:r>
            <a:endParaRPr lang="en-US" sz="900" dirty="0"/>
          </a:p>
        </p:txBody>
      </p:sp>
      <p:sp>
        <p:nvSpPr>
          <p:cNvPr id="9" name="Text 7"/>
          <p:cNvSpPr/>
          <p:nvPr/>
        </p:nvSpPr>
        <p:spPr>
          <a:xfrm>
            <a:off x="438912" y="3913632"/>
            <a:ext cx="1271016" cy="347472"/>
          </a:xfrm>
          <a:prstGeom prst="roundRect">
            <a:avLst>
              <a:gd name="adj" fmla="val 131579"/>
            </a:avLst>
          </a:prstGeom>
          <a:solidFill>
            <a:srgbClr val="2C5F2D"/>
          </a:solidFill>
          <a:ln w="12700">
            <a:solidFill>
              <a:srgbClr val="2C5F2D"/>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farmer-service</a:t>
            </a:r>
            <a:endParaRPr lang="en-US" sz="800" dirty="0"/>
          </a:p>
        </p:txBody>
      </p:sp>
      <p:sp>
        <p:nvSpPr>
          <p:cNvPr id="10" name="Shape 8"/>
          <p:cNvSpPr/>
          <p:nvPr/>
        </p:nvSpPr>
        <p:spPr>
          <a:xfrm>
            <a:off x="1819656" y="3131820"/>
            <a:ext cx="182880" cy="0"/>
          </a:xfrm>
          <a:prstGeom prst="line">
            <a:avLst/>
          </a:prstGeom>
          <a:noFill/>
          <a:ln w="22225">
            <a:solidFill>
              <a:srgbClr val="5F8A3E"/>
            </a:solidFill>
            <a:prstDash val="solid"/>
            <a:tailEnd type="triangle"/>
          </a:ln>
        </p:spPr>
      </p:sp>
      <p:sp>
        <p:nvSpPr>
          <p:cNvPr id="11" name="Shape 9"/>
          <p:cNvSpPr/>
          <p:nvPr/>
        </p:nvSpPr>
        <p:spPr>
          <a:xfrm>
            <a:off x="2039112" y="1874520"/>
            <a:ext cx="1417320" cy="2514600"/>
          </a:xfrm>
          <a:prstGeom prst="roundRect">
            <a:avLst>
              <a:gd name="adj" fmla="val 3226"/>
            </a:avLst>
          </a:prstGeom>
          <a:solidFill>
            <a:srgbClr val="EDF3E8"/>
          </a:solidFill>
          <a:ln w="12700">
            <a:solidFill>
              <a:srgbClr val="97BC62"/>
            </a:solidFill>
            <a:prstDash val="solid"/>
          </a:ln>
        </p:spPr>
      </p:sp>
      <p:sp>
        <p:nvSpPr>
          <p:cNvPr id="12" name="Text 10"/>
          <p:cNvSpPr/>
          <p:nvPr/>
        </p:nvSpPr>
        <p:spPr>
          <a:xfrm>
            <a:off x="2574036" y="2020824"/>
            <a:ext cx="347472" cy="347472"/>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2039112" y="2441448"/>
            <a:ext cx="1417320" cy="274320"/>
          </a:xfrm>
          <a:prstGeom prst="rect">
            <a:avLst/>
          </a:prstGeom>
          <a:noFill/>
          <a:ln/>
        </p:spPr>
        <p:txBody>
          <a:bodyPr wrap="square" lIns="0" tIns="0" rIns="0" bIns="0" rtlCol="0" anchor="ctr"/>
          <a:lstStyle/>
          <a:p>
            <a:pPr algn="ctr" indent="0" marL="0">
              <a:buNone/>
            </a:pPr>
            <a:r>
              <a:rPr lang="en-US" sz="1300" b="1" dirty="0">
                <a:solidFill>
                  <a:srgbClr val="2C5F2D"/>
                </a:solidFill>
                <a:latin typeface="Cambria" pitchFamily="34" charset="0"/>
                <a:ea typeface="Cambria" pitchFamily="34" charset="-122"/>
                <a:cs typeface="Cambria" pitchFamily="34" charset="-120"/>
              </a:rPr>
              <a:t>Plan</a:t>
            </a:r>
            <a:endParaRPr lang="en-US" sz="1300" dirty="0"/>
          </a:p>
        </p:txBody>
      </p:sp>
      <p:sp>
        <p:nvSpPr>
          <p:cNvPr id="14" name="Text 12"/>
          <p:cNvSpPr/>
          <p:nvPr/>
        </p:nvSpPr>
        <p:spPr>
          <a:xfrm>
            <a:off x="2130552" y="2743200"/>
            <a:ext cx="1234440" cy="1143000"/>
          </a:xfrm>
          <a:prstGeom prst="rect">
            <a:avLst/>
          </a:prstGeom>
          <a:noFill/>
          <a:ln/>
        </p:spPr>
        <p:txBody>
          <a:bodyPr wrap="square" lIns="0" tIns="0" rIns="0" bIns="0" rtlCol="0" anchor="ctr"/>
          <a:lstStyle/>
          <a:p>
            <a:pPr algn="ctr" indent="0" marL="0">
              <a:lnSpc>
                <a:spcPct val="105000"/>
              </a:lnSpc>
              <a:buNone/>
            </a:pPr>
            <a:r>
              <a:rPr lang="en-US" sz="900" dirty="0">
                <a:solidFill>
                  <a:srgbClr val="5F6E64"/>
                </a:solidFill>
                <a:latin typeface="Calibri" pitchFamily="34" charset="0"/>
                <a:ea typeface="Calibri" pitchFamily="34" charset="-122"/>
                <a:cs typeface="Calibri" pitchFamily="34" charset="-120"/>
              </a:rPr>
              <a:t>Sowing plan: crop, season, year, area, holding</a:t>
            </a:r>
            <a:endParaRPr lang="en-US" sz="900" dirty="0"/>
          </a:p>
        </p:txBody>
      </p:sp>
      <p:sp>
        <p:nvSpPr>
          <p:cNvPr id="15" name="Text 13"/>
          <p:cNvSpPr/>
          <p:nvPr/>
        </p:nvSpPr>
        <p:spPr>
          <a:xfrm>
            <a:off x="2112264" y="3913632"/>
            <a:ext cx="1271016" cy="347472"/>
          </a:xfrm>
          <a:prstGeom prst="roundRect">
            <a:avLst>
              <a:gd name="adj" fmla="val 131579"/>
            </a:avLst>
          </a:prstGeom>
          <a:solidFill>
            <a:srgbClr val="2C5F2D"/>
          </a:solidFill>
          <a:ln w="12700">
            <a:solidFill>
              <a:srgbClr val="2C5F2D"/>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crop-service</a:t>
            </a:r>
            <a:endParaRPr lang="en-US" sz="800" dirty="0"/>
          </a:p>
        </p:txBody>
      </p:sp>
      <p:sp>
        <p:nvSpPr>
          <p:cNvPr id="16" name="Shape 14"/>
          <p:cNvSpPr/>
          <p:nvPr/>
        </p:nvSpPr>
        <p:spPr>
          <a:xfrm>
            <a:off x="3493008" y="3131820"/>
            <a:ext cx="182880" cy="0"/>
          </a:xfrm>
          <a:prstGeom prst="line">
            <a:avLst/>
          </a:prstGeom>
          <a:noFill/>
          <a:ln w="22225">
            <a:solidFill>
              <a:srgbClr val="5F8A3E"/>
            </a:solidFill>
            <a:prstDash val="solid"/>
            <a:tailEnd type="triangle"/>
          </a:ln>
        </p:spPr>
      </p:sp>
      <p:sp>
        <p:nvSpPr>
          <p:cNvPr id="17" name="Shape 15"/>
          <p:cNvSpPr/>
          <p:nvPr/>
        </p:nvSpPr>
        <p:spPr>
          <a:xfrm>
            <a:off x="3712464" y="1874520"/>
            <a:ext cx="1417320" cy="2514600"/>
          </a:xfrm>
          <a:prstGeom prst="roundRect">
            <a:avLst>
              <a:gd name="adj" fmla="val 3226"/>
            </a:avLst>
          </a:prstGeom>
          <a:solidFill>
            <a:srgbClr val="EDF3E8"/>
          </a:solidFill>
          <a:ln w="12700">
            <a:solidFill>
              <a:srgbClr val="97BC62"/>
            </a:solidFill>
            <a:prstDash val="solid"/>
          </a:ln>
        </p:spPr>
      </p:sp>
      <p:sp>
        <p:nvSpPr>
          <p:cNvPr id="18" name="Text 16"/>
          <p:cNvSpPr/>
          <p:nvPr/>
        </p:nvSpPr>
        <p:spPr>
          <a:xfrm>
            <a:off x="4247388" y="2020824"/>
            <a:ext cx="347472" cy="347472"/>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3712464" y="2441448"/>
            <a:ext cx="1417320" cy="274320"/>
          </a:xfrm>
          <a:prstGeom prst="rect">
            <a:avLst/>
          </a:prstGeom>
          <a:noFill/>
          <a:ln/>
        </p:spPr>
        <p:txBody>
          <a:bodyPr wrap="square" lIns="0" tIns="0" rIns="0" bIns="0" rtlCol="0" anchor="ctr"/>
          <a:lstStyle/>
          <a:p>
            <a:pPr algn="ctr" indent="0" marL="0">
              <a:buNone/>
            </a:pPr>
            <a:r>
              <a:rPr lang="en-US" sz="1300" b="1" dirty="0">
                <a:solidFill>
                  <a:srgbClr val="2C5F2D"/>
                </a:solidFill>
                <a:latin typeface="Cambria" pitchFamily="34" charset="0"/>
                <a:ea typeface="Cambria" pitchFamily="34" charset="-122"/>
                <a:cs typeface="Cambria" pitchFamily="34" charset="-120"/>
              </a:rPr>
              <a:t>Track</a:t>
            </a:r>
            <a:endParaRPr lang="en-US" sz="1300" dirty="0"/>
          </a:p>
        </p:txBody>
      </p:sp>
      <p:sp>
        <p:nvSpPr>
          <p:cNvPr id="20" name="Text 18"/>
          <p:cNvSpPr/>
          <p:nvPr/>
        </p:nvSpPr>
        <p:spPr>
          <a:xfrm>
            <a:off x="3803904" y="2743200"/>
            <a:ext cx="1234440" cy="1143000"/>
          </a:xfrm>
          <a:prstGeom prst="rect">
            <a:avLst/>
          </a:prstGeom>
          <a:noFill/>
          <a:ln/>
        </p:spPr>
        <p:txBody>
          <a:bodyPr wrap="square" lIns="0" tIns="0" rIns="0" bIns="0" rtlCol="0" anchor="ctr"/>
          <a:lstStyle/>
          <a:p>
            <a:pPr algn="ctr" indent="0" marL="0">
              <a:lnSpc>
                <a:spcPct val="105000"/>
              </a:lnSpc>
              <a:buNone/>
            </a:pPr>
            <a:r>
              <a:rPr lang="en-US" sz="900" dirty="0">
                <a:solidFill>
                  <a:srgbClr val="5F6E64"/>
                </a:solidFill>
                <a:latin typeface="Calibri" pitchFamily="34" charset="0"/>
                <a:ea typeface="Calibri" pitchFamily="34" charset="-122"/>
                <a:cs typeface="Calibri" pitchFamily="34" charset="-120"/>
              </a:rPr>
              <a:t>Officer logs growth stage &amp; pest flags per visit</a:t>
            </a:r>
            <a:endParaRPr lang="en-US" sz="900" dirty="0"/>
          </a:p>
        </p:txBody>
      </p:sp>
      <p:sp>
        <p:nvSpPr>
          <p:cNvPr id="21" name="Text 19"/>
          <p:cNvSpPr/>
          <p:nvPr/>
        </p:nvSpPr>
        <p:spPr>
          <a:xfrm>
            <a:off x="3785616" y="3913632"/>
            <a:ext cx="1271016" cy="347472"/>
          </a:xfrm>
          <a:prstGeom prst="roundRect">
            <a:avLst>
              <a:gd name="adj" fmla="val 131579"/>
            </a:avLst>
          </a:prstGeom>
          <a:solidFill>
            <a:srgbClr val="2C5F2D"/>
          </a:solidFill>
          <a:ln w="12700">
            <a:solidFill>
              <a:srgbClr val="2C5F2D"/>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crop-service</a:t>
            </a:r>
            <a:endParaRPr lang="en-US" sz="800" dirty="0"/>
          </a:p>
        </p:txBody>
      </p:sp>
      <p:sp>
        <p:nvSpPr>
          <p:cNvPr id="22" name="Shape 20"/>
          <p:cNvSpPr/>
          <p:nvPr/>
        </p:nvSpPr>
        <p:spPr>
          <a:xfrm>
            <a:off x="5166360" y="3131820"/>
            <a:ext cx="182880" cy="0"/>
          </a:xfrm>
          <a:prstGeom prst="line">
            <a:avLst/>
          </a:prstGeom>
          <a:noFill/>
          <a:ln w="22225">
            <a:solidFill>
              <a:srgbClr val="5F8A3E"/>
            </a:solidFill>
            <a:prstDash val="solid"/>
            <a:tailEnd type="triangle"/>
          </a:ln>
        </p:spPr>
      </p:sp>
      <p:sp>
        <p:nvSpPr>
          <p:cNvPr id="23" name="Shape 21"/>
          <p:cNvSpPr/>
          <p:nvPr/>
        </p:nvSpPr>
        <p:spPr>
          <a:xfrm>
            <a:off x="5385816" y="1874520"/>
            <a:ext cx="1417320" cy="2514600"/>
          </a:xfrm>
          <a:prstGeom prst="roundRect">
            <a:avLst>
              <a:gd name="adj" fmla="val 3226"/>
            </a:avLst>
          </a:prstGeom>
          <a:solidFill>
            <a:srgbClr val="EDF3E8"/>
          </a:solidFill>
          <a:ln w="12700">
            <a:solidFill>
              <a:srgbClr val="97BC62"/>
            </a:solidFill>
            <a:prstDash val="solid"/>
          </a:ln>
        </p:spPr>
      </p:sp>
      <p:sp>
        <p:nvSpPr>
          <p:cNvPr id="24" name="Text 22"/>
          <p:cNvSpPr/>
          <p:nvPr/>
        </p:nvSpPr>
        <p:spPr>
          <a:xfrm>
            <a:off x="5920740" y="2020824"/>
            <a:ext cx="347472" cy="347472"/>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5385816" y="2441448"/>
            <a:ext cx="1417320" cy="274320"/>
          </a:xfrm>
          <a:prstGeom prst="rect">
            <a:avLst/>
          </a:prstGeom>
          <a:noFill/>
          <a:ln/>
        </p:spPr>
        <p:txBody>
          <a:bodyPr wrap="square" lIns="0" tIns="0" rIns="0" bIns="0" rtlCol="0" anchor="ctr"/>
          <a:lstStyle/>
          <a:p>
            <a:pPr algn="ctr" indent="0" marL="0">
              <a:buNone/>
            </a:pPr>
            <a:r>
              <a:rPr lang="en-US" sz="1300" b="1" dirty="0">
                <a:solidFill>
                  <a:srgbClr val="2C5F2D"/>
                </a:solidFill>
                <a:latin typeface="Cambria" pitchFamily="34" charset="0"/>
                <a:ea typeface="Cambria" pitchFamily="34" charset="-122"/>
                <a:cs typeface="Cambria" pitchFamily="34" charset="-120"/>
              </a:rPr>
              <a:t>Inputs</a:t>
            </a:r>
            <a:endParaRPr lang="en-US" sz="1300" dirty="0"/>
          </a:p>
        </p:txBody>
      </p:sp>
      <p:sp>
        <p:nvSpPr>
          <p:cNvPr id="26" name="Text 24"/>
          <p:cNvSpPr/>
          <p:nvPr/>
        </p:nvSpPr>
        <p:spPr>
          <a:xfrm>
            <a:off x="5477256" y="2743200"/>
            <a:ext cx="1234440" cy="1143000"/>
          </a:xfrm>
          <a:prstGeom prst="rect">
            <a:avLst/>
          </a:prstGeom>
          <a:noFill/>
          <a:ln/>
        </p:spPr>
        <p:txBody>
          <a:bodyPr wrap="square" lIns="0" tIns="0" rIns="0" bIns="0" rtlCol="0" anchor="ctr"/>
          <a:lstStyle/>
          <a:p>
            <a:pPr algn="ctr" indent="0" marL="0">
              <a:lnSpc>
                <a:spcPct val="105000"/>
              </a:lnSpc>
              <a:buNone/>
            </a:pPr>
            <a:r>
              <a:rPr lang="en-US" sz="900" dirty="0">
                <a:solidFill>
                  <a:srgbClr val="5F6E64"/>
                </a:solidFill>
                <a:latin typeface="Calibri" pitchFamily="34" charset="0"/>
                <a:ea typeface="Calibri" pitchFamily="34" charset="-122"/>
                <a:cs typeface="Calibri" pitchFamily="34" charset="-120"/>
              </a:rPr>
              <a:t>Request subsidised seed / fertiliser / pesticide</a:t>
            </a:r>
            <a:endParaRPr lang="en-US" sz="900" dirty="0"/>
          </a:p>
        </p:txBody>
      </p:sp>
      <p:sp>
        <p:nvSpPr>
          <p:cNvPr id="27" name="Text 25"/>
          <p:cNvSpPr/>
          <p:nvPr/>
        </p:nvSpPr>
        <p:spPr>
          <a:xfrm>
            <a:off x="5458968" y="3913632"/>
            <a:ext cx="1271016" cy="347472"/>
          </a:xfrm>
          <a:prstGeom prst="roundRect">
            <a:avLst>
              <a:gd name="adj" fmla="val 131579"/>
            </a:avLst>
          </a:prstGeom>
          <a:solidFill>
            <a:srgbClr val="2C5F2D"/>
          </a:solidFill>
          <a:ln w="12700">
            <a:solidFill>
              <a:srgbClr val="2C5F2D"/>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input-service</a:t>
            </a:r>
            <a:endParaRPr lang="en-US" sz="800" dirty="0"/>
          </a:p>
        </p:txBody>
      </p:sp>
      <p:sp>
        <p:nvSpPr>
          <p:cNvPr id="28" name="Shape 26"/>
          <p:cNvSpPr/>
          <p:nvPr/>
        </p:nvSpPr>
        <p:spPr>
          <a:xfrm>
            <a:off x="6839712" y="3131820"/>
            <a:ext cx="182880" cy="0"/>
          </a:xfrm>
          <a:prstGeom prst="line">
            <a:avLst/>
          </a:prstGeom>
          <a:noFill/>
          <a:ln w="22225">
            <a:solidFill>
              <a:srgbClr val="5F8A3E"/>
            </a:solidFill>
            <a:prstDash val="solid"/>
            <a:tailEnd type="triangle"/>
          </a:ln>
        </p:spPr>
      </p:sp>
      <p:sp>
        <p:nvSpPr>
          <p:cNvPr id="29" name="Shape 27"/>
          <p:cNvSpPr/>
          <p:nvPr/>
        </p:nvSpPr>
        <p:spPr>
          <a:xfrm>
            <a:off x="7059168" y="1874520"/>
            <a:ext cx="1417320" cy="2514600"/>
          </a:xfrm>
          <a:prstGeom prst="roundRect">
            <a:avLst>
              <a:gd name="adj" fmla="val 3226"/>
            </a:avLst>
          </a:prstGeom>
          <a:solidFill>
            <a:srgbClr val="EDF3E8"/>
          </a:solidFill>
          <a:ln w="12700">
            <a:solidFill>
              <a:srgbClr val="97BC62"/>
            </a:solidFill>
            <a:prstDash val="solid"/>
          </a:ln>
        </p:spPr>
      </p:sp>
      <p:sp>
        <p:nvSpPr>
          <p:cNvPr id="30" name="Text 28"/>
          <p:cNvSpPr/>
          <p:nvPr/>
        </p:nvSpPr>
        <p:spPr>
          <a:xfrm>
            <a:off x="7594092" y="2020824"/>
            <a:ext cx="347472" cy="347472"/>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7059168" y="2441448"/>
            <a:ext cx="1417320" cy="274320"/>
          </a:xfrm>
          <a:prstGeom prst="rect">
            <a:avLst/>
          </a:prstGeom>
          <a:noFill/>
          <a:ln/>
        </p:spPr>
        <p:txBody>
          <a:bodyPr wrap="square" lIns="0" tIns="0" rIns="0" bIns="0" rtlCol="0" anchor="ctr"/>
          <a:lstStyle/>
          <a:p>
            <a:pPr algn="ctr" indent="0" marL="0">
              <a:buNone/>
            </a:pPr>
            <a:r>
              <a:rPr lang="en-US" sz="1300" b="1" dirty="0">
                <a:solidFill>
                  <a:srgbClr val="2C5F2D"/>
                </a:solidFill>
                <a:latin typeface="Cambria" pitchFamily="34" charset="0"/>
                <a:ea typeface="Cambria" pitchFamily="34" charset="-122"/>
                <a:cs typeface="Cambria" pitchFamily="34" charset="-120"/>
              </a:rPr>
              <a:t>Subsidy</a:t>
            </a:r>
            <a:endParaRPr lang="en-US" sz="1300" dirty="0"/>
          </a:p>
        </p:txBody>
      </p:sp>
      <p:sp>
        <p:nvSpPr>
          <p:cNvPr id="32" name="Text 30"/>
          <p:cNvSpPr/>
          <p:nvPr/>
        </p:nvSpPr>
        <p:spPr>
          <a:xfrm>
            <a:off x="7150608" y="2743200"/>
            <a:ext cx="1234440" cy="1143000"/>
          </a:xfrm>
          <a:prstGeom prst="rect">
            <a:avLst/>
          </a:prstGeom>
          <a:noFill/>
          <a:ln/>
        </p:spPr>
        <p:txBody>
          <a:bodyPr wrap="square" lIns="0" tIns="0" rIns="0" bIns="0" rtlCol="0" anchor="ctr"/>
          <a:lstStyle/>
          <a:p>
            <a:pPr algn="ctr" indent="0" marL="0">
              <a:lnSpc>
                <a:spcPct val="105000"/>
              </a:lnSpc>
              <a:buNone/>
            </a:pPr>
            <a:r>
              <a:rPr lang="en-US" sz="900" dirty="0">
                <a:solidFill>
                  <a:srgbClr val="5F6E64"/>
                </a:solidFill>
                <a:latin typeface="Calibri" pitchFamily="34" charset="0"/>
                <a:ea typeface="Calibri" pitchFamily="34" charset="-122"/>
                <a:cs typeface="Calibri" pitchFamily="34" charset="-120"/>
              </a:rPr>
              <a:t>Apply for a scheme, staff review, disbursement</a:t>
            </a:r>
            <a:endParaRPr lang="en-US" sz="900" dirty="0"/>
          </a:p>
        </p:txBody>
      </p:sp>
      <p:sp>
        <p:nvSpPr>
          <p:cNvPr id="33" name="Text 31"/>
          <p:cNvSpPr/>
          <p:nvPr/>
        </p:nvSpPr>
        <p:spPr>
          <a:xfrm>
            <a:off x="7132320" y="3913632"/>
            <a:ext cx="1271016" cy="347472"/>
          </a:xfrm>
          <a:prstGeom prst="roundRect">
            <a:avLst>
              <a:gd name="adj" fmla="val 131579"/>
            </a:avLst>
          </a:prstGeom>
          <a:solidFill>
            <a:srgbClr val="2C5F2D"/>
          </a:solidFill>
          <a:ln w="12700">
            <a:solidFill>
              <a:srgbClr val="2C5F2D"/>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subsidy-service</a:t>
            </a:r>
            <a:endParaRPr lang="en-US" sz="800" dirty="0"/>
          </a:p>
        </p:txBody>
      </p:sp>
      <p:sp>
        <p:nvSpPr>
          <p:cNvPr id="34" name="Shape 32"/>
          <p:cNvSpPr/>
          <p:nvPr/>
        </p:nvSpPr>
        <p:spPr>
          <a:xfrm>
            <a:off x="8513064" y="3131820"/>
            <a:ext cx="182880" cy="0"/>
          </a:xfrm>
          <a:prstGeom prst="line">
            <a:avLst/>
          </a:prstGeom>
          <a:noFill/>
          <a:ln w="22225">
            <a:solidFill>
              <a:srgbClr val="5F8A3E"/>
            </a:solidFill>
            <a:prstDash val="solid"/>
            <a:tailEnd type="triangle"/>
          </a:ln>
        </p:spPr>
      </p:sp>
      <p:sp>
        <p:nvSpPr>
          <p:cNvPr id="35" name="Shape 33"/>
          <p:cNvSpPr/>
          <p:nvPr/>
        </p:nvSpPr>
        <p:spPr>
          <a:xfrm>
            <a:off x="8732520" y="1874520"/>
            <a:ext cx="1417320" cy="2514600"/>
          </a:xfrm>
          <a:prstGeom prst="roundRect">
            <a:avLst>
              <a:gd name="adj" fmla="val 3226"/>
            </a:avLst>
          </a:prstGeom>
          <a:solidFill>
            <a:srgbClr val="EDF3E8"/>
          </a:solidFill>
          <a:ln w="12700">
            <a:solidFill>
              <a:srgbClr val="97BC62"/>
            </a:solidFill>
            <a:prstDash val="solid"/>
          </a:ln>
        </p:spPr>
      </p:sp>
      <p:sp>
        <p:nvSpPr>
          <p:cNvPr id="36" name="Text 34"/>
          <p:cNvSpPr/>
          <p:nvPr/>
        </p:nvSpPr>
        <p:spPr>
          <a:xfrm>
            <a:off x="9267444" y="2020824"/>
            <a:ext cx="347472" cy="347472"/>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p:nvPr/>
        </p:nvSpPr>
        <p:spPr>
          <a:xfrm>
            <a:off x="8732520" y="2441448"/>
            <a:ext cx="1417320" cy="274320"/>
          </a:xfrm>
          <a:prstGeom prst="rect">
            <a:avLst/>
          </a:prstGeom>
          <a:noFill/>
          <a:ln/>
        </p:spPr>
        <p:txBody>
          <a:bodyPr wrap="square" lIns="0" tIns="0" rIns="0" bIns="0" rtlCol="0" anchor="ctr"/>
          <a:lstStyle/>
          <a:p>
            <a:pPr algn="ctr" indent="0" marL="0">
              <a:buNone/>
            </a:pPr>
            <a:r>
              <a:rPr lang="en-US" sz="1300" b="1" dirty="0">
                <a:solidFill>
                  <a:srgbClr val="2C5F2D"/>
                </a:solidFill>
                <a:latin typeface="Cambria" pitchFamily="34" charset="0"/>
                <a:ea typeface="Cambria" pitchFamily="34" charset="-122"/>
                <a:cs typeface="Cambria" pitchFamily="34" charset="-120"/>
              </a:rPr>
              <a:t>Sell</a:t>
            </a:r>
            <a:endParaRPr lang="en-US" sz="1300" dirty="0"/>
          </a:p>
        </p:txBody>
      </p:sp>
      <p:sp>
        <p:nvSpPr>
          <p:cNvPr id="38" name="Text 36"/>
          <p:cNvSpPr/>
          <p:nvPr/>
        </p:nvSpPr>
        <p:spPr>
          <a:xfrm>
            <a:off x="8823960" y="2743200"/>
            <a:ext cx="1234440" cy="1143000"/>
          </a:xfrm>
          <a:prstGeom prst="rect">
            <a:avLst/>
          </a:prstGeom>
          <a:noFill/>
          <a:ln/>
        </p:spPr>
        <p:txBody>
          <a:bodyPr wrap="square" lIns="0" tIns="0" rIns="0" bIns="0" rtlCol="0" anchor="ctr"/>
          <a:lstStyle/>
          <a:p>
            <a:pPr algn="ctr" indent="0" marL="0">
              <a:lnSpc>
                <a:spcPct val="105000"/>
              </a:lnSpc>
              <a:buNone/>
            </a:pPr>
            <a:r>
              <a:rPr lang="en-US" sz="900" dirty="0">
                <a:solidFill>
                  <a:srgbClr val="5F6E64"/>
                </a:solidFill>
                <a:latin typeface="Calibri" pitchFamily="34" charset="0"/>
                <a:ea typeface="Calibri" pitchFamily="34" charset="-122"/>
                <a:cs typeface="Calibri" pitchFamily="34" charset="-120"/>
              </a:rPr>
              <a:t>List produce, buyer purchase, payment settlement</a:t>
            </a:r>
            <a:endParaRPr lang="en-US" sz="900" dirty="0"/>
          </a:p>
        </p:txBody>
      </p:sp>
      <p:sp>
        <p:nvSpPr>
          <p:cNvPr id="39" name="Text 37"/>
          <p:cNvSpPr/>
          <p:nvPr/>
        </p:nvSpPr>
        <p:spPr>
          <a:xfrm>
            <a:off x="8805672" y="3913632"/>
            <a:ext cx="1271016" cy="347472"/>
          </a:xfrm>
          <a:prstGeom prst="roundRect">
            <a:avLst>
              <a:gd name="adj" fmla="val 131579"/>
            </a:avLst>
          </a:prstGeom>
          <a:solidFill>
            <a:srgbClr val="2C5F2D"/>
          </a:solidFill>
          <a:ln w="12700">
            <a:solidFill>
              <a:srgbClr val="2C5F2D"/>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produce-service</a:t>
            </a:r>
            <a:endParaRPr lang="en-US" sz="800" dirty="0"/>
          </a:p>
        </p:txBody>
      </p:sp>
      <p:sp>
        <p:nvSpPr>
          <p:cNvPr id="40" name="Shape 38"/>
          <p:cNvSpPr/>
          <p:nvPr/>
        </p:nvSpPr>
        <p:spPr>
          <a:xfrm>
            <a:off x="10186416" y="3131820"/>
            <a:ext cx="182880" cy="0"/>
          </a:xfrm>
          <a:prstGeom prst="line">
            <a:avLst/>
          </a:prstGeom>
          <a:noFill/>
          <a:ln w="22225">
            <a:solidFill>
              <a:srgbClr val="5F8A3E"/>
            </a:solidFill>
            <a:prstDash val="solid"/>
            <a:tailEnd type="triangle"/>
          </a:ln>
        </p:spPr>
      </p:sp>
      <p:sp>
        <p:nvSpPr>
          <p:cNvPr id="41" name="Shape 39"/>
          <p:cNvSpPr/>
          <p:nvPr/>
        </p:nvSpPr>
        <p:spPr>
          <a:xfrm>
            <a:off x="10405872" y="1874520"/>
            <a:ext cx="1417320" cy="2514600"/>
          </a:xfrm>
          <a:prstGeom prst="roundRect">
            <a:avLst>
              <a:gd name="adj" fmla="val 3226"/>
            </a:avLst>
          </a:prstGeom>
          <a:solidFill>
            <a:srgbClr val="EDF3E8"/>
          </a:solidFill>
          <a:ln w="12700">
            <a:solidFill>
              <a:srgbClr val="97BC62"/>
            </a:solidFill>
            <a:prstDash val="solid"/>
          </a:ln>
        </p:spPr>
      </p:sp>
      <p:sp>
        <p:nvSpPr>
          <p:cNvPr id="42" name="Text 40"/>
          <p:cNvSpPr/>
          <p:nvPr/>
        </p:nvSpPr>
        <p:spPr>
          <a:xfrm>
            <a:off x="10940796" y="2020824"/>
            <a:ext cx="347472" cy="347472"/>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3" name="Text 41"/>
          <p:cNvSpPr/>
          <p:nvPr/>
        </p:nvSpPr>
        <p:spPr>
          <a:xfrm>
            <a:off x="10405872" y="2441448"/>
            <a:ext cx="1417320" cy="274320"/>
          </a:xfrm>
          <a:prstGeom prst="rect">
            <a:avLst/>
          </a:prstGeom>
          <a:noFill/>
          <a:ln/>
        </p:spPr>
        <p:txBody>
          <a:bodyPr wrap="square" lIns="0" tIns="0" rIns="0" bIns="0" rtlCol="0" anchor="ctr"/>
          <a:lstStyle/>
          <a:p>
            <a:pPr algn="ctr" indent="0" marL="0">
              <a:buNone/>
            </a:pPr>
            <a:r>
              <a:rPr lang="en-US" sz="1300" b="1" dirty="0">
                <a:solidFill>
                  <a:srgbClr val="2C5F2D"/>
                </a:solidFill>
                <a:latin typeface="Cambria" pitchFamily="34" charset="0"/>
                <a:ea typeface="Cambria" pitchFamily="34" charset="-122"/>
                <a:cs typeface="Cambria" pitchFamily="34" charset="-120"/>
              </a:rPr>
              <a:t>Report</a:t>
            </a:r>
            <a:endParaRPr lang="en-US" sz="1300" dirty="0"/>
          </a:p>
        </p:txBody>
      </p:sp>
      <p:sp>
        <p:nvSpPr>
          <p:cNvPr id="44" name="Text 42"/>
          <p:cNvSpPr/>
          <p:nvPr/>
        </p:nvSpPr>
        <p:spPr>
          <a:xfrm>
            <a:off x="10497312" y="2743200"/>
            <a:ext cx="1234440" cy="1143000"/>
          </a:xfrm>
          <a:prstGeom prst="rect">
            <a:avLst/>
          </a:prstGeom>
          <a:noFill/>
          <a:ln/>
        </p:spPr>
        <p:txBody>
          <a:bodyPr wrap="square" lIns="0" tIns="0" rIns="0" bIns="0" rtlCol="0" anchor="ctr"/>
          <a:lstStyle/>
          <a:p>
            <a:pPr algn="ctr" indent="0" marL="0">
              <a:lnSpc>
                <a:spcPct val="105000"/>
              </a:lnSpc>
              <a:buNone/>
            </a:pPr>
            <a:r>
              <a:rPr lang="en-US" sz="900" dirty="0">
                <a:solidFill>
                  <a:srgbClr val="5F6E64"/>
                </a:solidFill>
                <a:latin typeface="Calibri" pitchFamily="34" charset="0"/>
                <a:ea typeface="Calibri" pitchFamily="34" charset="-122"/>
                <a:cs typeface="Calibri" pitchFamily="34" charset="-120"/>
              </a:rPr>
              <a:t>Dashboards, exports and in-app alerts</a:t>
            </a:r>
            <a:endParaRPr lang="en-US" sz="900" dirty="0"/>
          </a:p>
        </p:txBody>
      </p:sp>
      <p:sp>
        <p:nvSpPr>
          <p:cNvPr id="45" name="Text 43"/>
          <p:cNvSpPr/>
          <p:nvPr/>
        </p:nvSpPr>
        <p:spPr>
          <a:xfrm>
            <a:off x="10479024" y="3913632"/>
            <a:ext cx="1271016" cy="347472"/>
          </a:xfrm>
          <a:prstGeom prst="roundRect">
            <a:avLst>
              <a:gd name="adj" fmla="val 131579"/>
            </a:avLst>
          </a:prstGeom>
          <a:solidFill>
            <a:srgbClr val="2C5F2D"/>
          </a:solidFill>
          <a:ln w="12700">
            <a:solidFill>
              <a:srgbClr val="2C5F2D"/>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report + notification</a:t>
            </a:r>
            <a:endParaRPr lang="en-US" sz="800" dirty="0"/>
          </a:p>
        </p:txBody>
      </p:sp>
      <p:sp>
        <p:nvSpPr>
          <p:cNvPr id="46" name="Shape 44"/>
          <p:cNvSpPr/>
          <p:nvPr/>
        </p:nvSpPr>
        <p:spPr>
          <a:xfrm>
            <a:off x="411480" y="4800600"/>
            <a:ext cx="11384280" cy="914400"/>
          </a:xfrm>
          <a:prstGeom prst="roundRect">
            <a:avLst>
              <a:gd name="adj" fmla="val 5000"/>
            </a:avLst>
          </a:prstGeom>
          <a:solidFill>
            <a:srgbClr val="2C5F2D"/>
          </a:solidFill>
          <a:ln w="12700">
            <a:solidFill>
              <a:srgbClr val="2C5F2D"/>
            </a:solidFill>
            <a:prstDash val="solid"/>
          </a:ln>
        </p:spPr>
      </p:sp>
      <p:sp>
        <p:nvSpPr>
          <p:cNvPr id="47" name="Text 45"/>
          <p:cNvSpPr/>
          <p:nvPr/>
        </p:nvSpPr>
        <p:spPr>
          <a:xfrm>
            <a:off x="658368" y="4855464"/>
            <a:ext cx="10881360" cy="804672"/>
          </a:xfrm>
          <a:prstGeom prst="rect">
            <a:avLst/>
          </a:prstGeom>
          <a:noFill/>
          <a:ln/>
        </p:spPr>
        <p:txBody>
          <a:bodyPr wrap="square" lIns="0" tIns="0" rIns="0" bIns="0" rtlCol="0" anchor="ctr"/>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Running underneath all seven: </a:t>
            </a:r>
            <a:pPr indent="0" marL="0">
              <a:lnSpc>
                <a:spcPct val="115000"/>
              </a:lnSpc>
              <a:buNone/>
            </a:pPr>
            <a:r>
              <a:rPr lang="en-US" sz="1150" b="1" dirty="0">
                <a:solidFill>
                  <a:srgbClr val="97BC62"/>
                </a:solidFill>
                <a:latin typeface="Calibri" pitchFamily="34" charset="0"/>
                <a:ea typeface="Calibri" pitchFamily="34" charset="-122"/>
                <a:cs typeface="Calibri" pitchFamily="34" charset="-120"/>
              </a:rPr>
              <a:t>iam-service</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 — registration &amp; approval, login, the 6 roles, and an audit trail of every write. It issues the JWT that every other stage trusts.</a:t>
            </a:r>
            <a:endParaRPr lang="en-US" sz="1150" dirty="0"/>
          </a:p>
        </p:txBody>
      </p:sp>
      <p:sp>
        <p:nvSpPr>
          <p:cNvPr id="48" name="Text 46"/>
          <p:cNvSpPr/>
          <p:nvPr/>
        </p:nvSpPr>
        <p:spPr>
          <a:xfrm>
            <a:off x="502920" y="5943600"/>
            <a:ext cx="11155680" cy="292608"/>
          </a:xfrm>
          <a:prstGeom prst="rect">
            <a:avLst/>
          </a:prstGeom>
          <a:noFill/>
          <a:ln/>
        </p:spPr>
        <p:txBody>
          <a:bodyPr wrap="square" lIns="0" tIns="0" rIns="0" bIns="0" rtlCol="0" anchor="ctr"/>
          <a:lstStyle/>
          <a:p>
            <a:pPr indent="0" marL="0">
              <a:buNone/>
            </a:pPr>
            <a:r>
              <a:rPr lang="en-US" sz="1050" i="1" dirty="0">
                <a:solidFill>
                  <a:srgbClr val="5F6E64"/>
                </a:solidFill>
                <a:latin typeface="Calibri" pitchFamily="34" charset="0"/>
                <a:ea typeface="Calibri" pitchFamily="34" charset="-122"/>
                <a:cs typeface="Calibri" pitchFamily="34" charset="-120"/>
              </a:rPr>
              <a:t>Phase 1 scope: no land-registry or weather APIs, market prices come from internal lists, notifications are in-app only (no SMS).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11155680" cy="256032"/>
          </a:xfrm>
          <a:prstGeom prst="rect">
            <a:avLst/>
          </a:prstGeom>
          <a:noFill/>
          <a:ln/>
        </p:spPr>
        <p:txBody>
          <a:bodyPr wrap="square" lIns="0" tIns="0" rIns="0" bIns="0" rtlCol="0" anchor="ctr"/>
          <a:lstStyle/>
          <a:p>
            <a:pPr indent="0" marL="0">
              <a:buNone/>
            </a:pPr>
            <a:r>
              <a:rPr lang="en-US" sz="1100" b="1" spc="250" kern="0" dirty="0">
                <a:solidFill>
                  <a:srgbClr val="5F8A3E"/>
                </a:solidFill>
                <a:latin typeface="Calibri" pitchFamily="34" charset="0"/>
                <a:ea typeface="Calibri" pitchFamily="34" charset="-122"/>
                <a:cs typeface="Calibri" pitchFamily="34" charset="-120"/>
              </a:rPr>
              <a:t>ACTORS</a:t>
            </a:r>
            <a:endParaRPr lang="en-US" sz="1100" dirty="0"/>
          </a:p>
        </p:txBody>
      </p:sp>
      <p:sp>
        <p:nvSpPr>
          <p:cNvPr id="3" name="Text 1"/>
          <p:cNvSpPr/>
          <p:nvPr/>
        </p:nvSpPr>
        <p:spPr>
          <a:xfrm>
            <a:off x="502920" y="548640"/>
            <a:ext cx="11155680" cy="502920"/>
          </a:xfrm>
          <a:prstGeom prst="rect">
            <a:avLst/>
          </a:prstGeom>
          <a:noFill/>
          <a:ln/>
        </p:spPr>
        <p:txBody>
          <a:bodyPr wrap="square" lIns="0" tIns="0" rIns="0" bIns="0" rtlCol="0" anchor="t"/>
          <a:lstStyle/>
          <a:p>
            <a:pPr indent="0" marL="0">
              <a:buNone/>
            </a:pPr>
            <a:r>
              <a:rPr lang="en-US" sz="3000" b="1" dirty="0">
                <a:solidFill>
                  <a:srgbClr val="1F2A24"/>
                </a:solidFill>
                <a:latin typeface="Cambria" pitchFamily="34" charset="0"/>
                <a:ea typeface="Cambria" pitchFamily="34" charset="-122"/>
                <a:cs typeface="Cambria" pitchFamily="34" charset="-120"/>
              </a:rPr>
              <a:t>Six Roles, One Platform</a:t>
            </a:r>
            <a:endParaRPr lang="en-US" sz="3000" dirty="0"/>
          </a:p>
        </p:txBody>
      </p:sp>
      <p:sp>
        <p:nvSpPr>
          <p:cNvPr id="4" name="Text 2"/>
          <p:cNvSpPr/>
          <p:nvPr/>
        </p:nvSpPr>
        <p:spPr>
          <a:xfrm>
            <a:off x="502920" y="1078992"/>
            <a:ext cx="11155680" cy="310896"/>
          </a:xfrm>
          <a:prstGeom prst="rect">
            <a:avLst/>
          </a:prstGeom>
          <a:noFill/>
          <a:ln/>
        </p:spPr>
        <p:txBody>
          <a:bodyPr wrap="square" lIns="0" tIns="0" rIns="0" bIns="0" rtlCol="0" anchor="t"/>
          <a:lstStyle/>
          <a:p>
            <a:pPr indent="0" marL="0">
              <a:buNone/>
            </a:pPr>
            <a:r>
              <a:rPr lang="en-US" sz="1250" dirty="0">
                <a:solidFill>
                  <a:srgbClr val="5F6E64"/>
                </a:solidFill>
                <a:latin typeface="Calibri" pitchFamily="34" charset="0"/>
                <a:ea typeface="Calibri" pitchFamily="34" charset="-122"/>
                <a:cs typeface="Calibri" pitchFamily="34" charset="-120"/>
              </a:rPr>
              <a:t>The role sits inside the JWT as a claim. Angular uses it to draw the menu; every service re-checks it before touching data.</a:t>
            </a:r>
            <a:endParaRPr lang="en-US" sz="1250" dirty="0"/>
          </a:p>
        </p:txBody>
      </p:sp>
      <p:sp>
        <p:nvSpPr>
          <p:cNvPr id="5" name="Shape 3"/>
          <p:cNvSpPr/>
          <p:nvPr/>
        </p:nvSpPr>
        <p:spPr>
          <a:xfrm>
            <a:off x="365760" y="1783080"/>
            <a:ext cx="3602736" cy="1691640"/>
          </a:xfrm>
          <a:prstGeom prst="roundRect">
            <a:avLst>
              <a:gd name="adj" fmla="val 2703"/>
            </a:avLst>
          </a:prstGeom>
          <a:solidFill>
            <a:srgbClr val="EDF3E8"/>
          </a:solidFill>
          <a:ln w="12700">
            <a:solidFill>
              <a:srgbClr val="97BC62"/>
            </a:solidFill>
            <a:prstDash val="solid"/>
          </a:ln>
        </p:spPr>
      </p:sp>
      <p:sp>
        <p:nvSpPr>
          <p:cNvPr id="6" name="Text 4"/>
          <p:cNvSpPr/>
          <p:nvPr/>
        </p:nvSpPr>
        <p:spPr>
          <a:xfrm>
            <a:off x="566928" y="2002536"/>
            <a:ext cx="566928" cy="566928"/>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7" name="Text 5"/>
          <p:cNvSpPr/>
          <p:nvPr/>
        </p:nvSpPr>
        <p:spPr>
          <a:xfrm>
            <a:off x="1252728" y="2039112"/>
            <a:ext cx="2551176" cy="365760"/>
          </a:xfrm>
          <a:prstGeom prst="rect">
            <a:avLst/>
          </a:prstGeom>
          <a:noFill/>
          <a:ln/>
        </p:spPr>
        <p:txBody>
          <a:bodyPr wrap="square" lIns="0" tIns="0" rIns="0" bIns="0" rtlCol="0" anchor="ctr"/>
          <a:lstStyle/>
          <a:p>
            <a:pPr indent="0" marL="0">
              <a:buNone/>
            </a:pPr>
            <a:r>
              <a:rPr lang="en-US" sz="1400" b="1" dirty="0">
                <a:solidFill>
                  <a:srgbClr val="1F2A24"/>
                </a:solidFill>
                <a:latin typeface="Cambria" pitchFamily="34" charset="0"/>
                <a:ea typeface="Cambria" pitchFamily="34" charset="-122"/>
                <a:cs typeface="Cambria" pitchFamily="34" charset="-120"/>
              </a:rPr>
              <a:t>Farmer</a:t>
            </a:r>
            <a:endParaRPr lang="en-US" sz="1400" dirty="0"/>
          </a:p>
        </p:txBody>
      </p:sp>
      <p:sp>
        <p:nvSpPr>
          <p:cNvPr id="8" name="Text 6"/>
          <p:cNvSpPr/>
          <p:nvPr/>
        </p:nvSpPr>
        <p:spPr>
          <a:xfrm>
            <a:off x="585216" y="2679192"/>
            <a:ext cx="3163824" cy="502920"/>
          </a:xfrm>
          <a:prstGeom prst="rect">
            <a:avLst/>
          </a:prstGeom>
          <a:noFill/>
          <a:ln/>
        </p:spPr>
        <p:txBody>
          <a:bodyPr wrap="square" lIns="0" tIns="0" rIns="0" bIns="0" rtlCol="0" anchor="t"/>
          <a:lstStyle/>
          <a:p>
            <a:pPr indent="0" marL="0">
              <a:lnSpc>
                <a:spcPct val="105000"/>
              </a:lnSpc>
              <a:buNone/>
            </a:pPr>
            <a:r>
              <a:rPr lang="en-US" sz="1000" dirty="0">
                <a:solidFill>
                  <a:srgbClr val="5F6E64"/>
                </a:solidFill>
                <a:latin typeface="Calibri" pitchFamily="34" charset="0"/>
                <a:ea typeface="Calibri" pitchFamily="34" charset="-122"/>
                <a:cs typeface="Calibri" pitchFamily="34" charset="-120"/>
              </a:rPr>
              <a:t>Registers land, plans crops, requests inputs, applies for subsidies, lists produce.</a:t>
            </a:r>
            <a:endParaRPr lang="en-US" sz="1000" dirty="0"/>
          </a:p>
        </p:txBody>
      </p:sp>
      <p:sp>
        <p:nvSpPr>
          <p:cNvPr id="9" name="Text 7"/>
          <p:cNvSpPr/>
          <p:nvPr/>
        </p:nvSpPr>
        <p:spPr>
          <a:xfrm>
            <a:off x="585216" y="3172968"/>
            <a:ext cx="3163824" cy="228600"/>
          </a:xfrm>
          <a:prstGeom prst="rect">
            <a:avLst/>
          </a:prstGeom>
          <a:noFill/>
          <a:ln/>
        </p:spPr>
        <p:txBody>
          <a:bodyPr wrap="square" lIns="0" tIns="0" rIns="0" bIns="0" rtlCol="0" anchor="ctr"/>
          <a:lstStyle/>
          <a:p>
            <a:pPr indent="0" marL="0">
              <a:buNone/>
            </a:pPr>
            <a:r>
              <a:rPr lang="en-US" sz="850" b="1" dirty="0">
                <a:solidFill>
                  <a:srgbClr val="5F8A3E"/>
                </a:solidFill>
                <a:latin typeface="Calibri" pitchFamily="34" charset="0"/>
                <a:ea typeface="Calibri" pitchFamily="34" charset="-122"/>
                <a:cs typeface="Calibri" pitchFamily="34" charset="-120"/>
              </a:rPr>
              <a:t>farmer · crop · input · subsidy · produce</a:t>
            </a:r>
            <a:endParaRPr lang="en-US" sz="850" dirty="0"/>
          </a:p>
        </p:txBody>
      </p:sp>
      <p:sp>
        <p:nvSpPr>
          <p:cNvPr id="10" name="Shape 8"/>
          <p:cNvSpPr/>
          <p:nvPr/>
        </p:nvSpPr>
        <p:spPr>
          <a:xfrm>
            <a:off x="4288536" y="1783080"/>
            <a:ext cx="3602736" cy="1691640"/>
          </a:xfrm>
          <a:prstGeom prst="roundRect">
            <a:avLst>
              <a:gd name="adj" fmla="val 2703"/>
            </a:avLst>
          </a:prstGeom>
          <a:solidFill>
            <a:srgbClr val="EDF3E8"/>
          </a:solidFill>
          <a:ln w="12700">
            <a:solidFill>
              <a:srgbClr val="97BC62"/>
            </a:solidFill>
            <a:prstDash val="solid"/>
          </a:ln>
        </p:spPr>
      </p:sp>
      <p:sp>
        <p:nvSpPr>
          <p:cNvPr id="11" name="Text 9"/>
          <p:cNvSpPr/>
          <p:nvPr/>
        </p:nvSpPr>
        <p:spPr>
          <a:xfrm>
            <a:off x="4489704" y="2002536"/>
            <a:ext cx="566928" cy="566928"/>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EO</a:t>
            </a:r>
            <a:endParaRPr lang="en-US" sz="1300" dirty="0"/>
          </a:p>
        </p:txBody>
      </p:sp>
      <p:sp>
        <p:nvSpPr>
          <p:cNvPr id="12" name="Text 10"/>
          <p:cNvSpPr/>
          <p:nvPr/>
        </p:nvSpPr>
        <p:spPr>
          <a:xfrm>
            <a:off x="5175504" y="2039112"/>
            <a:ext cx="2551176" cy="365760"/>
          </a:xfrm>
          <a:prstGeom prst="rect">
            <a:avLst/>
          </a:prstGeom>
          <a:noFill/>
          <a:ln/>
        </p:spPr>
        <p:txBody>
          <a:bodyPr wrap="square" lIns="0" tIns="0" rIns="0" bIns="0" rtlCol="0" anchor="ctr"/>
          <a:lstStyle/>
          <a:p>
            <a:pPr indent="0" marL="0">
              <a:buNone/>
            </a:pPr>
            <a:r>
              <a:rPr lang="en-US" sz="1400" b="1" dirty="0">
                <a:solidFill>
                  <a:srgbClr val="1F2A24"/>
                </a:solidFill>
                <a:latin typeface="Cambria" pitchFamily="34" charset="0"/>
                <a:ea typeface="Cambria" pitchFamily="34" charset="-122"/>
                <a:cs typeface="Cambria" pitchFamily="34" charset="-120"/>
              </a:rPr>
              <a:t>Agri-Extension Officer</a:t>
            </a:r>
            <a:endParaRPr lang="en-US" sz="1400" dirty="0"/>
          </a:p>
        </p:txBody>
      </p:sp>
      <p:sp>
        <p:nvSpPr>
          <p:cNvPr id="13" name="Text 11"/>
          <p:cNvSpPr/>
          <p:nvPr/>
        </p:nvSpPr>
        <p:spPr>
          <a:xfrm>
            <a:off x="4507992" y="2679192"/>
            <a:ext cx="3163824" cy="502920"/>
          </a:xfrm>
          <a:prstGeom prst="rect">
            <a:avLst/>
          </a:prstGeom>
          <a:noFill/>
          <a:ln/>
        </p:spPr>
        <p:txBody>
          <a:bodyPr wrap="square" lIns="0" tIns="0" rIns="0" bIns="0" rtlCol="0" anchor="t"/>
          <a:lstStyle/>
          <a:p>
            <a:pPr indent="0" marL="0">
              <a:lnSpc>
                <a:spcPct val="105000"/>
              </a:lnSpc>
              <a:buNone/>
            </a:pPr>
            <a:r>
              <a:rPr lang="en-US" sz="1000" dirty="0">
                <a:solidFill>
                  <a:srgbClr val="5F6E64"/>
                </a:solidFill>
                <a:latin typeface="Calibri" pitchFamily="34" charset="0"/>
                <a:ea typeface="Calibri" pitchFamily="34" charset="-122"/>
                <a:cs typeface="Calibri" pitchFamily="34" charset="-120"/>
              </a:rPr>
              <a:t>Field advisory: records growth observations, creates and approves farmer accounts in their region.</a:t>
            </a:r>
            <a:endParaRPr lang="en-US" sz="1000" dirty="0"/>
          </a:p>
        </p:txBody>
      </p:sp>
      <p:sp>
        <p:nvSpPr>
          <p:cNvPr id="14" name="Text 12"/>
          <p:cNvSpPr/>
          <p:nvPr/>
        </p:nvSpPr>
        <p:spPr>
          <a:xfrm>
            <a:off x="4507992" y="3172968"/>
            <a:ext cx="3163824" cy="228600"/>
          </a:xfrm>
          <a:prstGeom prst="rect">
            <a:avLst/>
          </a:prstGeom>
          <a:noFill/>
          <a:ln/>
        </p:spPr>
        <p:txBody>
          <a:bodyPr wrap="square" lIns="0" tIns="0" rIns="0" bIns="0" rtlCol="0" anchor="ctr"/>
          <a:lstStyle/>
          <a:p>
            <a:pPr indent="0" marL="0">
              <a:buNone/>
            </a:pPr>
            <a:r>
              <a:rPr lang="en-US" sz="850" b="1" dirty="0">
                <a:solidFill>
                  <a:srgbClr val="5F8A3E"/>
                </a:solidFill>
                <a:latin typeface="Calibri" pitchFamily="34" charset="0"/>
                <a:ea typeface="Calibri" pitchFamily="34" charset="-122"/>
                <a:cs typeface="Calibri" pitchFamily="34" charset="-120"/>
              </a:rPr>
              <a:t>crop · farmer · iam · notification</a:t>
            </a:r>
            <a:endParaRPr lang="en-US" sz="850" dirty="0"/>
          </a:p>
        </p:txBody>
      </p:sp>
      <p:sp>
        <p:nvSpPr>
          <p:cNvPr id="15" name="Shape 13"/>
          <p:cNvSpPr/>
          <p:nvPr/>
        </p:nvSpPr>
        <p:spPr>
          <a:xfrm>
            <a:off x="8211312" y="1783080"/>
            <a:ext cx="3602736" cy="1691640"/>
          </a:xfrm>
          <a:prstGeom prst="roundRect">
            <a:avLst>
              <a:gd name="adj" fmla="val 2703"/>
            </a:avLst>
          </a:prstGeom>
          <a:solidFill>
            <a:srgbClr val="EDF3E8"/>
          </a:solidFill>
          <a:ln w="12700">
            <a:solidFill>
              <a:srgbClr val="97BC62"/>
            </a:solidFill>
            <a:prstDash val="solid"/>
          </a:ln>
        </p:spPr>
      </p:sp>
      <p:sp>
        <p:nvSpPr>
          <p:cNvPr id="16" name="Text 14"/>
          <p:cNvSpPr/>
          <p:nvPr/>
        </p:nvSpPr>
        <p:spPr>
          <a:xfrm>
            <a:off x="8412480" y="2002536"/>
            <a:ext cx="566928" cy="566928"/>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a:t>
            </a:r>
            <a:endParaRPr lang="en-US" sz="1300" dirty="0"/>
          </a:p>
        </p:txBody>
      </p:sp>
      <p:sp>
        <p:nvSpPr>
          <p:cNvPr id="17" name="Text 15"/>
          <p:cNvSpPr/>
          <p:nvPr/>
        </p:nvSpPr>
        <p:spPr>
          <a:xfrm>
            <a:off x="9098280" y="2039112"/>
            <a:ext cx="2551176" cy="365760"/>
          </a:xfrm>
          <a:prstGeom prst="rect">
            <a:avLst/>
          </a:prstGeom>
          <a:noFill/>
          <a:ln/>
        </p:spPr>
        <p:txBody>
          <a:bodyPr wrap="square" lIns="0" tIns="0" rIns="0" bIns="0" rtlCol="0" anchor="ctr"/>
          <a:lstStyle/>
          <a:p>
            <a:pPr indent="0" marL="0">
              <a:buNone/>
            </a:pPr>
            <a:r>
              <a:rPr lang="en-US" sz="1400" b="1" dirty="0">
                <a:solidFill>
                  <a:srgbClr val="1F2A24"/>
                </a:solidFill>
                <a:latin typeface="Cambria" pitchFamily="34" charset="0"/>
                <a:ea typeface="Cambria" pitchFamily="34" charset="-122"/>
                <a:cs typeface="Cambria" pitchFamily="34" charset="-120"/>
              </a:rPr>
              <a:t>Procurement Officer</a:t>
            </a:r>
            <a:endParaRPr lang="en-US" sz="1400" dirty="0"/>
          </a:p>
        </p:txBody>
      </p:sp>
      <p:sp>
        <p:nvSpPr>
          <p:cNvPr id="18" name="Text 16"/>
          <p:cNvSpPr/>
          <p:nvPr/>
        </p:nvSpPr>
        <p:spPr>
          <a:xfrm>
            <a:off x="8430768" y="2679192"/>
            <a:ext cx="3163824" cy="502920"/>
          </a:xfrm>
          <a:prstGeom prst="rect">
            <a:avLst/>
          </a:prstGeom>
          <a:noFill/>
          <a:ln/>
        </p:spPr>
        <p:txBody>
          <a:bodyPr wrap="square" lIns="0" tIns="0" rIns="0" bIns="0" rtlCol="0" anchor="t"/>
          <a:lstStyle/>
          <a:p>
            <a:pPr indent="0" marL="0">
              <a:lnSpc>
                <a:spcPct val="105000"/>
              </a:lnSpc>
              <a:buNone/>
            </a:pPr>
            <a:r>
              <a:rPr lang="en-US" sz="1000" dirty="0">
                <a:solidFill>
                  <a:srgbClr val="5F6E64"/>
                </a:solidFill>
                <a:latin typeface="Calibri" pitchFamily="34" charset="0"/>
                <a:ea typeface="Calibri" pitchFamily="34" charset="-122"/>
                <a:cs typeface="Calibri" pitchFamily="34" charset="-120"/>
              </a:rPr>
              <a:t>Runs the input catalogue and buys back produce — price agreement and payment status.</a:t>
            </a:r>
            <a:endParaRPr lang="en-US" sz="1000" dirty="0"/>
          </a:p>
        </p:txBody>
      </p:sp>
      <p:sp>
        <p:nvSpPr>
          <p:cNvPr id="19" name="Text 17"/>
          <p:cNvSpPr/>
          <p:nvPr/>
        </p:nvSpPr>
        <p:spPr>
          <a:xfrm>
            <a:off x="8430768" y="3172968"/>
            <a:ext cx="3163824" cy="228600"/>
          </a:xfrm>
          <a:prstGeom prst="rect">
            <a:avLst/>
          </a:prstGeom>
          <a:noFill/>
          <a:ln/>
        </p:spPr>
        <p:txBody>
          <a:bodyPr wrap="square" lIns="0" tIns="0" rIns="0" bIns="0" rtlCol="0" anchor="ctr"/>
          <a:lstStyle/>
          <a:p>
            <a:pPr indent="0" marL="0">
              <a:buNone/>
            </a:pPr>
            <a:r>
              <a:rPr lang="en-US" sz="850" b="1" dirty="0">
                <a:solidFill>
                  <a:srgbClr val="5F8A3E"/>
                </a:solidFill>
                <a:latin typeface="Calibri" pitchFamily="34" charset="0"/>
                <a:ea typeface="Calibri" pitchFamily="34" charset="-122"/>
                <a:cs typeface="Calibri" pitchFamily="34" charset="-120"/>
              </a:rPr>
              <a:t>input · produce</a:t>
            </a:r>
            <a:endParaRPr lang="en-US" sz="850" dirty="0"/>
          </a:p>
        </p:txBody>
      </p:sp>
      <p:sp>
        <p:nvSpPr>
          <p:cNvPr id="20" name="Shape 18"/>
          <p:cNvSpPr/>
          <p:nvPr/>
        </p:nvSpPr>
        <p:spPr>
          <a:xfrm>
            <a:off x="365760" y="3657600"/>
            <a:ext cx="3602736" cy="1691640"/>
          </a:xfrm>
          <a:prstGeom prst="roundRect">
            <a:avLst>
              <a:gd name="adj" fmla="val 2703"/>
            </a:avLst>
          </a:prstGeom>
          <a:solidFill>
            <a:srgbClr val="EDF3E8"/>
          </a:solidFill>
          <a:ln w="12700">
            <a:solidFill>
              <a:srgbClr val="97BC62"/>
            </a:solidFill>
            <a:prstDash val="solid"/>
          </a:ln>
        </p:spPr>
      </p:sp>
      <p:sp>
        <p:nvSpPr>
          <p:cNvPr id="21" name="Text 19"/>
          <p:cNvSpPr/>
          <p:nvPr/>
        </p:nvSpPr>
        <p:spPr>
          <a:xfrm>
            <a:off x="566928" y="3877056"/>
            <a:ext cx="566928" cy="566928"/>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a:t>
            </a:r>
            <a:endParaRPr lang="en-US" sz="1300" dirty="0"/>
          </a:p>
        </p:txBody>
      </p:sp>
      <p:sp>
        <p:nvSpPr>
          <p:cNvPr id="22" name="Text 20"/>
          <p:cNvSpPr/>
          <p:nvPr/>
        </p:nvSpPr>
        <p:spPr>
          <a:xfrm>
            <a:off x="1252728" y="3913632"/>
            <a:ext cx="2551176" cy="365760"/>
          </a:xfrm>
          <a:prstGeom prst="rect">
            <a:avLst/>
          </a:prstGeom>
          <a:noFill/>
          <a:ln/>
        </p:spPr>
        <p:txBody>
          <a:bodyPr wrap="square" lIns="0" tIns="0" rIns="0" bIns="0" rtlCol="0" anchor="ctr"/>
          <a:lstStyle/>
          <a:p>
            <a:pPr indent="0" marL="0">
              <a:buNone/>
            </a:pPr>
            <a:r>
              <a:rPr lang="en-US" sz="1400" b="1" dirty="0">
                <a:solidFill>
                  <a:srgbClr val="1F2A24"/>
                </a:solidFill>
                <a:latin typeface="Cambria" pitchFamily="34" charset="0"/>
                <a:ea typeface="Cambria" pitchFamily="34" charset="-122"/>
                <a:cs typeface="Cambria" pitchFamily="34" charset="-120"/>
              </a:rPr>
              <a:t>Subsidy Administrator</a:t>
            </a:r>
            <a:endParaRPr lang="en-US" sz="1400" dirty="0"/>
          </a:p>
        </p:txBody>
      </p:sp>
      <p:sp>
        <p:nvSpPr>
          <p:cNvPr id="23" name="Text 21"/>
          <p:cNvSpPr/>
          <p:nvPr/>
        </p:nvSpPr>
        <p:spPr>
          <a:xfrm>
            <a:off x="585216" y="4553712"/>
            <a:ext cx="3163824" cy="502920"/>
          </a:xfrm>
          <a:prstGeom prst="rect">
            <a:avLst/>
          </a:prstGeom>
          <a:noFill/>
          <a:ln/>
        </p:spPr>
        <p:txBody>
          <a:bodyPr wrap="square" lIns="0" tIns="0" rIns="0" bIns="0" rtlCol="0" anchor="t"/>
          <a:lstStyle/>
          <a:p>
            <a:pPr indent="0" marL="0">
              <a:lnSpc>
                <a:spcPct val="105000"/>
              </a:lnSpc>
              <a:buNone/>
            </a:pPr>
            <a:r>
              <a:rPr lang="en-US" sz="1000" dirty="0">
                <a:solidFill>
                  <a:srgbClr val="5F6E64"/>
                </a:solidFill>
                <a:latin typeface="Calibri" pitchFamily="34" charset="0"/>
                <a:ea typeface="Calibri" pitchFamily="34" charset="-122"/>
                <a:cs typeface="Calibri" pitchFamily="34" charset="-120"/>
              </a:rPr>
              <a:t>Publishes schemes, reviews eligibility, approves and records disbursement.</a:t>
            </a:r>
            <a:endParaRPr lang="en-US" sz="1000" dirty="0"/>
          </a:p>
        </p:txBody>
      </p:sp>
      <p:sp>
        <p:nvSpPr>
          <p:cNvPr id="24" name="Text 22"/>
          <p:cNvSpPr/>
          <p:nvPr/>
        </p:nvSpPr>
        <p:spPr>
          <a:xfrm>
            <a:off x="585216" y="5047488"/>
            <a:ext cx="3163824" cy="228600"/>
          </a:xfrm>
          <a:prstGeom prst="rect">
            <a:avLst/>
          </a:prstGeom>
          <a:noFill/>
          <a:ln/>
        </p:spPr>
        <p:txBody>
          <a:bodyPr wrap="square" lIns="0" tIns="0" rIns="0" bIns="0" rtlCol="0" anchor="ctr"/>
          <a:lstStyle/>
          <a:p>
            <a:pPr indent="0" marL="0">
              <a:buNone/>
            </a:pPr>
            <a:r>
              <a:rPr lang="en-US" sz="850" b="1" dirty="0">
                <a:solidFill>
                  <a:srgbClr val="5F8A3E"/>
                </a:solidFill>
                <a:latin typeface="Calibri" pitchFamily="34" charset="0"/>
                <a:ea typeface="Calibri" pitchFamily="34" charset="-122"/>
                <a:cs typeface="Calibri" pitchFamily="34" charset="-120"/>
              </a:rPr>
              <a:t>subsidy · report</a:t>
            </a:r>
            <a:endParaRPr lang="en-US" sz="850" dirty="0"/>
          </a:p>
        </p:txBody>
      </p:sp>
      <p:sp>
        <p:nvSpPr>
          <p:cNvPr id="25" name="Shape 23"/>
          <p:cNvSpPr/>
          <p:nvPr/>
        </p:nvSpPr>
        <p:spPr>
          <a:xfrm>
            <a:off x="4288536" y="3657600"/>
            <a:ext cx="3602736" cy="1691640"/>
          </a:xfrm>
          <a:prstGeom prst="roundRect">
            <a:avLst>
              <a:gd name="adj" fmla="val 2703"/>
            </a:avLst>
          </a:prstGeom>
          <a:solidFill>
            <a:srgbClr val="EDF3E8"/>
          </a:solidFill>
          <a:ln w="12700">
            <a:solidFill>
              <a:srgbClr val="97BC62"/>
            </a:solidFill>
            <a:prstDash val="solid"/>
          </a:ln>
        </p:spPr>
      </p:sp>
      <p:sp>
        <p:nvSpPr>
          <p:cNvPr id="26" name="Text 24"/>
          <p:cNvSpPr/>
          <p:nvPr/>
        </p:nvSpPr>
        <p:spPr>
          <a:xfrm>
            <a:off x="4489704" y="3877056"/>
            <a:ext cx="566928" cy="566928"/>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a:t>
            </a:r>
            <a:endParaRPr lang="en-US" sz="1300" dirty="0"/>
          </a:p>
        </p:txBody>
      </p:sp>
      <p:sp>
        <p:nvSpPr>
          <p:cNvPr id="27" name="Text 25"/>
          <p:cNvSpPr/>
          <p:nvPr/>
        </p:nvSpPr>
        <p:spPr>
          <a:xfrm>
            <a:off x="5175504" y="3913632"/>
            <a:ext cx="2551176" cy="365760"/>
          </a:xfrm>
          <a:prstGeom prst="rect">
            <a:avLst/>
          </a:prstGeom>
          <a:noFill/>
          <a:ln/>
        </p:spPr>
        <p:txBody>
          <a:bodyPr wrap="square" lIns="0" tIns="0" rIns="0" bIns="0" rtlCol="0" anchor="ctr"/>
          <a:lstStyle/>
          <a:p>
            <a:pPr indent="0" marL="0">
              <a:buNone/>
            </a:pPr>
            <a:r>
              <a:rPr lang="en-US" sz="1400" b="1" dirty="0">
                <a:solidFill>
                  <a:srgbClr val="1F2A24"/>
                </a:solidFill>
                <a:latin typeface="Cambria" pitchFamily="34" charset="0"/>
                <a:ea typeface="Cambria" pitchFamily="34" charset="-122"/>
                <a:cs typeface="Cambria" pitchFamily="34" charset="-120"/>
              </a:rPr>
              <a:t>Compliance Analyst</a:t>
            </a:r>
            <a:endParaRPr lang="en-US" sz="1400" dirty="0"/>
          </a:p>
        </p:txBody>
      </p:sp>
      <p:sp>
        <p:nvSpPr>
          <p:cNvPr id="28" name="Text 26"/>
          <p:cNvSpPr/>
          <p:nvPr/>
        </p:nvSpPr>
        <p:spPr>
          <a:xfrm>
            <a:off x="4507992" y="4553712"/>
            <a:ext cx="3163824" cy="502920"/>
          </a:xfrm>
          <a:prstGeom prst="rect">
            <a:avLst/>
          </a:prstGeom>
          <a:noFill/>
          <a:ln/>
        </p:spPr>
        <p:txBody>
          <a:bodyPr wrap="square" lIns="0" tIns="0" rIns="0" bIns="0" rtlCol="0" anchor="t"/>
          <a:lstStyle/>
          <a:p>
            <a:pPr indent="0" marL="0">
              <a:lnSpc>
                <a:spcPct val="105000"/>
              </a:lnSpc>
              <a:buNone/>
            </a:pPr>
            <a:r>
              <a:rPr lang="en-US" sz="1000" dirty="0">
                <a:solidFill>
                  <a:srgbClr val="5F6E64"/>
                </a:solidFill>
                <a:latin typeface="Calibri" pitchFamily="34" charset="0"/>
                <a:ea typeface="Calibri" pitchFamily="34" charset="-122"/>
                <a:cs typeface="Calibri" pitchFamily="34" charset="-120"/>
              </a:rPr>
              <a:t>Audits scheme usage and land records, generates and exports reports.</a:t>
            </a:r>
            <a:endParaRPr lang="en-US" sz="1000" dirty="0"/>
          </a:p>
        </p:txBody>
      </p:sp>
      <p:sp>
        <p:nvSpPr>
          <p:cNvPr id="29" name="Text 27"/>
          <p:cNvSpPr/>
          <p:nvPr/>
        </p:nvSpPr>
        <p:spPr>
          <a:xfrm>
            <a:off x="4507992" y="5047488"/>
            <a:ext cx="3163824" cy="228600"/>
          </a:xfrm>
          <a:prstGeom prst="rect">
            <a:avLst/>
          </a:prstGeom>
          <a:noFill/>
          <a:ln/>
        </p:spPr>
        <p:txBody>
          <a:bodyPr wrap="square" lIns="0" tIns="0" rIns="0" bIns="0" rtlCol="0" anchor="ctr"/>
          <a:lstStyle/>
          <a:p>
            <a:pPr indent="0" marL="0">
              <a:buNone/>
            </a:pPr>
            <a:r>
              <a:rPr lang="en-US" sz="850" b="1" dirty="0">
                <a:solidFill>
                  <a:srgbClr val="5F8A3E"/>
                </a:solidFill>
                <a:latin typeface="Calibri" pitchFamily="34" charset="0"/>
                <a:ea typeface="Calibri" pitchFamily="34" charset="-122"/>
                <a:cs typeface="Calibri" pitchFamily="34" charset="-120"/>
              </a:rPr>
              <a:t>report · iam audit</a:t>
            </a:r>
            <a:endParaRPr lang="en-US" sz="850" dirty="0"/>
          </a:p>
        </p:txBody>
      </p:sp>
      <p:sp>
        <p:nvSpPr>
          <p:cNvPr id="30" name="Shape 28"/>
          <p:cNvSpPr/>
          <p:nvPr/>
        </p:nvSpPr>
        <p:spPr>
          <a:xfrm>
            <a:off x="8211312" y="3657600"/>
            <a:ext cx="3602736" cy="1691640"/>
          </a:xfrm>
          <a:prstGeom prst="roundRect">
            <a:avLst>
              <a:gd name="adj" fmla="val 2703"/>
            </a:avLst>
          </a:prstGeom>
          <a:solidFill>
            <a:srgbClr val="EDF3E8"/>
          </a:solidFill>
          <a:ln w="12700">
            <a:solidFill>
              <a:srgbClr val="97BC62"/>
            </a:solidFill>
            <a:prstDash val="solid"/>
          </a:ln>
        </p:spPr>
      </p:sp>
      <p:sp>
        <p:nvSpPr>
          <p:cNvPr id="31" name="Text 29"/>
          <p:cNvSpPr/>
          <p:nvPr/>
        </p:nvSpPr>
        <p:spPr>
          <a:xfrm>
            <a:off x="8412480" y="3877056"/>
            <a:ext cx="566928" cy="566928"/>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a:t>
            </a:r>
            <a:endParaRPr lang="en-US" sz="1300" dirty="0"/>
          </a:p>
        </p:txBody>
      </p:sp>
      <p:sp>
        <p:nvSpPr>
          <p:cNvPr id="32" name="Text 30"/>
          <p:cNvSpPr/>
          <p:nvPr/>
        </p:nvSpPr>
        <p:spPr>
          <a:xfrm>
            <a:off x="9098280" y="3913632"/>
            <a:ext cx="2551176" cy="365760"/>
          </a:xfrm>
          <a:prstGeom prst="rect">
            <a:avLst/>
          </a:prstGeom>
          <a:noFill/>
          <a:ln/>
        </p:spPr>
        <p:txBody>
          <a:bodyPr wrap="square" lIns="0" tIns="0" rIns="0" bIns="0" rtlCol="0" anchor="ctr"/>
          <a:lstStyle/>
          <a:p>
            <a:pPr indent="0" marL="0">
              <a:buNone/>
            </a:pPr>
            <a:r>
              <a:rPr lang="en-US" sz="1400" b="1" dirty="0">
                <a:solidFill>
                  <a:srgbClr val="1F2A24"/>
                </a:solidFill>
                <a:latin typeface="Cambria" pitchFamily="34" charset="0"/>
                <a:ea typeface="Cambria" pitchFamily="34" charset="-122"/>
                <a:cs typeface="Cambria" pitchFamily="34" charset="-120"/>
              </a:rPr>
              <a:t>AgriLink Admin</a:t>
            </a:r>
            <a:endParaRPr lang="en-US" sz="1400" dirty="0"/>
          </a:p>
        </p:txBody>
      </p:sp>
      <p:sp>
        <p:nvSpPr>
          <p:cNvPr id="33" name="Text 31"/>
          <p:cNvSpPr/>
          <p:nvPr/>
        </p:nvSpPr>
        <p:spPr>
          <a:xfrm>
            <a:off x="8430768" y="4553712"/>
            <a:ext cx="3163824" cy="502920"/>
          </a:xfrm>
          <a:prstGeom prst="rect">
            <a:avLst/>
          </a:prstGeom>
          <a:noFill/>
          <a:ln/>
        </p:spPr>
        <p:txBody>
          <a:bodyPr wrap="square" lIns="0" tIns="0" rIns="0" bIns="0" rtlCol="0" anchor="t"/>
          <a:lstStyle/>
          <a:p>
            <a:pPr indent="0" marL="0">
              <a:lnSpc>
                <a:spcPct val="105000"/>
              </a:lnSpc>
              <a:buNone/>
            </a:pPr>
            <a:r>
              <a:rPr lang="en-US" sz="1000" dirty="0">
                <a:solidFill>
                  <a:srgbClr val="5F6E64"/>
                </a:solidFill>
                <a:latin typeface="Calibri" pitchFamily="34" charset="0"/>
                <a:ea typeface="Calibri" pitchFamily="34" charset="-122"/>
                <a:cs typeface="Calibri" pitchFamily="34" charset="-120"/>
              </a:rPr>
              <a:t>Configures crop calendars, scheme catalogue, input prices, users and roles. Unrestricted.</a:t>
            </a:r>
            <a:endParaRPr lang="en-US" sz="1000" dirty="0"/>
          </a:p>
        </p:txBody>
      </p:sp>
      <p:sp>
        <p:nvSpPr>
          <p:cNvPr id="34" name="Text 32"/>
          <p:cNvSpPr/>
          <p:nvPr/>
        </p:nvSpPr>
        <p:spPr>
          <a:xfrm>
            <a:off x="8430768" y="5047488"/>
            <a:ext cx="3163824" cy="228600"/>
          </a:xfrm>
          <a:prstGeom prst="rect">
            <a:avLst/>
          </a:prstGeom>
          <a:noFill/>
          <a:ln/>
        </p:spPr>
        <p:txBody>
          <a:bodyPr wrap="square" lIns="0" tIns="0" rIns="0" bIns="0" rtlCol="0" anchor="ctr"/>
          <a:lstStyle/>
          <a:p>
            <a:pPr indent="0" marL="0">
              <a:buNone/>
            </a:pPr>
            <a:r>
              <a:rPr lang="en-US" sz="850" b="1" dirty="0">
                <a:solidFill>
                  <a:srgbClr val="5F8A3E"/>
                </a:solidFill>
                <a:latin typeface="Calibri" pitchFamily="34" charset="0"/>
                <a:ea typeface="Calibri" pitchFamily="34" charset="-122"/>
                <a:cs typeface="Calibri" pitchFamily="34" charset="-120"/>
              </a:rPr>
              <a:t>all 8 modules</a:t>
            </a:r>
            <a:endParaRPr lang="en-US" sz="850" dirty="0"/>
          </a:p>
        </p:txBody>
      </p:sp>
      <p:sp>
        <p:nvSpPr>
          <p:cNvPr id="35" name="Shape 33"/>
          <p:cNvSpPr/>
          <p:nvPr/>
        </p:nvSpPr>
        <p:spPr>
          <a:xfrm>
            <a:off x="411480" y="5669280"/>
            <a:ext cx="11384280" cy="777240"/>
          </a:xfrm>
          <a:prstGeom prst="roundRect">
            <a:avLst>
              <a:gd name="adj" fmla="val 5882"/>
            </a:avLst>
          </a:prstGeom>
          <a:solidFill>
            <a:srgbClr val="2C5F2D"/>
          </a:solidFill>
          <a:ln w="12700">
            <a:solidFill>
              <a:srgbClr val="2C5F2D"/>
            </a:solidFill>
            <a:prstDash val="solid"/>
          </a:ln>
        </p:spPr>
      </p:sp>
      <p:sp>
        <p:nvSpPr>
          <p:cNvPr id="36" name="Text 34"/>
          <p:cNvSpPr/>
          <p:nvPr/>
        </p:nvSpPr>
        <p:spPr>
          <a:xfrm>
            <a:off x="658368" y="5724144"/>
            <a:ext cx="10881360" cy="667512"/>
          </a:xfrm>
          <a:prstGeom prst="rect">
            <a:avLst/>
          </a:prstGeom>
          <a:noFill/>
          <a:ln/>
        </p:spPr>
        <p:txBody>
          <a:bodyPr wrap="square" lIns="0" tIns="0" rIns="0" bIns="0" rtlCol="0" anchor="ctr"/>
          <a:lstStyle/>
          <a:p>
            <a:pPr indent="0" marL="0">
              <a:lnSpc>
                <a:spcPct val="115000"/>
              </a:lnSpc>
              <a:buNone/>
            </a:pPr>
            <a:r>
              <a:rPr lang="en-US" sz="1150" b="1" dirty="0">
                <a:solidFill>
                  <a:srgbClr val="97BC62"/>
                </a:solidFill>
                <a:latin typeface="Calibri" pitchFamily="34" charset="0"/>
                <a:ea typeface="Calibri" pitchFamily="34" charset="-122"/>
                <a:cs typeface="Calibri" pitchFamily="34" charset="-120"/>
              </a:rPr>
              <a:t>Approval workflow: </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a visitor self-registers → account is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Pending</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 and cannot log in → an Officer (own region only) or the Admin approves it →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Active</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 Deletion is a soft delete.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301C"/>
        </a:solidFill>
      </p:bgPr>
    </p:bg>
    <p:spTree>
      <p:nvGrpSpPr>
        <p:cNvPr id="1" name=""/>
        <p:cNvGrpSpPr/>
        <p:nvPr/>
      </p:nvGrpSpPr>
      <p:grpSpPr>
        <a:xfrm>
          <a:off x="0" y="0"/>
          <a:ext cx="0" cy="0"/>
          <a:chOff x="0" y="0"/>
          <a:chExt cx="0" cy="0"/>
        </a:xfrm>
      </p:grpSpPr>
      <p:sp>
        <p:nvSpPr>
          <p:cNvPr id="2" name="Text 0"/>
          <p:cNvSpPr/>
          <p:nvPr/>
        </p:nvSpPr>
        <p:spPr>
          <a:xfrm>
            <a:off x="502920" y="274320"/>
            <a:ext cx="11155680" cy="256032"/>
          </a:xfrm>
          <a:prstGeom prst="rect">
            <a:avLst/>
          </a:prstGeom>
          <a:noFill/>
          <a:ln/>
        </p:spPr>
        <p:txBody>
          <a:bodyPr wrap="square" lIns="0" tIns="0" rIns="0" bIns="0" rtlCol="0" anchor="ctr"/>
          <a:lstStyle/>
          <a:p>
            <a:pPr indent="0" marL="0">
              <a:buNone/>
            </a:pPr>
            <a:r>
              <a:rPr lang="en-US" sz="1100" b="1" spc="250" kern="0" dirty="0">
                <a:solidFill>
                  <a:srgbClr val="97BC62"/>
                </a:solidFill>
                <a:latin typeface="Calibri" pitchFamily="34" charset="0"/>
                <a:ea typeface="Calibri" pitchFamily="34" charset="-122"/>
                <a:cs typeface="Calibri" pitchFamily="34" charset="-120"/>
              </a:rPr>
              <a:t>SYSTEM ARCHITECTURE</a:t>
            </a:r>
            <a:endParaRPr lang="en-US" sz="1100" dirty="0"/>
          </a:p>
        </p:txBody>
      </p:sp>
      <p:sp>
        <p:nvSpPr>
          <p:cNvPr id="3" name="Text 1"/>
          <p:cNvSpPr/>
          <p:nvPr/>
        </p:nvSpPr>
        <p:spPr>
          <a:xfrm>
            <a:off x="502920" y="548640"/>
            <a:ext cx="1115568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How a Request Travels — Top to Bottom</a:t>
            </a:r>
            <a:endParaRPr lang="en-US" sz="3000" dirty="0"/>
          </a:p>
        </p:txBody>
      </p:sp>
      <p:sp>
        <p:nvSpPr>
          <p:cNvPr id="4" name="Text 2"/>
          <p:cNvSpPr/>
          <p:nvPr/>
        </p:nvSpPr>
        <p:spPr>
          <a:xfrm>
            <a:off x="502920" y="1078992"/>
            <a:ext cx="11155680" cy="310896"/>
          </a:xfrm>
          <a:prstGeom prst="rect">
            <a:avLst/>
          </a:prstGeom>
          <a:noFill/>
          <a:ln/>
        </p:spPr>
        <p:txBody>
          <a:bodyPr wrap="square" lIns="0" tIns="0" rIns="0" bIns="0" rtlCol="0" anchor="t"/>
          <a:lstStyle/>
          <a:p>
            <a:pPr indent="0" marL="0">
              <a:buNone/>
            </a:pPr>
            <a:r>
              <a:rPr lang="en-US" sz="1250" dirty="0">
                <a:solidFill>
                  <a:srgbClr val="97BC62"/>
                </a:solidFill>
                <a:latin typeface="Calibri" pitchFamily="34" charset="0"/>
                <a:ea typeface="Calibri" pitchFamily="34" charset="-122"/>
                <a:cs typeface="Calibri" pitchFamily="34" charset="-120"/>
              </a:rPr>
              <a:t>One entry point, service discovery by name, and one database per service. Nothing shares a table.</a:t>
            </a:r>
            <a:endParaRPr lang="en-US" sz="1250" dirty="0"/>
          </a:p>
        </p:txBody>
      </p:sp>
      <p:sp>
        <p:nvSpPr>
          <p:cNvPr id="5" name="Shape 3"/>
          <p:cNvSpPr/>
          <p:nvPr/>
        </p:nvSpPr>
        <p:spPr>
          <a:xfrm>
            <a:off x="3566160" y="1481328"/>
            <a:ext cx="5074920" cy="658368"/>
          </a:xfrm>
          <a:prstGeom prst="roundRect">
            <a:avLst>
              <a:gd name="adj" fmla="val 6944"/>
            </a:avLst>
          </a:prstGeom>
          <a:solidFill>
            <a:srgbClr val="22452A"/>
          </a:solidFill>
          <a:ln w="12700">
            <a:solidFill>
              <a:srgbClr val="5F8A3E"/>
            </a:solidFill>
            <a:prstDash val="solid"/>
          </a:ln>
        </p:spPr>
      </p:sp>
      <p:sp>
        <p:nvSpPr>
          <p:cNvPr id="6" name="Text 4"/>
          <p:cNvSpPr/>
          <p:nvPr/>
        </p:nvSpPr>
        <p:spPr>
          <a:xfrm>
            <a:off x="3566160" y="1517904"/>
            <a:ext cx="5074920"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Angular 18 SPA  (browser)</a:t>
            </a:r>
            <a:endParaRPr lang="en-US" sz="1250" dirty="0"/>
          </a:p>
          <a:p>
            <a:pPr algn="ctr" indent="0" marL="0">
              <a:buNone/>
            </a:pPr>
            <a:r>
              <a:rPr lang="en-US" sz="950" dirty="0">
                <a:solidFill>
                  <a:srgbClr val="97BC62"/>
                </a:solidFill>
                <a:latin typeface="Calibri" pitchFamily="34" charset="0"/>
                <a:ea typeface="Calibri" pitchFamily="34" charset="-122"/>
                <a:cs typeface="Calibri" pitchFamily="34" charset="-120"/>
              </a:rPr>
              <a:t>lazy routes · authGuard + roleGuard · tokens in localStorage</a:t>
            </a:r>
            <a:endParaRPr lang="en-US" sz="1250" dirty="0"/>
          </a:p>
        </p:txBody>
      </p:sp>
      <p:sp>
        <p:nvSpPr>
          <p:cNvPr id="7" name="Shape 5"/>
          <p:cNvSpPr/>
          <p:nvPr/>
        </p:nvSpPr>
        <p:spPr>
          <a:xfrm>
            <a:off x="6099048" y="2157984"/>
            <a:ext cx="0" cy="310896"/>
          </a:xfrm>
          <a:prstGeom prst="line">
            <a:avLst/>
          </a:prstGeom>
          <a:noFill/>
          <a:ln w="22225">
            <a:solidFill>
              <a:srgbClr val="97BC62"/>
            </a:solidFill>
            <a:prstDash val="solid"/>
            <a:tailEnd type="triangle"/>
          </a:ln>
        </p:spPr>
      </p:sp>
      <p:sp>
        <p:nvSpPr>
          <p:cNvPr id="8" name="Text 6"/>
          <p:cNvSpPr/>
          <p:nvPr/>
        </p:nvSpPr>
        <p:spPr>
          <a:xfrm>
            <a:off x="6263640" y="2176272"/>
            <a:ext cx="4114800" cy="256032"/>
          </a:xfrm>
          <a:prstGeom prst="rect">
            <a:avLst/>
          </a:prstGeom>
          <a:noFill/>
          <a:ln/>
        </p:spPr>
        <p:txBody>
          <a:bodyPr wrap="square" lIns="0" tIns="0" rIns="0" bIns="0" rtlCol="0" anchor="ctr"/>
          <a:lstStyle/>
          <a:p>
            <a:pPr indent="0" marL="0">
              <a:buNone/>
            </a:pPr>
            <a:r>
              <a:rPr lang="en-US" sz="950" dirty="0">
                <a:solidFill>
                  <a:srgbClr val="97BC62"/>
                </a:solidFill>
                <a:latin typeface="Calibri" pitchFamily="34" charset="0"/>
                <a:ea typeface="Calibri" pitchFamily="34" charset="-122"/>
                <a:cs typeface="Calibri" pitchFamily="34" charset="-120"/>
              </a:rPr>
              <a:t>REST + Authorization: Bearer &lt;JWT&gt;</a:t>
            </a:r>
            <a:endParaRPr lang="en-US" sz="950" dirty="0"/>
          </a:p>
        </p:txBody>
      </p:sp>
      <p:sp>
        <p:nvSpPr>
          <p:cNvPr id="9" name="Shape 7"/>
          <p:cNvSpPr/>
          <p:nvPr/>
        </p:nvSpPr>
        <p:spPr>
          <a:xfrm>
            <a:off x="3566160" y="2505456"/>
            <a:ext cx="5074920" cy="603504"/>
          </a:xfrm>
          <a:prstGeom prst="roundRect">
            <a:avLst>
              <a:gd name="adj" fmla="val 7576"/>
            </a:avLst>
          </a:prstGeom>
          <a:solidFill>
            <a:srgbClr val="22452A"/>
          </a:solidFill>
          <a:ln w="12700">
            <a:solidFill>
              <a:srgbClr val="5F8A3E"/>
            </a:solidFill>
            <a:prstDash val="solid"/>
          </a:ln>
        </p:spPr>
      </p:sp>
      <p:sp>
        <p:nvSpPr>
          <p:cNvPr id="10" name="Text 8"/>
          <p:cNvSpPr/>
          <p:nvPr/>
        </p:nvSpPr>
        <p:spPr>
          <a:xfrm>
            <a:off x="3566160" y="2542032"/>
            <a:ext cx="5074920" cy="53035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Spring Cloud Gateway  :9091</a:t>
            </a:r>
            <a:endParaRPr lang="en-US" sz="1250" dirty="0"/>
          </a:p>
          <a:p>
            <a:pPr algn="ctr" indent="0" marL="0">
              <a:buNone/>
            </a:pPr>
            <a:r>
              <a:rPr lang="en-US" sz="950" dirty="0">
                <a:solidFill>
                  <a:srgbClr val="97BC62"/>
                </a:solidFill>
                <a:latin typeface="Calibri" pitchFamily="34" charset="0"/>
                <a:ea typeface="Calibri" pitchFamily="34" charset="-122"/>
                <a:cs typeface="Calibri" pitchFamily="34" charset="-120"/>
              </a:rPr>
              <a:t>single entry point — routes by path prefix</a:t>
            </a:r>
            <a:endParaRPr lang="en-US" sz="1250" dirty="0"/>
          </a:p>
        </p:txBody>
      </p:sp>
      <p:sp>
        <p:nvSpPr>
          <p:cNvPr id="11" name="Shape 9"/>
          <p:cNvSpPr/>
          <p:nvPr/>
        </p:nvSpPr>
        <p:spPr>
          <a:xfrm>
            <a:off x="411480" y="2505456"/>
            <a:ext cx="2834640" cy="603504"/>
          </a:xfrm>
          <a:prstGeom prst="roundRect">
            <a:avLst>
              <a:gd name="adj" fmla="val 7576"/>
            </a:avLst>
          </a:prstGeom>
          <a:solidFill>
            <a:srgbClr val="22452A"/>
          </a:solidFill>
          <a:ln w="12700">
            <a:solidFill>
              <a:srgbClr val="5F8A3E"/>
            </a:solidFill>
            <a:prstDash val="solid"/>
          </a:ln>
        </p:spPr>
      </p:sp>
      <p:sp>
        <p:nvSpPr>
          <p:cNvPr id="12" name="Text 10"/>
          <p:cNvSpPr/>
          <p:nvPr/>
        </p:nvSpPr>
        <p:spPr>
          <a:xfrm>
            <a:off x="411480" y="2542032"/>
            <a:ext cx="2834640" cy="53035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Eureka  :8761</a:t>
            </a:r>
            <a:endParaRPr lang="en-US" sz="1250" dirty="0"/>
          </a:p>
          <a:p>
            <a:pPr algn="ctr" indent="0" marL="0">
              <a:buNone/>
            </a:pPr>
            <a:r>
              <a:rPr lang="en-US" sz="950" dirty="0">
                <a:solidFill>
                  <a:srgbClr val="97BC62"/>
                </a:solidFill>
                <a:latin typeface="Calibri" pitchFamily="34" charset="0"/>
                <a:ea typeface="Calibri" pitchFamily="34" charset="-122"/>
                <a:cs typeface="Calibri" pitchFamily="34" charset="-120"/>
              </a:rPr>
              <a:t>every service registers &amp; is found by name</a:t>
            </a:r>
            <a:endParaRPr lang="en-US" sz="1250" dirty="0"/>
          </a:p>
        </p:txBody>
      </p:sp>
      <p:sp>
        <p:nvSpPr>
          <p:cNvPr id="13" name="Shape 11"/>
          <p:cNvSpPr/>
          <p:nvPr/>
        </p:nvSpPr>
        <p:spPr>
          <a:xfrm>
            <a:off x="8961120" y="2505456"/>
            <a:ext cx="2834640" cy="603504"/>
          </a:xfrm>
          <a:prstGeom prst="roundRect">
            <a:avLst>
              <a:gd name="adj" fmla="val 7576"/>
            </a:avLst>
          </a:prstGeom>
          <a:solidFill>
            <a:srgbClr val="22452A"/>
          </a:solidFill>
          <a:ln w="12700">
            <a:solidFill>
              <a:srgbClr val="5F8A3E"/>
            </a:solidFill>
            <a:prstDash val="solid"/>
          </a:ln>
        </p:spPr>
      </p:sp>
      <p:sp>
        <p:nvSpPr>
          <p:cNvPr id="14" name="Text 12"/>
          <p:cNvSpPr/>
          <p:nvPr/>
        </p:nvSpPr>
        <p:spPr>
          <a:xfrm>
            <a:off x="8961120" y="2542032"/>
            <a:ext cx="2834640" cy="53035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Shared JWT secret</a:t>
            </a:r>
            <a:endParaRPr lang="en-US" sz="1250" dirty="0"/>
          </a:p>
          <a:p>
            <a:pPr algn="ctr" indent="0" marL="0">
              <a:buNone/>
            </a:pPr>
            <a:r>
              <a:rPr lang="en-US" sz="950" dirty="0">
                <a:solidFill>
                  <a:srgbClr val="97BC62"/>
                </a:solidFill>
                <a:latin typeface="Calibri" pitchFamily="34" charset="0"/>
                <a:ea typeface="Calibri" pitchFamily="34" charset="-122"/>
                <a:cs typeface="Calibri" pitchFamily="34" charset="-120"/>
              </a:rPr>
              <a:t>each service validates the token itself</a:t>
            </a:r>
            <a:endParaRPr lang="en-US" sz="1250" dirty="0"/>
          </a:p>
        </p:txBody>
      </p:sp>
      <p:sp>
        <p:nvSpPr>
          <p:cNvPr id="15" name="Shape 13"/>
          <p:cNvSpPr/>
          <p:nvPr/>
        </p:nvSpPr>
        <p:spPr>
          <a:xfrm>
            <a:off x="3273552" y="2807208"/>
            <a:ext cx="256032" cy="0"/>
          </a:xfrm>
          <a:prstGeom prst="line">
            <a:avLst/>
          </a:prstGeom>
          <a:noFill/>
          <a:ln w="22225">
            <a:solidFill>
              <a:srgbClr val="97BC62"/>
            </a:solidFill>
            <a:prstDash val="solid"/>
            <a:tailEnd type="triangle"/>
          </a:ln>
        </p:spPr>
      </p:sp>
      <p:sp>
        <p:nvSpPr>
          <p:cNvPr id="16" name="Shape 14"/>
          <p:cNvSpPr/>
          <p:nvPr/>
        </p:nvSpPr>
        <p:spPr>
          <a:xfrm>
            <a:off x="6099048" y="3127248"/>
            <a:ext cx="0" cy="310896"/>
          </a:xfrm>
          <a:prstGeom prst="line">
            <a:avLst/>
          </a:prstGeom>
          <a:noFill/>
          <a:ln w="22225">
            <a:solidFill>
              <a:srgbClr val="97BC62"/>
            </a:solidFill>
            <a:prstDash val="solid"/>
            <a:tailEnd type="triangle"/>
          </a:ln>
        </p:spPr>
      </p:sp>
      <p:sp>
        <p:nvSpPr>
          <p:cNvPr id="17" name="Text 15"/>
          <p:cNvSpPr/>
          <p:nvPr/>
        </p:nvSpPr>
        <p:spPr>
          <a:xfrm>
            <a:off x="6263640" y="3145536"/>
            <a:ext cx="4114800" cy="256032"/>
          </a:xfrm>
          <a:prstGeom prst="rect">
            <a:avLst/>
          </a:prstGeom>
          <a:noFill/>
          <a:ln/>
        </p:spPr>
        <p:txBody>
          <a:bodyPr wrap="square" lIns="0" tIns="0" rIns="0" bIns="0" rtlCol="0" anchor="ctr"/>
          <a:lstStyle/>
          <a:p>
            <a:pPr indent="0" marL="0">
              <a:buNone/>
            </a:pPr>
            <a:r>
              <a:rPr lang="en-US" sz="950" dirty="0">
                <a:solidFill>
                  <a:srgbClr val="97BC62"/>
                </a:solidFill>
                <a:latin typeface="Calibri" pitchFamily="34" charset="0"/>
                <a:ea typeface="Calibri" pitchFamily="34" charset="-122"/>
                <a:cs typeface="Calibri" pitchFamily="34" charset="-120"/>
              </a:rPr>
              <a:t>routes /agriLink/** and /agrilink/**</a:t>
            </a:r>
            <a:endParaRPr lang="en-US" sz="950" dirty="0"/>
          </a:p>
        </p:txBody>
      </p:sp>
      <p:sp>
        <p:nvSpPr>
          <p:cNvPr id="18" name="Shape 16"/>
          <p:cNvSpPr/>
          <p:nvPr/>
        </p:nvSpPr>
        <p:spPr>
          <a:xfrm>
            <a:off x="365760" y="3529584"/>
            <a:ext cx="1335024" cy="749808"/>
          </a:xfrm>
          <a:prstGeom prst="roundRect">
            <a:avLst>
              <a:gd name="adj" fmla="val 6098"/>
            </a:avLst>
          </a:prstGeom>
          <a:solidFill>
            <a:srgbClr val="22452A"/>
          </a:solidFill>
          <a:ln w="12700">
            <a:solidFill>
              <a:srgbClr val="5F8A3E"/>
            </a:solidFill>
            <a:prstDash val="solid"/>
          </a:ln>
        </p:spPr>
      </p:sp>
      <p:sp>
        <p:nvSpPr>
          <p:cNvPr id="19" name="Text 17"/>
          <p:cNvSpPr/>
          <p:nvPr/>
        </p:nvSpPr>
        <p:spPr>
          <a:xfrm>
            <a:off x="365760" y="3566160"/>
            <a:ext cx="1335024" cy="6766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iam</a:t>
            </a:r>
            <a:endParaRPr lang="en-US" sz="1100" dirty="0"/>
          </a:p>
          <a:p>
            <a:pPr algn="ctr" indent="0" marL="0">
              <a:buNone/>
            </a:pPr>
            <a:r>
              <a:rPr lang="en-US" sz="850" dirty="0">
                <a:solidFill>
                  <a:srgbClr val="97BC62"/>
                </a:solidFill>
                <a:latin typeface="Calibri" pitchFamily="34" charset="0"/>
                <a:ea typeface="Calibri" pitchFamily="34" charset="-122"/>
                <a:cs typeface="Calibri" pitchFamily="34" charset="-120"/>
              </a:rPr>
              <a:t>:8081</a:t>
            </a:r>
            <a:endParaRPr lang="en-US" sz="1100" dirty="0"/>
          </a:p>
        </p:txBody>
      </p:sp>
      <p:sp>
        <p:nvSpPr>
          <p:cNvPr id="20" name="Shape 18"/>
          <p:cNvSpPr/>
          <p:nvPr/>
        </p:nvSpPr>
        <p:spPr>
          <a:xfrm>
            <a:off x="1033272" y="4315968"/>
            <a:ext cx="0" cy="146304"/>
          </a:xfrm>
          <a:prstGeom prst="line">
            <a:avLst/>
          </a:prstGeom>
          <a:noFill/>
          <a:ln w="22225">
            <a:solidFill>
              <a:srgbClr val="5F8A3E"/>
            </a:solidFill>
            <a:prstDash val="solid"/>
            <a:tailEnd type="triangle"/>
          </a:ln>
        </p:spPr>
      </p:sp>
      <p:sp>
        <p:nvSpPr>
          <p:cNvPr id="21" name="Shape 19"/>
          <p:cNvSpPr/>
          <p:nvPr/>
        </p:nvSpPr>
        <p:spPr>
          <a:xfrm>
            <a:off x="512064" y="4626864"/>
            <a:ext cx="1042416" cy="548640"/>
          </a:xfrm>
          <a:prstGeom prst="can">
            <a:avLst/>
          </a:prstGeom>
          <a:solidFill>
            <a:srgbClr val="1D3B24"/>
          </a:solidFill>
          <a:ln w="12700">
            <a:solidFill>
              <a:srgbClr val="5F8A3E"/>
            </a:solidFill>
            <a:prstDash val="solid"/>
          </a:ln>
        </p:spPr>
      </p:sp>
      <p:sp>
        <p:nvSpPr>
          <p:cNvPr id="22" name="Text 20"/>
          <p:cNvSpPr/>
          <p:nvPr/>
        </p:nvSpPr>
        <p:spPr>
          <a:xfrm>
            <a:off x="320040" y="5248656"/>
            <a:ext cx="1426464" cy="219456"/>
          </a:xfrm>
          <a:prstGeom prst="rect">
            <a:avLst/>
          </a:prstGeom>
          <a:noFill/>
          <a:ln/>
        </p:spPr>
        <p:txBody>
          <a:bodyPr wrap="square" lIns="0" tIns="0" rIns="0" bIns="0" rtlCol="0" anchor="ctr"/>
          <a:lstStyle/>
          <a:p>
            <a:pPr algn="ctr" indent="0" marL="0">
              <a:buNone/>
            </a:pPr>
            <a:r>
              <a:rPr lang="en-US" sz="700" dirty="0">
                <a:solidFill>
                  <a:srgbClr val="AFC49F"/>
                </a:solidFill>
                <a:latin typeface="Calibri" pitchFamily="34" charset="0"/>
                <a:ea typeface="Calibri" pitchFamily="34" charset="-122"/>
                <a:cs typeface="Calibri" pitchFamily="34" charset="-120"/>
              </a:rPr>
              <a:t>agrilink_iam</a:t>
            </a:r>
            <a:endParaRPr lang="en-US" sz="700" dirty="0"/>
          </a:p>
        </p:txBody>
      </p:sp>
      <p:sp>
        <p:nvSpPr>
          <p:cNvPr id="23" name="Shape 21"/>
          <p:cNvSpPr/>
          <p:nvPr/>
        </p:nvSpPr>
        <p:spPr>
          <a:xfrm>
            <a:off x="1810512" y="3529584"/>
            <a:ext cx="1335024" cy="749808"/>
          </a:xfrm>
          <a:prstGeom prst="roundRect">
            <a:avLst>
              <a:gd name="adj" fmla="val 6098"/>
            </a:avLst>
          </a:prstGeom>
          <a:solidFill>
            <a:srgbClr val="22452A"/>
          </a:solidFill>
          <a:ln w="12700">
            <a:solidFill>
              <a:srgbClr val="5F8A3E"/>
            </a:solidFill>
            <a:prstDash val="solid"/>
          </a:ln>
        </p:spPr>
      </p:sp>
      <p:sp>
        <p:nvSpPr>
          <p:cNvPr id="24" name="Text 22"/>
          <p:cNvSpPr/>
          <p:nvPr/>
        </p:nvSpPr>
        <p:spPr>
          <a:xfrm>
            <a:off x="1810512" y="3566160"/>
            <a:ext cx="1335024" cy="6766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farmer</a:t>
            </a:r>
            <a:endParaRPr lang="en-US" sz="1100" dirty="0"/>
          </a:p>
          <a:p>
            <a:pPr algn="ctr" indent="0" marL="0">
              <a:buNone/>
            </a:pPr>
            <a:r>
              <a:rPr lang="en-US" sz="850" dirty="0">
                <a:solidFill>
                  <a:srgbClr val="97BC62"/>
                </a:solidFill>
                <a:latin typeface="Calibri" pitchFamily="34" charset="0"/>
                <a:ea typeface="Calibri" pitchFamily="34" charset="-122"/>
                <a:cs typeface="Calibri" pitchFamily="34" charset="-120"/>
              </a:rPr>
              <a:t>:8082</a:t>
            </a:r>
            <a:endParaRPr lang="en-US" sz="1100" dirty="0"/>
          </a:p>
        </p:txBody>
      </p:sp>
      <p:sp>
        <p:nvSpPr>
          <p:cNvPr id="25" name="Shape 23"/>
          <p:cNvSpPr/>
          <p:nvPr/>
        </p:nvSpPr>
        <p:spPr>
          <a:xfrm>
            <a:off x="2478024" y="4315968"/>
            <a:ext cx="0" cy="146304"/>
          </a:xfrm>
          <a:prstGeom prst="line">
            <a:avLst/>
          </a:prstGeom>
          <a:noFill/>
          <a:ln w="22225">
            <a:solidFill>
              <a:srgbClr val="5F8A3E"/>
            </a:solidFill>
            <a:prstDash val="solid"/>
            <a:tailEnd type="triangle"/>
          </a:ln>
        </p:spPr>
      </p:sp>
      <p:sp>
        <p:nvSpPr>
          <p:cNvPr id="26" name="Shape 24"/>
          <p:cNvSpPr/>
          <p:nvPr/>
        </p:nvSpPr>
        <p:spPr>
          <a:xfrm>
            <a:off x="1956816" y="4626864"/>
            <a:ext cx="1042416" cy="548640"/>
          </a:xfrm>
          <a:prstGeom prst="can">
            <a:avLst/>
          </a:prstGeom>
          <a:solidFill>
            <a:srgbClr val="1D3B24"/>
          </a:solidFill>
          <a:ln w="12700">
            <a:solidFill>
              <a:srgbClr val="5F8A3E"/>
            </a:solidFill>
            <a:prstDash val="solid"/>
          </a:ln>
        </p:spPr>
      </p:sp>
      <p:sp>
        <p:nvSpPr>
          <p:cNvPr id="27" name="Text 25"/>
          <p:cNvSpPr/>
          <p:nvPr/>
        </p:nvSpPr>
        <p:spPr>
          <a:xfrm>
            <a:off x="1764792" y="5248656"/>
            <a:ext cx="1426464" cy="219456"/>
          </a:xfrm>
          <a:prstGeom prst="rect">
            <a:avLst/>
          </a:prstGeom>
          <a:noFill/>
          <a:ln/>
        </p:spPr>
        <p:txBody>
          <a:bodyPr wrap="square" lIns="0" tIns="0" rIns="0" bIns="0" rtlCol="0" anchor="ctr"/>
          <a:lstStyle/>
          <a:p>
            <a:pPr algn="ctr" indent="0" marL="0">
              <a:buNone/>
            </a:pPr>
            <a:r>
              <a:rPr lang="en-US" sz="700" dirty="0">
                <a:solidFill>
                  <a:srgbClr val="AFC49F"/>
                </a:solidFill>
                <a:latin typeface="Calibri" pitchFamily="34" charset="0"/>
                <a:ea typeface="Calibri" pitchFamily="34" charset="-122"/>
                <a:cs typeface="Calibri" pitchFamily="34" charset="-120"/>
              </a:rPr>
              <a:t>agrilink_farmer</a:t>
            </a:r>
            <a:endParaRPr lang="en-US" sz="700" dirty="0"/>
          </a:p>
        </p:txBody>
      </p:sp>
      <p:sp>
        <p:nvSpPr>
          <p:cNvPr id="28" name="Shape 26"/>
          <p:cNvSpPr/>
          <p:nvPr/>
        </p:nvSpPr>
        <p:spPr>
          <a:xfrm>
            <a:off x="3255264" y="3529584"/>
            <a:ext cx="1335024" cy="749808"/>
          </a:xfrm>
          <a:prstGeom prst="roundRect">
            <a:avLst>
              <a:gd name="adj" fmla="val 6098"/>
            </a:avLst>
          </a:prstGeom>
          <a:solidFill>
            <a:srgbClr val="2C5F2D"/>
          </a:solidFill>
          <a:ln w="12700">
            <a:solidFill>
              <a:srgbClr val="97BC62"/>
            </a:solidFill>
            <a:prstDash val="solid"/>
          </a:ln>
        </p:spPr>
      </p:sp>
      <p:sp>
        <p:nvSpPr>
          <p:cNvPr id="29" name="Text 27"/>
          <p:cNvSpPr/>
          <p:nvPr/>
        </p:nvSpPr>
        <p:spPr>
          <a:xfrm>
            <a:off x="3255264" y="3566160"/>
            <a:ext cx="1335024" cy="6766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crop</a:t>
            </a:r>
            <a:endParaRPr lang="en-US" sz="1100" dirty="0"/>
          </a:p>
          <a:p>
            <a:pPr algn="ctr" indent="0" marL="0">
              <a:buNone/>
            </a:pPr>
            <a:r>
              <a:rPr lang="en-US" sz="850" dirty="0">
                <a:solidFill>
                  <a:srgbClr val="97BC62"/>
                </a:solidFill>
                <a:latin typeface="Calibri" pitchFamily="34" charset="0"/>
                <a:ea typeface="Calibri" pitchFamily="34" charset="-122"/>
                <a:cs typeface="Calibri" pitchFamily="34" charset="-120"/>
              </a:rPr>
              <a:t>:8083</a:t>
            </a:r>
            <a:endParaRPr lang="en-US" sz="1100" dirty="0"/>
          </a:p>
        </p:txBody>
      </p:sp>
      <p:sp>
        <p:nvSpPr>
          <p:cNvPr id="30" name="Shape 28"/>
          <p:cNvSpPr/>
          <p:nvPr/>
        </p:nvSpPr>
        <p:spPr>
          <a:xfrm>
            <a:off x="3922776" y="4315968"/>
            <a:ext cx="0" cy="146304"/>
          </a:xfrm>
          <a:prstGeom prst="line">
            <a:avLst/>
          </a:prstGeom>
          <a:noFill/>
          <a:ln w="22225">
            <a:solidFill>
              <a:srgbClr val="5F8A3E"/>
            </a:solidFill>
            <a:prstDash val="solid"/>
            <a:tailEnd type="triangle"/>
          </a:ln>
        </p:spPr>
      </p:sp>
      <p:sp>
        <p:nvSpPr>
          <p:cNvPr id="31" name="Shape 29"/>
          <p:cNvSpPr/>
          <p:nvPr/>
        </p:nvSpPr>
        <p:spPr>
          <a:xfrm>
            <a:off x="3401568" y="4626864"/>
            <a:ext cx="1042416" cy="548640"/>
          </a:xfrm>
          <a:prstGeom prst="can">
            <a:avLst/>
          </a:prstGeom>
          <a:solidFill>
            <a:srgbClr val="1D3B24"/>
          </a:solidFill>
          <a:ln w="12700">
            <a:solidFill>
              <a:srgbClr val="5F8A3E"/>
            </a:solidFill>
            <a:prstDash val="solid"/>
          </a:ln>
        </p:spPr>
      </p:sp>
      <p:sp>
        <p:nvSpPr>
          <p:cNvPr id="32" name="Text 30"/>
          <p:cNvSpPr/>
          <p:nvPr/>
        </p:nvSpPr>
        <p:spPr>
          <a:xfrm>
            <a:off x="3209544" y="5248656"/>
            <a:ext cx="1426464" cy="219456"/>
          </a:xfrm>
          <a:prstGeom prst="rect">
            <a:avLst/>
          </a:prstGeom>
          <a:noFill/>
          <a:ln/>
        </p:spPr>
        <p:txBody>
          <a:bodyPr wrap="square" lIns="0" tIns="0" rIns="0" bIns="0" rtlCol="0" anchor="ctr"/>
          <a:lstStyle/>
          <a:p>
            <a:pPr algn="ctr" indent="0" marL="0">
              <a:buNone/>
            </a:pPr>
            <a:r>
              <a:rPr lang="en-US" sz="700" dirty="0">
                <a:solidFill>
                  <a:srgbClr val="AFC49F"/>
                </a:solidFill>
                <a:latin typeface="Calibri" pitchFamily="34" charset="0"/>
                <a:ea typeface="Calibri" pitchFamily="34" charset="-122"/>
                <a:cs typeface="Calibri" pitchFamily="34" charset="-120"/>
              </a:rPr>
              <a:t>agrilink_crop</a:t>
            </a:r>
            <a:endParaRPr lang="en-US" sz="700" dirty="0"/>
          </a:p>
        </p:txBody>
      </p:sp>
      <p:sp>
        <p:nvSpPr>
          <p:cNvPr id="33" name="Shape 31"/>
          <p:cNvSpPr/>
          <p:nvPr/>
        </p:nvSpPr>
        <p:spPr>
          <a:xfrm>
            <a:off x="4700016" y="3529584"/>
            <a:ext cx="1335024" cy="749808"/>
          </a:xfrm>
          <a:prstGeom prst="roundRect">
            <a:avLst>
              <a:gd name="adj" fmla="val 6098"/>
            </a:avLst>
          </a:prstGeom>
          <a:solidFill>
            <a:srgbClr val="22452A"/>
          </a:solidFill>
          <a:ln w="12700">
            <a:solidFill>
              <a:srgbClr val="5F8A3E"/>
            </a:solidFill>
            <a:prstDash val="solid"/>
          </a:ln>
        </p:spPr>
      </p:sp>
      <p:sp>
        <p:nvSpPr>
          <p:cNvPr id="34" name="Text 32"/>
          <p:cNvSpPr/>
          <p:nvPr/>
        </p:nvSpPr>
        <p:spPr>
          <a:xfrm>
            <a:off x="4700016" y="3566160"/>
            <a:ext cx="1335024" cy="6766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input</a:t>
            </a:r>
            <a:endParaRPr lang="en-US" sz="1100" dirty="0"/>
          </a:p>
          <a:p>
            <a:pPr algn="ctr" indent="0" marL="0">
              <a:buNone/>
            </a:pPr>
            <a:r>
              <a:rPr lang="en-US" sz="850" dirty="0">
                <a:solidFill>
                  <a:srgbClr val="97BC62"/>
                </a:solidFill>
                <a:latin typeface="Calibri" pitchFamily="34" charset="0"/>
                <a:ea typeface="Calibri" pitchFamily="34" charset="-122"/>
                <a:cs typeface="Calibri" pitchFamily="34" charset="-120"/>
              </a:rPr>
              <a:t>:8084</a:t>
            </a:r>
            <a:endParaRPr lang="en-US" sz="1100" dirty="0"/>
          </a:p>
        </p:txBody>
      </p:sp>
      <p:sp>
        <p:nvSpPr>
          <p:cNvPr id="35" name="Shape 33"/>
          <p:cNvSpPr/>
          <p:nvPr/>
        </p:nvSpPr>
        <p:spPr>
          <a:xfrm>
            <a:off x="5367528" y="4315968"/>
            <a:ext cx="0" cy="146304"/>
          </a:xfrm>
          <a:prstGeom prst="line">
            <a:avLst/>
          </a:prstGeom>
          <a:noFill/>
          <a:ln w="22225">
            <a:solidFill>
              <a:srgbClr val="5F8A3E"/>
            </a:solidFill>
            <a:prstDash val="solid"/>
            <a:tailEnd type="triangle"/>
          </a:ln>
        </p:spPr>
      </p:sp>
      <p:sp>
        <p:nvSpPr>
          <p:cNvPr id="36" name="Shape 34"/>
          <p:cNvSpPr/>
          <p:nvPr/>
        </p:nvSpPr>
        <p:spPr>
          <a:xfrm>
            <a:off x="4846320" y="4626864"/>
            <a:ext cx="1042416" cy="548640"/>
          </a:xfrm>
          <a:prstGeom prst="can">
            <a:avLst/>
          </a:prstGeom>
          <a:solidFill>
            <a:srgbClr val="1D3B24"/>
          </a:solidFill>
          <a:ln w="12700">
            <a:solidFill>
              <a:srgbClr val="5F8A3E"/>
            </a:solidFill>
            <a:prstDash val="solid"/>
          </a:ln>
        </p:spPr>
      </p:sp>
      <p:sp>
        <p:nvSpPr>
          <p:cNvPr id="37" name="Text 35"/>
          <p:cNvSpPr/>
          <p:nvPr/>
        </p:nvSpPr>
        <p:spPr>
          <a:xfrm>
            <a:off x="4654296" y="5248656"/>
            <a:ext cx="1426464" cy="219456"/>
          </a:xfrm>
          <a:prstGeom prst="rect">
            <a:avLst/>
          </a:prstGeom>
          <a:noFill/>
          <a:ln/>
        </p:spPr>
        <p:txBody>
          <a:bodyPr wrap="square" lIns="0" tIns="0" rIns="0" bIns="0" rtlCol="0" anchor="ctr"/>
          <a:lstStyle/>
          <a:p>
            <a:pPr algn="ctr" indent="0" marL="0">
              <a:buNone/>
            </a:pPr>
            <a:r>
              <a:rPr lang="en-US" sz="700" dirty="0">
                <a:solidFill>
                  <a:srgbClr val="AFC49F"/>
                </a:solidFill>
                <a:latin typeface="Calibri" pitchFamily="34" charset="0"/>
                <a:ea typeface="Calibri" pitchFamily="34" charset="-122"/>
                <a:cs typeface="Calibri" pitchFamily="34" charset="-120"/>
              </a:rPr>
              <a:t>agrilink_input</a:t>
            </a:r>
            <a:endParaRPr lang="en-US" sz="700" dirty="0"/>
          </a:p>
        </p:txBody>
      </p:sp>
      <p:sp>
        <p:nvSpPr>
          <p:cNvPr id="38" name="Shape 36"/>
          <p:cNvSpPr/>
          <p:nvPr/>
        </p:nvSpPr>
        <p:spPr>
          <a:xfrm>
            <a:off x="6144768" y="3529584"/>
            <a:ext cx="1335024" cy="749808"/>
          </a:xfrm>
          <a:prstGeom prst="roundRect">
            <a:avLst>
              <a:gd name="adj" fmla="val 6098"/>
            </a:avLst>
          </a:prstGeom>
          <a:solidFill>
            <a:srgbClr val="22452A"/>
          </a:solidFill>
          <a:ln w="12700">
            <a:solidFill>
              <a:srgbClr val="5F8A3E"/>
            </a:solidFill>
            <a:prstDash val="solid"/>
          </a:ln>
        </p:spPr>
      </p:sp>
      <p:sp>
        <p:nvSpPr>
          <p:cNvPr id="39" name="Text 37"/>
          <p:cNvSpPr/>
          <p:nvPr/>
        </p:nvSpPr>
        <p:spPr>
          <a:xfrm>
            <a:off x="6144768" y="3566160"/>
            <a:ext cx="1335024" cy="6766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subsidy</a:t>
            </a:r>
            <a:endParaRPr lang="en-US" sz="1100" dirty="0"/>
          </a:p>
          <a:p>
            <a:pPr algn="ctr" indent="0" marL="0">
              <a:buNone/>
            </a:pPr>
            <a:r>
              <a:rPr lang="en-US" sz="850" dirty="0">
                <a:solidFill>
                  <a:srgbClr val="97BC62"/>
                </a:solidFill>
                <a:latin typeface="Calibri" pitchFamily="34" charset="0"/>
                <a:ea typeface="Calibri" pitchFamily="34" charset="-122"/>
                <a:cs typeface="Calibri" pitchFamily="34" charset="-120"/>
              </a:rPr>
              <a:t>:8085</a:t>
            </a:r>
            <a:endParaRPr lang="en-US" sz="1100" dirty="0"/>
          </a:p>
        </p:txBody>
      </p:sp>
      <p:sp>
        <p:nvSpPr>
          <p:cNvPr id="40" name="Shape 38"/>
          <p:cNvSpPr/>
          <p:nvPr/>
        </p:nvSpPr>
        <p:spPr>
          <a:xfrm>
            <a:off x="6812280" y="4315968"/>
            <a:ext cx="0" cy="146304"/>
          </a:xfrm>
          <a:prstGeom prst="line">
            <a:avLst/>
          </a:prstGeom>
          <a:noFill/>
          <a:ln w="22225">
            <a:solidFill>
              <a:srgbClr val="5F8A3E"/>
            </a:solidFill>
            <a:prstDash val="solid"/>
            <a:tailEnd type="triangle"/>
          </a:ln>
        </p:spPr>
      </p:sp>
      <p:sp>
        <p:nvSpPr>
          <p:cNvPr id="41" name="Shape 39"/>
          <p:cNvSpPr/>
          <p:nvPr/>
        </p:nvSpPr>
        <p:spPr>
          <a:xfrm>
            <a:off x="6291072" y="4626864"/>
            <a:ext cx="1042416" cy="548640"/>
          </a:xfrm>
          <a:prstGeom prst="can">
            <a:avLst/>
          </a:prstGeom>
          <a:solidFill>
            <a:srgbClr val="1D3B24"/>
          </a:solidFill>
          <a:ln w="12700">
            <a:solidFill>
              <a:srgbClr val="5F8A3E"/>
            </a:solidFill>
            <a:prstDash val="solid"/>
          </a:ln>
        </p:spPr>
      </p:sp>
      <p:sp>
        <p:nvSpPr>
          <p:cNvPr id="42" name="Text 40"/>
          <p:cNvSpPr/>
          <p:nvPr/>
        </p:nvSpPr>
        <p:spPr>
          <a:xfrm>
            <a:off x="6099048" y="5248656"/>
            <a:ext cx="1426464" cy="219456"/>
          </a:xfrm>
          <a:prstGeom prst="rect">
            <a:avLst/>
          </a:prstGeom>
          <a:noFill/>
          <a:ln/>
        </p:spPr>
        <p:txBody>
          <a:bodyPr wrap="square" lIns="0" tIns="0" rIns="0" bIns="0" rtlCol="0" anchor="ctr"/>
          <a:lstStyle/>
          <a:p>
            <a:pPr algn="ctr" indent="0" marL="0">
              <a:buNone/>
            </a:pPr>
            <a:r>
              <a:rPr lang="en-US" sz="700" dirty="0">
                <a:solidFill>
                  <a:srgbClr val="AFC49F"/>
                </a:solidFill>
                <a:latin typeface="Calibri" pitchFamily="34" charset="0"/>
                <a:ea typeface="Calibri" pitchFamily="34" charset="-122"/>
                <a:cs typeface="Calibri" pitchFamily="34" charset="-120"/>
              </a:rPr>
              <a:t>agrilink_subsidy</a:t>
            </a:r>
            <a:endParaRPr lang="en-US" sz="700" dirty="0"/>
          </a:p>
        </p:txBody>
      </p:sp>
      <p:sp>
        <p:nvSpPr>
          <p:cNvPr id="43" name="Shape 41"/>
          <p:cNvSpPr/>
          <p:nvPr/>
        </p:nvSpPr>
        <p:spPr>
          <a:xfrm>
            <a:off x="7589520" y="3529584"/>
            <a:ext cx="1335024" cy="749808"/>
          </a:xfrm>
          <a:prstGeom prst="roundRect">
            <a:avLst>
              <a:gd name="adj" fmla="val 6098"/>
            </a:avLst>
          </a:prstGeom>
          <a:solidFill>
            <a:srgbClr val="22452A"/>
          </a:solidFill>
          <a:ln w="12700">
            <a:solidFill>
              <a:srgbClr val="5F8A3E"/>
            </a:solidFill>
            <a:prstDash val="solid"/>
          </a:ln>
        </p:spPr>
      </p:sp>
      <p:sp>
        <p:nvSpPr>
          <p:cNvPr id="44" name="Text 42"/>
          <p:cNvSpPr/>
          <p:nvPr/>
        </p:nvSpPr>
        <p:spPr>
          <a:xfrm>
            <a:off x="7589520" y="3566160"/>
            <a:ext cx="1335024" cy="6766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produce</a:t>
            </a:r>
            <a:endParaRPr lang="en-US" sz="1100" dirty="0"/>
          </a:p>
          <a:p>
            <a:pPr algn="ctr" indent="0" marL="0">
              <a:buNone/>
            </a:pPr>
            <a:r>
              <a:rPr lang="en-US" sz="850" dirty="0">
                <a:solidFill>
                  <a:srgbClr val="97BC62"/>
                </a:solidFill>
                <a:latin typeface="Calibri" pitchFamily="34" charset="0"/>
                <a:ea typeface="Calibri" pitchFamily="34" charset="-122"/>
                <a:cs typeface="Calibri" pitchFamily="34" charset="-120"/>
              </a:rPr>
              <a:t>:8086</a:t>
            </a:r>
            <a:endParaRPr lang="en-US" sz="1100" dirty="0"/>
          </a:p>
        </p:txBody>
      </p:sp>
      <p:sp>
        <p:nvSpPr>
          <p:cNvPr id="45" name="Shape 43"/>
          <p:cNvSpPr/>
          <p:nvPr/>
        </p:nvSpPr>
        <p:spPr>
          <a:xfrm>
            <a:off x="8257032" y="4315968"/>
            <a:ext cx="0" cy="146304"/>
          </a:xfrm>
          <a:prstGeom prst="line">
            <a:avLst/>
          </a:prstGeom>
          <a:noFill/>
          <a:ln w="22225">
            <a:solidFill>
              <a:srgbClr val="5F8A3E"/>
            </a:solidFill>
            <a:prstDash val="solid"/>
            <a:tailEnd type="triangle"/>
          </a:ln>
        </p:spPr>
      </p:sp>
      <p:sp>
        <p:nvSpPr>
          <p:cNvPr id="46" name="Shape 44"/>
          <p:cNvSpPr/>
          <p:nvPr/>
        </p:nvSpPr>
        <p:spPr>
          <a:xfrm>
            <a:off x="7735824" y="4626864"/>
            <a:ext cx="1042416" cy="548640"/>
          </a:xfrm>
          <a:prstGeom prst="can">
            <a:avLst/>
          </a:prstGeom>
          <a:solidFill>
            <a:srgbClr val="1D3B24"/>
          </a:solidFill>
          <a:ln w="12700">
            <a:solidFill>
              <a:srgbClr val="5F8A3E"/>
            </a:solidFill>
            <a:prstDash val="solid"/>
          </a:ln>
        </p:spPr>
      </p:sp>
      <p:sp>
        <p:nvSpPr>
          <p:cNvPr id="47" name="Text 45"/>
          <p:cNvSpPr/>
          <p:nvPr/>
        </p:nvSpPr>
        <p:spPr>
          <a:xfrm>
            <a:off x="7543800" y="5248656"/>
            <a:ext cx="1426464" cy="219456"/>
          </a:xfrm>
          <a:prstGeom prst="rect">
            <a:avLst/>
          </a:prstGeom>
          <a:noFill/>
          <a:ln/>
        </p:spPr>
        <p:txBody>
          <a:bodyPr wrap="square" lIns="0" tIns="0" rIns="0" bIns="0" rtlCol="0" anchor="ctr"/>
          <a:lstStyle/>
          <a:p>
            <a:pPr algn="ctr" indent="0" marL="0">
              <a:buNone/>
            </a:pPr>
            <a:r>
              <a:rPr lang="en-US" sz="700" dirty="0">
                <a:solidFill>
                  <a:srgbClr val="AFC49F"/>
                </a:solidFill>
                <a:latin typeface="Calibri" pitchFamily="34" charset="0"/>
                <a:ea typeface="Calibri" pitchFamily="34" charset="-122"/>
                <a:cs typeface="Calibri" pitchFamily="34" charset="-120"/>
              </a:rPr>
              <a:t>agrilink_produce</a:t>
            </a:r>
            <a:endParaRPr lang="en-US" sz="700" dirty="0"/>
          </a:p>
        </p:txBody>
      </p:sp>
      <p:sp>
        <p:nvSpPr>
          <p:cNvPr id="48" name="Shape 46"/>
          <p:cNvSpPr/>
          <p:nvPr/>
        </p:nvSpPr>
        <p:spPr>
          <a:xfrm>
            <a:off x="9034272" y="3529584"/>
            <a:ext cx="1335024" cy="749808"/>
          </a:xfrm>
          <a:prstGeom prst="roundRect">
            <a:avLst>
              <a:gd name="adj" fmla="val 6098"/>
            </a:avLst>
          </a:prstGeom>
          <a:solidFill>
            <a:srgbClr val="22452A"/>
          </a:solidFill>
          <a:ln w="12700">
            <a:solidFill>
              <a:srgbClr val="5F8A3E"/>
            </a:solidFill>
            <a:prstDash val="solid"/>
          </a:ln>
        </p:spPr>
      </p:sp>
      <p:sp>
        <p:nvSpPr>
          <p:cNvPr id="49" name="Text 47"/>
          <p:cNvSpPr/>
          <p:nvPr/>
        </p:nvSpPr>
        <p:spPr>
          <a:xfrm>
            <a:off x="9034272" y="3566160"/>
            <a:ext cx="1335024" cy="6766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report</a:t>
            </a:r>
            <a:endParaRPr lang="en-US" sz="1100" dirty="0"/>
          </a:p>
          <a:p>
            <a:pPr algn="ctr" indent="0" marL="0">
              <a:buNone/>
            </a:pPr>
            <a:r>
              <a:rPr lang="en-US" sz="850" dirty="0">
                <a:solidFill>
                  <a:srgbClr val="97BC62"/>
                </a:solidFill>
                <a:latin typeface="Calibri" pitchFamily="34" charset="0"/>
                <a:ea typeface="Calibri" pitchFamily="34" charset="-122"/>
                <a:cs typeface="Calibri" pitchFamily="34" charset="-120"/>
              </a:rPr>
              <a:t>:8087</a:t>
            </a:r>
            <a:endParaRPr lang="en-US" sz="1100" dirty="0"/>
          </a:p>
        </p:txBody>
      </p:sp>
      <p:sp>
        <p:nvSpPr>
          <p:cNvPr id="50" name="Shape 48"/>
          <p:cNvSpPr/>
          <p:nvPr/>
        </p:nvSpPr>
        <p:spPr>
          <a:xfrm>
            <a:off x="9701784" y="4315968"/>
            <a:ext cx="0" cy="146304"/>
          </a:xfrm>
          <a:prstGeom prst="line">
            <a:avLst/>
          </a:prstGeom>
          <a:noFill/>
          <a:ln w="22225">
            <a:solidFill>
              <a:srgbClr val="5F8A3E"/>
            </a:solidFill>
            <a:prstDash val="solid"/>
            <a:tailEnd type="triangle"/>
          </a:ln>
        </p:spPr>
      </p:sp>
      <p:sp>
        <p:nvSpPr>
          <p:cNvPr id="51" name="Shape 49"/>
          <p:cNvSpPr/>
          <p:nvPr/>
        </p:nvSpPr>
        <p:spPr>
          <a:xfrm>
            <a:off x="9180576" y="4626864"/>
            <a:ext cx="1042416" cy="548640"/>
          </a:xfrm>
          <a:prstGeom prst="can">
            <a:avLst/>
          </a:prstGeom>
          <a:solidFill>
            <a:srgbClr val="1D3B24"/>
          </a:solidFill>
          <a:ln w="12700">
            <a:solidFill>
              <a:srgbClr val="5F8A3E"/>
            </a:solidFill>
            <a:prstDash val="solid"/>
          </a:ln>
        </p:spPr>
      </p:sp>
      <p:sp>
        <p:nvSpPr>
          <p:cNvPr id="52" name="Text 50"/>
          <p:cNvSpPr/>
          <p:nvPr/>
        </p:nvSpPr>
        <p:spPr>
          <a:xfrm>
            <a:off x="8988552" y="5248656"/>
            <a:ext cx="1426464" cy="219456"/>
          </a:xfrm>
          <a:prstGeom prst="rect">
            <a:avLst/>
          </a:prstGeom>
          <a:noFill/>
          <a:ln/>
        </p:spPr>
        <p:txBody>
          <a:bodyPr wrap="square" lIns="0" tIns="0" rIns="0" bIns="0" rtlCol="0" anchor="ctr"/>
          <a:lstStyle/>
          <a:p>
            <a:pPr algn="ctr" indent="0" marL="0">
              <a:buNone/>
            </a:pPr>
            <a:r>
              <a:rPr lang="en-US" sz="700" dirty="0">
                <a:solidFill>
                  <a:srgbClr val="AFC49F"/>
                </a:solidFill>
                <a:latin typeface="Calibri" pitchFamily="34" charset="0"/>
                <a:ea typeface="Calibri" pitchFamily="34" charset="-122"/>
                <a:cs typeface="Calibri" pitchFamily="34" charset="-120"/>
              </a:rPr>
              <a:t>agrilink_report</a:t>
            </a:r>
            <a:endParaRPr lang="en-US" sz="700" dirty="0"/>
          </a:p>
        </p:txBody>
      </p:sp>
      <p:sp>
        <p:nvSpPr>
          <p:cNvPr id="53" name="Shape 51"/>
          <p:cNvSpPr/>
          <p:nvPr/>
        </p:nvSpPr>
        <p:spPr>
          <a:xfrm>
            <a:off x="10479024" y="3529584"/>
            <a:ext cx="1335024" cy="749808"/>
          </a:xfrm>
          <a:prstGeom prst="roundRect">
            <a:avLst>
              <a:gd name="adj" fmla="val 6098"/>
            </a:avLst>
          </a:prstGeom>
          <a:solidFill>
            <a:srgbClr val="22452A"/>
          </a:solidFill>
          <a:ln w="12700">
            <a:solidFill>
              <a:srgbClr val="5F8A3E"/>
            </a:solidFill>
            <a:prstDash val="solid"/>
          </a:ln>
        </p:spPr>
      </p:sp>
      <p:sp>
        <p:nvSpPr>
          <p:cNvPr id="54" name="Text 52"/>
          <p:cNvSpPr/>
          <p:nvPr/>
        </p:nvSpPr>
        <p:spPr>
          <a:xfrm>
            <a:off x="10479024" y="3566160"/>
            <a:ext cx="1335024" cy="6766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notification</a:t>
            </a:r>
            <a:endParaRPr lang="en-US" sz="1100" dirty="0"/>
          </a:p>
          <a:p>
            <a:pPr algn="ctr" indent="0" marL="0">
              <a:buNone/>
            </a:pPr>
            <a:r>
              <a:rPr lang="en-US" sz="850" dirty="0">
                <a:solidFill>
                  <a:srgbClr val="97BC62"/>
                </a:solidFill>
                <a:latin typeface="Calibri" pitchFamily="34" charset="0"/>
                <a:ea typeface="Calibri" pitchFamily="34" charset="-122"/>
                <a:cs typeface="Calibri" pitchFamily="34" charset="-120"/>
              </a:rPr>
              <a:t>:8088</a:t>
            </a:r>
            <a:endParaRPr lang="en-US" sz="1100" dirty="0"/>
          </a:p>
        </p:txBody>
      </p:sp>
      <p:sp>
        <p:nvSpPr>
          <p:cNvPr id="55" name="Shape 53"/>
          <p:cNvSpPr/>
          <p:nvPr/>
        </p:nvSpPr>
        <p:spPr>
          <a:xfrm>
            <a:off x="11146536" y="4315968"/>
            <a:ext cx="0" cy="146304"/>
          </a:xfrm>
          <a:prstGeom prst="line">
            <a:avLst/>
          </a:prstGeom>
          <a:noFill/>
          <a:ln w="22225">
            <a:solidFill>
              <a:srgbClr val="5F8A3E"/>
            </a:solidFill>
            <a:prstDash val="solid"/>
            <a:tailEnd type="triangle"/>
          </a:ln>
        </p:spPr>
      </p:sp>
      <p:sp>
        <p:nvSpPr>
          <p:cNvPr id="56" name="Shape 54"/>
          <p:cNvSpPr/>
          <p:nvPr/>
        </p:nvSpPr>
        <p:spPr>
          <a:xfrm>
            <a:off x="10625328" y="4626864"/>
            <a:ext cx="1042416" cy="548640"/>
          </a:xfrm>
          <a:prstGeom prst="can">
            <a:avLst/>
          </a:prstGeom>
          <a:solidFill>
            <a:srgbClr val="1D3B24"/>
          </a:solidFill>
          <a:ln w="12700">
            <a:solidFill>
              <a:srgbClr val="5F8A3E"/>
            </a:solidFill>
            <a:prstDash val="solid"/>
          </a:ln>
        </p:spPr>
      </p:sp>
      <p:sp>
        <p:nvSpPr>
          <p:cNvPr id="57" name="Text 55"/>
          <p:cNvSpPr/>
          <p:nvPr/>
        </p:nvSpPr>
        <p:spPr>
          <a:xfrm>
            <a:off x="10433304" y="5248656"/>
            <a:ext cx="1426464" cy="219456"/>
          </a:xfrm>
          <a:prstGeom prst="rect">
            <a:avLst/>
          </a:prstGeom>
          <a:noFill/>
          <a:ln/>
        </p:spPr>
        <p:txBody>
          <a:bodyPr wrap="square" lIns="0" tIns="0" rIns="0" bIns="0" rtlCol="0" anchor="ctr"/>
          <a:lstStyle/>
          <a:p>
            <a:pPr algn="ctr" indent="0" marL="0">
              <a:buNone/>
            </a:pPr>
            <a:r>
              <a:rPr lang="en-US" sz="700" dirty="0">
                <a:solidFill>
                  <a:srgbClr val="AFC49F"/>
                </a:solidFill>
                <a:latin typeface="Calibri" pitchFamily="34" charset="0"/>
                <a:ea typeface="Calibri" pitchFamily="34" charset="-122"/>
                <a:cs typeface="Calibri" pitchFamily="34" charset="-120"/>
              </a:rPr>
              <a:t>agrilink_notification</a:t>
            </a:r>
            <a:endParaRPr lang="en-US" sz="700" dirty="0"/>
          </a:p>
        </p:txBody>
      </p:sp>
      <p:sp>
        <p:nvSpPr>
          <p:cNvPr id="58" name="Shape 56"/>
          <p:cNvSpPr/>
          <p:nvPr/>
        </p:nvSpPr>
        <p:spPr>
          <a:xfrm>
            <a:off x="411480" y="5559552"/>
            <a:ext cx="11384280" cy="822960"/>
          </a:xfrm>
          <a:prstGeom prst="roundRect">
            <a:avLst>
              <a:gd name="adj" fmla="val 5556"/>
            </a:avLst>
          </a:prstGeom>
          <a:solidFill>
            <a:srgbClr val="22452A"/>
          </a:solidFill>
          <a:ln w="12700">
            <a:solidFill>
              <a:srgbClr val="5F8A3E"/>
            </a:solidFill>
            <a:prstDash val="solid"/>
          </a:ln>
        </p:spPr>
      </p:sp>
      <p:sp>
        <p:nvSpPr>
          <p:cNvPr id="59" name="Text 57"/>
          <p:cNvSpPr/>
          <p:nvPr/>
        </p:nvSpPr>
        <p:spPr>
          <a:xfrm>
            <a:off x="658368" y="5614416"/>
            <a:ext cx="10881360" cy="713232"/>
          </a:xfrm>
          <a:prstGeom prst="rect">
            <a:avLst/>
          </a:prstGeom>
          <a:noFill/>
          <a:ln/>
        </p:spPr>
        <p:txBody>
          <a:bodyPr wrap="square" lIns="0" tIns="0" rIns="0" bIns="0" rtlCol="0" anchor="ctr"/>
          <a:lstStyle/>
          <a:p>
            <a:pPr indent="0" marL="0">
              <a:lnSpc>
                <a:spcPct val="115000"/>
              </a:lnSpc>
              <a:buNone/>
            </a:pPr>
            <a:r>
              <a:rPr lang="en-US" sz="1150" b="1" dirty="0">
                <a:solidFill>
                  <a:srgbClr val="97BC62"/>
                </a:solidFill>
                <a:latin typeface="Calibri" pitchFamily="34" charset="0"/>
                <a:ea typeface="Calibri" pitchFamily="34" charset="-122"/>
                <a:cs typeface="Calibri" pitchFamily="34" charset="-120"/>
              </a:rPr>
              <a:t>Services talk to each other over REST, by Eureka name — never by IP. </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Example: crop-service calls farmer-service (forwarding the caller's JWT) to find out which farmerIds the logged-in farmer actually owns.</a:t>
            </a:r>
            <a:endParaRPr lang="en-US" sz="1150" dirty="0"/>
          </a:p>
        </p:txBody>
      </p:sp>
      <p:sp>
        <p:nvSpPr>
          <p:cNvPr id="60" name="Text 58"/>
          <p:cNvSpPr/>
          <p:nvPr/>
        </p:nvSpPr>
        <p:spPr>
          <a:xfrm>
            <a:off x="502920" y="6455664"/>
            <a:ext cx="11155680" cy="274320"/>
          </a:xfrm>
          <a:prstGeom prst="rect">
            <a:avLst/>
          </a:prstGeom>
          <a:noFill/>
          <a:ln/>
        </p:spPr>
        <p:txBody>
          <a:bodyPr wrap="square" lIns="0" tIns="0" rIns="0" bIns="0" rtlCol="0" anchor="ctr"/>
          <a:lstStyle/>
          <a:p>
            <a:pPr indent="0" marL="0">
              <a:buNone/>
            </a:pPr>
            <a:r>
              <a:rPr lang="en-US" sz="1000" i="1" dirty="0">
                <a:solidFill>
                  <a:srgbClr val="8FA487"/>
                </a:solidFill>
                <a:latin typeface="Calibri" pitchFamily="34" charset="0"/>
                <a:ea typeface="Calibri" pitchFamily="34" charset="-122"/>
                <a:cs typeface="Calibri" pitchFamily="34" charset="-120"/>
              </a:rPr>
              <a:t>In development, ng serve on :4200 proxies every /agrilink call to the gateway on :9091 — the frontend never hardcodes a service port.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11155680" cy="256032"/>
          </a:xfrm>
          <a:prstGeom prst="rect">
            <a:avLst/>
          </a:prstGeom>
          <a:noFill/>
          <a:ln/>
        </p:spPr>
        <p:txBody>
          <a:bodyPr wrap="square" lIns="0" tIns="0" rIns="0" bIns="0" rtlCol="0" anchor="ctr"/>
          <a:lstStyle/>
          <a:p>
            <a:pPr indent="0" marL="0">
              <a:buNone/>
            </a:pPr>
            <a:r>
              <a:rPr lang="en-US" sz="1100" b="1" spc="250" kern="0" dirty="0">
                <a:solidFill>
                  <a:srgbClr val="5F8A3E"/>
                </a:solidFill>
                <a:latin typeface="Calibri" pitchFamily="34" charset="0"/>
                <a:ea typeface="Calibri" pitchFamily="34" charset="-122"/>
                <a:cs typeface="Calibri" pitchFamily="34" charset="-120"/>
              </a:rPr>
              <a:t>RUNTIME WORKFLOW</a:t>
            </a:r>
            <a:endParaRPr lang="en-US" sz="1100" dirty="0"/>
          </a:p>
        </p:txBody>
      </p:sp>
      <p:sp>
        <p:nvSpPr>
          <p:cNvPr id="3" name="Text 1"/>
          <p:cNvSpPr/>
          <p:nvPr/>
        </p:nvSpPr>
        <p:spPr>
          <a:xfrm>
            <a:off x="502920" y="548640"/>
            <a:ext cx="11155680" cy="502920"/>
          </a:xfrm>
          <a:prstGeom prst="rect">
            <a:avLst/>
          </a:prstGeom>
          <a:noFill/>
          <a:ln/>
        </p:spPr>
        <p:txBody>
          <a:bodyPr wrap="square" lIns="0" tIns="0" rIns="0" bIns="0" rtlCol="0" anchor="t"/>
          <a:lstStyle/>
          <a:p>
            <a:pPr indent="0" marL="0">
              <a:buNone/>
            </a:pPr>
            <a:r>
              <a:rPr lang="en-US" sz="3000" b="1" dirty="0">
                <a:solidFill>
                  <a:srgbClr val="1F2A24"/>
                </a:solidFill>
                <a:latin typeface="Cambria" pitchFamily="34" charset="0"/>
                <a:ea typeface="Cambria" pitchFamily="34" charset="-122"/>
                <a:cs typeface="Cambria" pitchFamily="34" charset="-120"/>
              </a:rPr>
              <a:t>Login Once, Then Every Call Is Checked</a:t>
            </a:r>
            <a:endParaRPr lang="en-US" sz="3000" dirty="0"/>
          </a:p>
        </p:txBody>
      </p:sp>
      <p:sp>
        <p:nvSpPr>
          <p:cNvPr id="4" name="Text 2"/>
          <p:cNvSpPr/>
          <p:nvPr/>
        </p:nvSpPr>
        <p:spPr>
          <a:xfrm>
            <a:off x="502920" y="1078992"/>
            <a:ext cx="11155680" cy="310896"/>
          </a:xfrm>
          <a:prstGeom prst="rect">
            <a:avLst/>
          </a:prstGeom>
          <a:noFill/>
          <a:ln/>
        </p:spPr>
        <p:txBody>
          <a:bodyPr wrap="square" lIns="0" tIns="0" rIns="0" bIns="0" rtlCol="0" anchor="t"/>
          <a:lstStyle/>
          <a:p>
            <a:pPr indent="0" marL="0">
              <a:buNone/>
            </a:pPr>
            <a:r>
              <a:rPr lang="en-US" sz="1250" dirty="0">
                <a:solidFill>
                  <a:srgbClr val="5F6E64"/>
                </a:solidFill>
                <a:latin typeface="Calibri" pitchFamily="34" charset="0"/>
                <a:ea typeface="Calibri" pitchFamily="34" charset="-122"/>
                <a:cs typeface="Calibri" pitchFamily="34" charset="-120"/>
              </a:rPr>
              <a:t>Two flows worth knowing by heart: how the token is issued, and what happens on every request afterwards.</a:t>
            </a:r>
            <a:endParaRPr lang="en-US" sz="1250" dirty="0"/>
          </a:p>
        </p:txBody>
      </p:sp>
      <p:sp>
        <p:nvSpPr>
          <p:cNvPr id="5" name="Shape 3"/>
          <p:cNvSpPr/>
          <p:nvPr/>
        </p:nvSpPr>
        <p:spPr>
          <a:xfrm>
            <a:off x="411480" y="1572768"/>
            <a:ext cx="5577840" cy="3977640"/>
          </a:xfrm>
          <a:prstGeom prst="roundRect">
            <a:avLst>
              <a:gd name="adj" fmla="val 1149"/>
            </a:avLst>
          </a:prstGeom>
          <a:solidFill>
            <a:srgbClr val="FFFFFF"/>
          </a:solidFill>
          <a:ln w="12700">
            <a:solidFill>
              <a:srgbClr val="97BC62"/>
            </a:solidFill>
            <a:prstDash val="solid"/>
          </a:ln>
        </p:spPr>
      </p:sp>
      <p:sp>
        <p:nvSpPr>
          <p:cNvPr id="6" name="Text 4"/>
          <p:cNvSpPr/>
          <p:nvPr/>
        </p:nvSpPr>
        <p:spPr>
          <a:xfrm>
            <a:off x="411480" y="1572768"/>
            <a:ext cx="5577840" cy="475488"/>
          </a:xfrm>
          <a:prstGeom prst="roundRect">
            <a:avLst>
              <a:gd name="adj" fmla="val 9615"/>
            </a:avLst>
          </a:prstGeom>
          <a:solidFill>
            <a:srgbClr val="2C5F2D"/>
          </a:solidFill>
          <a:ln w="12700">
            <a:solidFill>
              <a:srgbClr val="2C5F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Login  ·  POST /agriLink/session/login</a:t>
            </a:r>
            <a:endParaRPr lang="en-US" sz="1200" dirty="0"/>
          </a:p>
        </p:txBody>
      </p:sp>
      <p:sp>
        <p:nvSpPr>
          <p:cNvPr id="7" name="Text 5"/>
          <p:cNvSpPr/>
          <p:nvPr/>
        </p:nvSpPr>
        <p:spPr>
          <a:xfrm>
            <a:off x="667512" y="2221992"/>
            <a:ext cx="310896" cy="310896"/>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106424" y="2194560"/>
            <a:ext cx="4636008" cy="594360"/>
          </a:xfrm>
          <a:prstGeom prst="rect">
            <a:avLst/>
          </a:prstGeom>
          <a:noFill/>
          <a:ln/>
        </p:spPr>
        <p:txBody>
          <a:bodyPr wrap="square" lIns="0" tIns="0" rIns="0" bIns="0" rtlCol="0" anchor="t"/>
          <a:lstStyle/>
          <a:p>
            <a:pPr indent="0" marL="0">
              <a:lnSpc>
                <a:spcPct val="108000"/>
              </a:lnSpc>
              <a:buNone/>
            </a:pPr>
            <a:r>
              <a:rPr lang="en-US" sz="1050" dirty="0">
                <a:solidFill>
                  <a:srgbClr val="1F2A24"/>
                </a:solidFill>
                <a:latin typeface="Calibri" pitchFamily="34" charset="0"/>
                <a:ea typeface="Calibri" pitchFamily="34" charset="-122"/>
                <a:cs typeface="Calibri" pitchFamily="34" charset="-120"/>
              </a:rPr>
              <a:t>Angular posts email + password through the gateway to iam-service.</a:t>
            </a:r>
            <a:endParaRPr lang="en-US" sz="1050" dirty="0"/>
          </a:p>
        </p:txBody>
      </p:sp>
      <p:sp>
        <p:nvSpPr>
          <p:cNvPr id="9" name="Text 7"/>
          <p:cNvSpPr/>
          <p:nvPr/>
        </p:nvSpPr>
        <p:spPr>
          <a:xfrm>
            <a:off x="667512" y="2871216"/>
            <a:ext cx="310896" cy="310896"/>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1106424" y="2843784"/>
            <a:ext cx="4636008" cy="594360"/>
          </a:xfrm>
          <a:prstGeom prst="rect">
            <a:avLst/>
          </a:prstGeom>
          <a:noFill/>
          <a:ln/>
        </p:spPr>
        <p:txBody>
          <a:bodyPr wrap="square" lIns="0" tIns="0" rIns="0" bIns="0" rtlCol="0" anchor="t"/>
          <a:lstStyle/>
          <a:p>
            <a:pPr indent="0" marL="0">
              <a:lnSpc>
                <a:spcPct val="108000"/>
              </a:lnSpc>
              <a:buNone/>
            </a:pPr>
            <a:r>
              <a:rPr lang="en-US" sz="1050" dirty="0">
                <a:solidFill>
                  <a:srgbClr val="1F2A24"/>
                </a:solidFill>
                <a:latin typeface="Calibri" pitchFamily="34" charset="0"/>
                <a:ea typeface="Calibri" pitchFamily="34" charset="-122"/>
                <a:cs typeface="Calibri" pitchFamily="34" charset="-120"/>
              </a:rPr>
              <a:t>iam compares the password with the stored BCrypt hash, and blocks Pending / Inactive / Suspended accounts.</a:t>
            </a:r>
            <a:endParaRPr lang="en-US" sz="1050" dirty="0"/>
          </a:p>
        </p:txBody>
      </p:sp>
      <p:sp>
        <p:nvSpPr>
          <p:cNvPr id="11" name="Text 9"/>
          <p:cNvSpPr/>
          <p:nvPr/>
        </p:nvSpPr>
        <p:spPr>
          <a:xfrm>
            <a:off x="667512" y="3520440"/>
            <a:ext cx="310896" cy="310896"/>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p:nvPr/>
        </p:nvSpPr>
        <p:spPr>
          <a:xfrm>
            <a:off x="1106424" y="3493008"/>
            <a:ext cx="4636008" cy="594360"/>
          </a:xfrm>
          <a:prstGeom prst="rect">
            <a:avLst/>
          </a:prstGeom>
          <a:noFill/>
          <a:ln/>
        </p:spPr>
        <p:txBody>
          <a:bodyPr wrap="square" lIns="0" tIns="0" rIns="0" bIns="0" rtlCol="0" anchor="t"/>
          <a:lstStyle/>
          <a:p>
            <a:pPr indent="0" marL="0">
              <a:lnSpc>
                <a:spcPct val="108000"/>
              </a:lnSpc>
              <a:buNone/>
            </a:pPr>
            <a:r>
              <a:rPr lang="en-US" sz="1050" dirty="0">
                <a:solidFill>
                  <a:srgbClr val="1F2A24"/>
                </a:solidFill>
                <a:latin typeface="Calibri" pitchFamily="34" charset="0"/>
                <a:ea typeface="Calibri" pitchFamily="34" charset="-122"/>
                <a:cs typeface="Calibri" pitchFamily="34" charset="-120"/>
              </a:rPr>
              <a:t>It issues two tokens: a signed JWT (short-lived) and an opaque refresh token (long-lived).</a:t>
            </a:r>
            <a:endParaRPr lang="en-US" sz="1050" dirty="0"/>
          </a:p>
        </p:txBody>
      </p:sp>
      <p:sp>
        <p:nvSpPr>
          <p:cNvPr id="13" name="Text 11"/>
          <p:cNvSpPr/>
          <p:nvPr/>
        </p:nvSpPr>
        <p:spPr>
          <a:xfrm>
            <a:off x="667512" y="4169664"/>
            <a:ext cx="310896" cy="310896"/>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4" name="Text 12"/>
          <p:cNvSpPr/>
          <p:nvPr/>
        </p:nvSpPr>
        <p:spPr>
          <a:xfrm>
            <a:off x="1106424" y="4142232"/>
            <a:ext cx="4636008" cy="594360"/>
          </a:xfrm>
          <a:prstGeom prst="rect">
            <a:avLst/>
          </a:prstGeom>
          <a:noFill/>
          <a:ln/>
        </p:spPr>
        <p:txBody>
          <a:bodyPr wrap="square" lIns="0" tIns="0" rIns="0" bIns="0" rtlCol="0" anchor="t"/>
          <a:lstStyle/>
          <a:p>
            <a:pPr indent="0" marL="0">
              <a:lnSpc>
                <a:spcPct val="108000"/>
              </a:lnSpc>
              <a:buNone/>
            </a:pPr>
            <a:r>
              <a:rPr lang="en-US" sz="1050" dirty="0">
                <a:solidFill>
                  <a:srgbClr val="1F2A24"/>
                </a:solidFill>
                <a:latin typeface="Calibri" pitchFamily="34" charset="0"/>
                <a:ea typeface="Calibri" pitchFamily="34" charset="-122"/>
                <a:cs typeface="Calibri" pitchFamily="34" charset="-120"/>
              </a:rPr>
              <a:t>A UserSession row saves only the SHA-256 hash of the refresh token, plus IP and device; the login is written to AuditLog.</a:t>
            </a:r>
            <a:endParaRPr lang="en-US" sz="1050" dirty="0"/>
          </a:p>
        </p:txBody>
      </p:sp>
      <p:sp>
        <p:nvSpPr>
          <p:cNvPr id="15" name="Text 13"/>
          <p:cNvSpPr/>
          <p:nvPr/>
        </p:nvSpPr>
        <p:spPr>
          <a:xfrm>
            <a:off x="667512" y="4818888"/>
            <a:ext cx="310896" cy="310896"/>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6" name="Text 14"/>
          <p:cNvSpPr/>
          <p:nvPr/>
        </p:nvSpPr>
        <p:spPr>
          <a:xfrm>
            <a:off x="1106424" y="4791456"/>
            <a:ext cx="4636008" cy="594360"/>
          </a:xfrm>
          <a:prstGeom prst="rect">
            <a:avLst/>
          </a:prstGeom>
          <a:noFill/>
          <a:ln/>
        </p:spPr>
        <p:txBody>
          <a:bodyPr wrap="square" lIns="0" tIns="0" rIns="0" bIns="0" rtlCol="0" anchor="t"/>
          <a:lstStyle/>
          <a:p>
            <a:pPr indent="0" marL="0">
              <a:lnSpc>
                <a:spcPct val="108000"/>
              </a:lnSpc>
              <a:buNone/>
            </a:pPr>
            <a:r>
              <a:rPr lang="en-US" sz="1050" dirty="0">
                <a:solidFill>
                  <a:srgbClr val="1F2A24"/>
                </a:solidFill>
                <a:latin typeface="Calibri" pitchFamily="34" charset="0"/>
                <a:ea typeface="Calibri" pitchFamily="34" charset="-122"/>
                <a:cs typeface="Calibri" pitchFamily="34" charset="-120"/>
              </a:rPr>
              <a:t>Angular stores both tokens and the user in localStorage and publishes currentUser$ so the shell re-renders.</a:t>
            </a:r>
            <a:endParaRPr lang="en-US" sz="1050" dirty="0"/>
          </a:p>
        </p:txBody>
      </p:sp>
      <p:sp>
        <p:nvSpPr>
          <p:cNvPr id="17" name="Shape 15"/>
          <p:cNvSpPr/>
          <p:nvPr/>
        </p:nvSpPr>
        <p:spPr>
          <a:xfrm>
            <a:off x="6199632" y="1572768"/>
            <a:ext cx="5577840" cy="3977640"/>
          </a:xfrm>
          <a:prstGeom prst="roundRect">
            <a:avLst>
              <a:gd name="adj" fmla="val 1149"/>
            </a:avLst>
          </a:prstGeom>
          <a:solidFill>
            <a:srgbClr val="FFFFFF"/>
          </a:solidFill>
          <a:ln w="12700">
            <a:solidFill>
              <a:srgbClr val="97BC62"/>
            </a:solidFill>
            <a:prstDash val="solid"/>
          </a:ln>
        </p:spPr>
      </p:sp>
      <p:sp>
        <p:nvSpPr>
          <p:cNvPr id="18" name="Text 16"/>
          <p:cNvSpPr/>
          <p:nvPr/>
        </p:nvSpPr>
        <p:spPr>
          <a:xfrm>
            <a:off x="6199632" y="1572768"/>
            <a:ext cx="5577840" cy="475488"/>
          </a:xfrm>
          <a:prstGeom prst="roundRect">
            <a:avLst>
              <a:gd name="adj" fmla="val 9615"/>
            </a:avLst>
          </a:prstGeom>
          <a:solidFill>
            <a:srgbClr val="2C5F2D"/>
          </a:solidFill>
          <a:ln w="12700">
            <a:solidFill>
              <a:srgbClr val="2C5F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Guarded call  ·  GET /agrilink/crop/crop-plans</a:t>
            </a:r>
            <a:endParaRPr lang="en-US" sz="1200" dirty="0"/>
          </a:p>
        </p:txBody>
      </p:sp>
      <p:sp>
        <p:nvSpPr>
          <p:cNvPr id="19" name="Text 17"/>
          <p:cNvSpPr/>
          <p:nvPr/>
        </p:nvSpPr>
        <p:spPr>
          <a:xfrm>
            <a:off x="6455664" y="2221992"/>
            <a:ext cx="310896" cy="310896"/>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8"/>
          <p:cNvSpPr/>
          <p:nvPr/>
        </p:nvSpPr>
        <p:spPr>
          <a:xfrm>
            <a:off x="6894576" y="2194560"/>
            <a:ext cx="4636008" cy="493776"/>
          </a:xfrm>
          <a:prstGeom prst="rect">
            <a:avLst/>
          </a:prstGeom>
          <a:noFill/>
          <a:ln/>
        </p:spPr>
        <p:txBody>
          <a:bodyPr wrap="square" lIns="0" tIns="0" rIns="0" bIns="0" rtlCol="0" anchor="t"/>
          <a:lstStyle/>
          <a:p>
            <a:pPr indent="0" marL="0">
              <a:lnSpc>
                <a:spcPct val="108000"/>
              </a:lnSpc>
              <a:buNone/>
            </a:pPr>
            <a:r>
              <a:rPr lang="en-US" sz="1050" dirty="0">
                <a:solidFill>
                  <a:srgbClr val="1F2A24"/>
                </a:solidFill>
                <a:latin typeface="Calibri" pitchFamily="34" charset="0"/>
                <a:ea typeface="Calibri" pitchFamily="34" charset="-122"/>
                <a:cs typeface="Calibri" pitchFamily="34" charset="-120"/>
              </a:rPr>
              <a:t>authGuard checks a session exists; roleGuard compares route.data.roles with the user's roleName.</a:t>
            </a:r>
            <a:endParaRPr lang="en-US" sz="1050" dirty="0"/>
          </a:p>
        </p:txBody>
      </p:sp>
      <p:sp>
        <p:nvSpPr>
          <p:cNvPr id="21" name="Text 19"/>
          <p:cNvSpPr/>
          <p:nvPr/>
        </p:nvSpPr>
        <p:spPr>
          <a:xfrm>
            <a:off x="6455664" y="2770632"/>
            <a:ext cx="310896" cy="310896"/>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20"/>
          <p:cNvSpPr/>
          <p:nvPr/>
        </p:nvSpPr>
        <p:spPr>
          <a:xfrm>
            <a:off x="6894576" y="2743200"/>
            <a:ext cx="4636008" cy="493776"/>
          </a:xfrm>
          <a:prstGeom prst="rect">
            <a:avLst/>
          </a:prstGeom>
          <a:noFill/>
          <a:ln/>
        </p:spPr>
        <p:txBody>
          <a:bodyPr wrap="square" lIns="0" tIns="0" rIns="0" bIns="0" rtlCol="0" anchor="t"/>
          <a:lstStyle/>
          <a:p>
            <a:pPr indent="0" marL="0">
              <a:lnSpc>
                <a:spcPct val="108000"/>
              </a:lnSpc>
              <a:buNone/>
            </a:pPr>
            <a:r>
              <a:rPr lang="en-US" sz="1050" dirty="0">
                <a:solidFill>
                  <a:srgbClr val="1F2A24"/>
                </a:solidFill>
                <a:latin typeface="Calibri" pitchFamily="34" charset="0"/>
                <a:ea typeface="Calibri" pitchFamily="34" charset="-122"/>
                <a:cs typeface="Calibri" pitchFamily="34" charset="-120"/>
              </a:rPr>
              <a:t>authInterceptor attaches Authorization: Bearer &lt;jwt&gt; to the outgoing request (login / register / refresh are skipped).</a:t>
            </a:r>
            <a:endParaRPr lang="en-US" sz="1050" dirty="0"/>
          </a:p>
        </p:txBody>
      </p:sp>
      <p:sp>
        <p:nvSpPr>
          <p:cNvPr id="23" name="Text 21"/>
          <p:cNvSpPr/>
          <p:nvPr/>
        </p:nvSpPr>
        <p:spPr>
          <a:xfrm>
            <a:off x="6455664" y="3319272"/>
            <a:ext cx="310896" cy="310896"/>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2"/>
          <p:cNvSpPr/>
          <p:nvPr/>
        </p:nvSpPr>
        <p:spPr>
          <a:xfrm>
            <a:off x="6894576" y="3291840"/>
            <a:ext cx="4636008" cy="493776"/>
          </a:xfrm>
          <a:prstGeom prst="rect">
            <a:avLst/>
          </a:prstGeom>
          <a:noFill/>
          <a:ln/>
        </p:spPr>
        <p:txBody>
          <a:bodyPr wrap="square" lIns="0" tIns="0" rIns="0" bIns="0" rtlCol="0" anchor="t"/>
          <a:lstStyle/>
          <a:p>
            <a:pPr indent="0" marL="0">
              <a:lnSpc>
                <a:spcPct val="108000"/>
              </a:lnSpc>
              <a:buNone/>
            </a:pPr>
            <a:r>
              <a:rPr lang="en-US" sz="1050" dirty="0">
                <a:solidFill>
                  <a:srgbClr val="1F2A24"/>
                </a:solidFill>
                <a:latin typeface="Calibri" pitchFamily="34" charset="0"/>
                <a:ea typeface="Calibri" pitchFamily="34" charset="-122"/>
                <a:cs typeface="Calibri" pitchFamily="34" charset="-120"/>
              </a:rPr>
              <a:t>The gateway matches the path prefix and Eureka resolves the target service instance.</a:t>
            </a:r>
            <a:endParaRPr lang="en-US" sz="1050" dirty="0"/>
          </a:p>
        </p:txBody>
      </p:sp>
      <p:sp>
        <p:nvSpPr>
          <p:cNvPr id="25" name="Text 23"/>
          <p:cNvSpPr/>
          <p:nvPr/>
        </p:nvSpPr>
        <p:spPr>
          <a:xfrm>
            <a:off x="6455664" y="3867912"/>
            <a:ext cx="310896" cy="310896"/>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6894576" y="3840480"/>
            <a:ext cx="4636008" cy="493776"/>
          </a:xfrm>
          <a:prstGeom prst="rect">
            <a:avLst/>
          </a:prstGeom>
          <a:noFill/>
          <a:ln/>
        </p:spPr>
        <p:txBody>
          <a:bodyPr wrap="square" lIns="0" tIns="0" rIns="0" bIns="0" rtlCol="0" anchor="t"/>
          <a:lstStyle/>
          <a:p>
            <a:pPr indent="0" marL="0">
              <a:lnSpc>
                <a:spcPct val="108000"/>
              </a:lnSpc>
              <a:buNone/>
            </a:pPr>
            <a:r>
              <a:rPr lang="en-US" sz="1050" dirty="0">
                <a:solidFill>
                  <a:srgbClr val="1F2A24"/>
                </a:solidFill>
                <a:latin typeface="Calibri" pitchFamily="34" charset="0"/>
                <a:ea typeface="Calibri" pitchFamily="34" charset="-122"/>
                <a:cs typeface="Calibri" pitchFamily="34" charset="-120"/>
              </a:rPr>
              <a:t>JwtAuthFilter verifies the HMAC signature and extracts userId + role — no call back to iam-service.</a:t>
            </a:r>
            <a:endParaRPr lang="en-US" sz="1050" dirty="0"/>
          </a:p>
        </p:txBody>
      </p:sp>
      <p:sp>
        <p:nvSpPr>
          <p:cNvPr id="27" name="Text 25"/>
          <p:cNvSpPr/>
          <p:nvPr/>
        </p:nvSpPr>
        <p:spPr>
          <a:xfrm>
            <a:off x="6455664" y="4416552"/>
            <a:ext cx="310896" cy="310896"/>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6894576" y="4389120"/>
            <a:ext cx="4636008" cy="493776"/>
          </a:xfrm>
          <a:prstGeom prst="rect">
            <a:avLst/>
          </a:prstGeom>
          <a:noFill/>
          <a:ln/>
        </p:spPr>
        <p:txBody>
          <a:bodyPr wrap="square" lIns="0" tIns="0" rIns="0" bIns="0" rtlCol="0" anchor="t"/>
          <a:lstStyle/>
          <a:p>
            <a:pPr indent="0" marL="0">
              <a:lnSpc>
                <a:spcPct val="108000"/>
              </a:lnSpc>
              <a:buNone/>
            </a:pPr>
            <a:r>
              <a:rPr lang="en-US" sz="1050" dirty="0">
                <a:solidFill>
                  <a:srgbClr val="1F2A24"/>
                </a:solidFill>
                <a:latin typeface="Calibri" pitchFamily="34" charset="0"/>
                <a:ea typeface="Calibri" pitchFamily="34" charset="-122"/>
                <a:cs typeface="Calibri" pitchFamily="34" charset="-120"/>
              </a:rPr>
              <a:t>SecurityConfig checks role against URL + HTTP method; the service layer then applies ownership rules.</a:t>
            </a:r>
            <a:endParaRPr lang="en-US" sz="1050" dirty="0"/>
          </a:p>
        </p:txBody>
      </p:sp>
      <p:sp>
        <p:nvSpPr>
          <p:cNvPr id="29" name="Text 27"/>
          <p:cNvSpPr/>
          <p:nvPr/>
        </p:nvSpPr>
        <p:spPr>
          <a:xfrm>
            <a:off x="6455664" y="4965192"/>
            <a:ext cx="310896" cy="310896"/>
          </a:xfrm>
          <a:prstGeom prst="ellipse">
            <a:avLst/>
          </a:prstGeom>
          <a:solidFill>
            <a:srgbClr val="2C5F2D"/>
          </a:solidFill>
          <a:ln w="12700">
            <a:solidFill>
              <a:srgbClr val="2C5F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894576" y="4937760"/>
            <a:ext cx="4636008" cy="493776"/>
          </a:xfrm>
          <a:prstGeom prst="rect">
            <a:avLst/>
          </a:prstGeom>
          <a:noFill/>
          <a:ln/>
        </p:spPr>
        <p:txBody>
          <a:bodyPr wrap="square" lIns="0" tIns="0" rIns="0" bIns="0" rtlCol="0" anchor="t"/>
          <a:lstStyle/>
          <a:p>
            <a:pPr indent="0" marL="0">
              <a:lnSpc>
                <a:spcPct val="108000"/>
              </a:lnSpc>
              <a:buNone/>
            </a:pPr>
            <a:r>
              <a:rPr lang="en-US" sz="1050" dirty="0">
                <a:solidFill>
                  <a:srgbClr val="1F2A24"/>
                </a:solidFill>
                <a:latin typeface="Calibri" pitchFamily="34" charset="0"/>
                <a:ea typeface="Calibri" pitchFamily="34" charset="-122"/>
                <a:cs typeface="Calibri" pitchFamily="34" charset="-120"/>
              </a:rPr>
              <a:t>The repository query runs and DTOs are returned as JSON — a Farmer receives only their own rows.</a:t>
            </a:r>
            <a:endParaRPr lang="en-US" sz="1050" dirty="0"/>
          </a:p>
        </p:txBody>
      </p:sp>
      <p:sp>
        <p:nvSpPr>
          <p:cNvPr id="31" name="Shape 29"/>
          <p:cNvSpPr/>
          <p:nvPr/>
        </p:nvSpPr>
        <p:spPr>
          <a:xfrm>
            <a:off x="411480" y="5715000"/>
            <a:ext cx="11384280" cy="868680"/>
          </a:xfrm>
          <a:prstGeom prst="roundRect">
            <a:avLst>
              <a:gd name="adj" fmla="val 5263"/>
            </a:avLst>
          </a:prstGeom>
          <a:solidFill>
            <a:srgbClr val="2C5F2D"/>
          </a:solidFill>
          <a:ln w="12700">
            <a:solidFill>
              <a:srgbClr val="2C5F2D"/>
            </a:solidFill>
            <a:prstDash val="solid"/>
          </a:ln>
        </p:spPr>
      </p:sp>
      <p:sp>
        <p:nvSpPr>
          <p:cNvPr id="32" name="Text 30"/>
          <p:cNvSpPr/>
          <p:nvPr/>
        </p:nvSpPr>
        <p:spPr>
          <a:xfrm>
            <a:off x="658368" y="5769864"/>
            <a:ext cx="10881360" cy="758952"/>
          </a:xfrm>
          <a:prstGeom prst="rect">
            <a:avLst/>
          </a:prstGeom>
          <a:noFill/>
          <a:ln/>
        </p:spPr>
        <p:txBody>
          <a:bodyPr wrap="square" lIns="0" tIns="0" rIns="0" bIns="0" rtlCol="0" anchor="ctr"/>
          <a:lstStyle/>
          <a:p>
            <a:pPr indent="0" marL="0">
              <a:lnSpc>
                <a:spcPct val="115000"/>
              </a:lnSpc>
              <a:buNone/>
            </a:pPr>
            <a:r>
              <a:rPr lang="en-US" sz="1150" b="1" dirty="0">
                <a:solidFill>
                  <a:srgbClr val="97BC62"/>
                </a:solidFill>
                <a:latin typeface="Calibri" pitchFamily="34" charset="0"/>
                <a:ea typeface="Calibri" pitchFamily="34" charset="-122"/>
                <a:cs typeface="Calibri" pitchFamily="34" charset="-120"/>
              </a:rPr>
              <a:t>Token expired? </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This backend answers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403</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 not 401. authInterceptor catches 401/403, calls /session/refresh exactly once (a concurrency flag makes parallel failures wait), retries the original request, and the user sees nothing. If refresh fails, the session is cleared and it redirects to /login.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11155680" cy="256032"/>
          </a:xfrm>
          <a:prstGeom prst="rect">
            <a:avLst/>
          </a:prstGeom>
          <a:noFill/>
          <a:ln/>
        </p:spPr>
        <p:txBody>
          <a:bodyPr wrap="square" lIns="0" tIns="0" rIns="0" bIns="0" rtlCol="0" anchor="ctr"/>
          <a:lstStyle/>
          <a:p>
            <a:pPr indent="0" marL="0">
              <a:buNone/>
            </a:pPr>
            <a:r>
              <a:rPr lang="en-US" sz="1100" b="1" spc="250" kern="0" dirty="0">
                <a:solidFill>
                  <a:srgbClr val="5F8A3E"/>
                </a:solidFill>
                <a:latin typeface="Calibri" pitchFamily="34" charset="0"/>
                <a:ea typeface="Calibri" pitchFamily="34" charset="-122"/>
                <a:cs typeface="Calibri" pitchFamily="34" charset="-120"/>
              </a:rPr>
              <a:t>BACKEND ANATOMY</a:t>
            </a:r>
            <a:endParaRPr lang="en-US" sz="1100" dirty="0"/>
          </a:p>
        </p:txBody>
      </p:sp>
      <p:sp>
        <p:nvSpPr>
          <p:cNvPr id="3" name="Text 1"/>
          <p:cNvSpPr/>
          <p:nvPr/>
        </p:nvSpPr>
        <p:spPr>
          <a:xfrm>
            <a:off x="502920" y="548640"/>
            <a:ext cx="11155680" cy="502920"/>
          </a:xfrm>
          <a:prstGeom prst="rect">
            <a:avLst/>
          </a:prstGeom>
          <a:noFill/>
          <a:ln/>
        </p:spPr>
        <p:txBody>
          <a:bodyPr wrap="square" lIns="0" tIns="0" rIns="0" bIns="0" rtlCol="0" anchor="t"/>
          <a:lstStyle/>
          <a:p>
            <a:pPr indent="0" marL="0">
              <a:buNone/>
            </a:pPr>
            <a:r>
              <a:rPr lang="en-US" sz="3000" b="1" dirty="0">
                <a:solidFill>
                  <a:srgbClr val="1F2A24"/>
                </a:solidFill>
                <a:latin typeface="Cambria" pitchFamily="34" charset="0"/>
                <a:ea typeface="Cambria" pitchFamily="34" charset="-122"/>
                <a:cs typeface="Cambria" pitchFamily="34" charset="-120"/>
              </a:rPr>
              <a:t>Inside One Service — the Same Skeleton Eight Times</a:t>
            </a:r>
            <a:endParaRPr lang="en-US" sz="3000" dirty="0"/>
          </a:p>
        </p:txBody>
      </p:sp>
      <p:sp>
        <p:nvSpPr>
          <p:cNvPr id="4" name="Text 2"/>
          <p:cNvSpPr/>
          <p:nvPr/>
        </p:nvSpPr>
        <p:spPr>
          <a:xfrm>
            <a:off x="502920" y="1078992"/>
            <a:ext cx="11155680" cy="310896"/>
          </a:xfrm>
          <a:prstGeom prst="rect">
            <a:avLst/>
          </a:prstGeom>
          <a:noFill/>
          <a:ln/>
        </p:spPr>
        <p:txBody>
          <a:bodyPr wrap="square" lIns="0" tIns="0" rIns="0" bIns="0" rtlCol="0" anchor="t"/>
          <a:lstStyle/>
          <a:p>
            <a:pPr indent="0" marL="0">
              <a:buNone/>
            </a:pPr>
            <a:r>
              <a:rPr lang="en-US" sz="1250" dirty="0">
                <a:solidFill>
                  <a:srgbClr val="5F6E64"/>
                </a:solidFill>
                <a:latin typeface="Calibri" pitchFamily="34" charset="0"/>
                <a:ea typeface="Calibri" pitchFamily="34" charset="-122"/>
                <a:cs typeface="Calibri" pitchFamily="34" charset="-120"/>
              </a:rPr>
              <a:t>Every microservice is layered the same way, so once you can read one you can read all of them.</a:t>
            </a:r>
            <a:endParaRPr lang="en-US" sz="1250" dirty="0"/>
          </a:p>
        </p:txBody>
      </p:sp>
      <p:sp>
        <p:nvSpPr>
          <p:cNvPr id="5" name="Shape 3"/>
          <p:cNvSpPr/>
          <p:nvPr/>
        </p:nvSpPr>
        <p:spPr>
          <a:xfrm>
            <a:off x="411480" y="1783080"/>
            <a:ext cx="3794760" cy="749808"/>
          </a:xfrm>
          <a:prstGeom prst="roundRect">
            <a:avLst>
              <a:gd name="adj" fmla="val 6098"/>
            </a:avLst>
          </a:prstGeom>
          <a:solidFill>
            <a:srgbClr val="EDF3E8"/>
          </a:solidFill>
          <a:ln w="12700">
            <a:solidFill>
              <a:srgbClr val="97BC62"/>
            </a:solidFill>
            <a:prstDash val="solid"/>
          </a:ln>
        </p:spPr>
      </p:sp>
      <p:sp>
        <p:nvSpPr>
          <p:cNvPr id="6" name="Text 4"/>
          <p:cNvSpPr/>
          <p:nvPr/>
        </p:nvSpPr>
        <p:spPr>
          <a:xfrm>
            <a:off x="612648" y="1828800"/>
            <a:ext cx="3392424" cy="658368"/>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controller</a:t>
            </a:r>
            <a:endParaRPr lang="en-US" sz="1300" dirty="0"/>
          </a:p>
          <a:p>
            <a:pPr indent="0" marL="0">
              <a:buNone/>
            </a:pPr>
            <a:r>
              <a:rPr lang="en-US" sz="950" dirty="0">
                <a:solidFill>
                  <a:srgbClr val="5F6E64"/>
                </a:solidFill>
                <a:latin typeface="Calibri" pitchFamily="34" charset="0"/>
                <a:ea typeface="Calibri" pitchFamily="34" charset="-122"/>
                <a:cs typeface="Calibri" pitchFamily="34" charset="-120"/>
              </a:rPr>
              <a:t>REST endpoints, role checks, returns DTOs</a:t>
            </a:r>
            <a:endParaRPr lang="en-US" sz="1300" dirty="0"/>
          </a:p>
        </p:txBody>
      </p:sp>
      <p:sp>
        <p:nvSpPr>
          <p:cNvPr id="7" name="Shape 5"/>
          <p:cNvSpPr/>
          <p:nvPr/>
        </p:nvSpPr>
        <p:spPr>
          <a:xfrm>
            <a:off x="2308860" y="2551176"/>
            <a:ext cx="0" cy="118872"/>
          </a:xfrm>
          <a:prstGeom prst="line">
            <a:avLst/>
          </a:prstGeom>
          <a:noFill/>
          <a:ln w="22225">
            <a:solidFill>
              <a:srgbClr val="5F8A3E"/>
            </a:solidFill>
            <a:prstDash val="solid"/>
            <a:tailEnd type="triangle"/>
          </a:ln>
        </p:spPr>
      </p:sp>
      <p:sp>
        <p:nvSpPr>
          <p:cNvPr id="8" name="Shape 6"/>
          <p:cNvSpPr/>
          <p:nvPr/>
        </p:nvSpPr>
        <p:spPr>
          <a:xfrm>
            <a:off x="411480" y="2697480"/>
            <a:ext cx="3794760" cy="749808"/>
          </a:xfrm>
          <a:prstGeom prst="roundRect">
            <a:avLst>
              <a:gd name="adj" fmla="val 6098"/>
            </a:avLst>
          </a:prstGeom>
          <a:solidFill>
            <a:srgbClr val="EDF3E8"/>
          </a:solidFill>
          <a:ln w="12700">
            <a:solidFill>
              <a:srgbClr val="97BC62"/>
            </a:solidFill>
            <a:prstDash val="solid"/>
          </a:ln>
        </p:spPr>
      </p:sp>
      <p:sp>
        <p:nvSpPr>
          <p:cNvPr id="9" name="Text 7"/>
          <p:cNvSpPr/>
          <p:nvPr/>
        </p:nvSpPr>
        <p:spPr>
          <a:xfrm>
            <a:off x="612648" y="2743200"/>
            <a:ext cx="3392424" cy="658368"/>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service</a:t>
            </a:r>
            <a:endParaRPr lang="en-US" sz="1300" dirty="0"/>
          </a:p>
          <a:p>
            <a:pPr indent="0" marL="0">
              <a:buNone/>
            </a:pPr>
            <a:r>
              <a:rPr lang="en-US" sz="950" dirty="0">
                <a:solidFill>
                  <a:srgbClr val="5F6E64"/>
                </a:solidFill>
                <a:latin typeface="Calibri" pitchFamily="34" charset="0"/>
                <a:ea typeface="Calibri" pitchFamily="34" charset="-122"/>
                <a:cs typeface="Calibri" pitchFamily="34" charset="-120"/>
              </a:rPr>
              <a:t>business rules and validation — the brain</a:t>
            </a:r>
            <a:endParaRPr lang="en-US" sz="1300" dirty="0"/>
          </a:p>
        </p:txBody>
      </p:sp>
      <p:sp>
        <p:nvSpPr>
          <p:cNvPr id="10" name="Shape 8"/>
          <p:cNvSpPr/>
          <p:nvPr/>
        </p:nvSpPr>
        <p:spPr>
          <a:xfrm>
            <a:off x="2308860" y="3465576"/>
            <a:ext cx="0" cy="118872"/>
          </a:xfrm>
          <a:prstGeom prst="line">
            <a:avLst/>
          </a:prstGeom>
          <a:noFill/>
          <a:ln w="22225">
            <a:solidFill>
              <a:srgbClr val="5F8A3E"/>
            </a:solidFill>
            <a:prstDash val="solid"/>
            <a:tailEnd type="triangle"/>
          </a:ln>
        </p:spPr>
      </p:sp>
      <p:sp>
        <p:nvSpPr>
          <p:cNvPr id="11" name="Shape 9"/>
          <p:cNvSpPr/>
          <p:nvPr/>
        </p:nvSpPr>
        <p:spPr>
          <a:xfrm>
            <a:off x="411480" y="3611880"/>
            <a:ext cx="3794760" cy="749808"/>
          </a:xfrm>
          <a:prstGeom prst="roundRect">
            <a:avLst>
              <a:gd name="adj" fmla="val 6098"/>
            </a:avLst>
          </a:prstGeom>
          <a:solidFill>
            <a:srgbClr val="EDF3E8"/>
          </a:solidFill>
          <a:ln w="12700">
            <a:solidFill>
              <a:srgbClr val="97BC62"/>
            </a:solidFill>
            <a:prstDash val="solid"/>
          </a:ln>
        </p:spPr>
      </p:sp>
      <p:sp>
        <p:nvSpPr>
          <p:cNvPr id="12" name="Text 10"/>
          <p:cNvSpPr/>
          <p:nvPr/>
        </p:nvSpPr>
        <p:spPr>
          <a:xfrm>
            <a:off x="612648" y="3657600"/>
            <a:ext cx="3392424" cy="658368"/>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repository</a:t>
            </a:r>
            <a:endParaRPr lang="en-US" sz="1300" dirty="0"/>
          </a:p>
          <a:p>
            <a:pPr indent="0" marL="0">
              <a:buNone/>
            </a:pPr>
            <a:r>
              <a:rPr lang="en-US" sz="950" dirty="0">
                <a:solidFill>
                  <a:srgbClr val="5F6E64"/>
                </a:solidFill>
                <a:latin typeface="Calibri" pitchFamily="34" charset="0"/>
                <a:ea typeface="Calibri" pitchFamily="34" charset="-122"/>
                <a:cs typeface="Calibri" pitchFamily="34" charset="-120"/>
              </a:rPr>
              <a:t>Spring Data JPA on top of the entities</a:t>
            </a:r>
            <a:endParaRPr lang="en-US" sz="1300" dirty="0"/>
          </a:p>
        </p:txBody>
      </p:sp>
      <p:sp>
        <p:nvSpPr>
          <p:cNvPr id="13" name="Shape 11"/>
          <p:cNvSpPr/>
          <p:nvPr/>
        </p:nvSpPr>
        <p:spPr>
          <a:xfrm>
            <a:off x="2308860" y="4379976"/>
            <a:ext cx="0" cy="118872"/>
          </a:xfrm>
          <a:prstGeom prst="line">
            <a:avLst/>
          </a:prstGeom>
          <a:noFill/>
          <a:ln w="22225">
            <a:solidFill>
              <a:srgbClr val="5F8A3E"/>
            </a:solidFill>
            <a:prstDash val="solid"/>
            <a:tailEnd type="triangle"/>
          </a:ln>
        </p:spPr>
      </p:sp>
      <p:sp>
        <p:nvSpPr>
          <p:cNvPr id="14" name="Shape 12"/>
          <p:cNvSpPr/>
          <p:nvPr/>
        </p:nvSpPr>
        <p:spPr>
          <a:xfrm>
            <a:off x="411480" y="4526280"/>
            <a:ext cx="3794760" cy="749808"/>
          </a:xfrm>
          <a:prstGeom prst="roundRect">
            <a:avLst>
              <a:gd name="adj" fmla="val 6098"/>
            </a:avLst>
          </a:prstGeom>
          <a:solidFill>
            <a:srgbClr val="2C5F2D"/>
          </a:solidFill>
          <a:ln w="12700">
            <a:solidFill>
              <a:srgbClr val="2C5F2D"/>
            </a:solidFill>
            <a:prstDash val="solid"/>
          </a:ln>
        </p:spPr>
      </p:sp>
      <p:sp>
        <p:nvSpPr>
          <p:cNvPr id="15" name="Text 13"/>
          <p:cNvSpPr/>
          <p:nvPr/>
        </p:nvSpPr>
        <p:spPr>
          <a:xfrm>
            <a:off x="612648" y="4572000"/>
            <a:ext cx="3392424"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MySQL</a:t>
            </a:r>
            <a:endParaRPr lang="en-US" sz="1300" dirty="0"/>
          </a:p>
          <a:p>
            <a:pPr indent="0" marL="0">
              <a:buNone/>
            </a:pPr>
            <a:r>
              <a:rPr lang="en-US" sz="950" dirty="0">
                <a:solidFill>
                  <a:srgbClr val="D7E3CE"/>
                </a:solidFill>
                <a:latin typeface="Calibri" pitchFamily="34" charset="0"/>
                <a:ea typeface="Calibri" pitchFamily="34" charset="-122"/>
                <a:cs typeface="Calibri" pitchFamily="34" charset="-120"/>
              </a:rPr>
              <a:t>one schema owned by this service alone</a:t>
            </a:r>
            <a:endParaRPr lang="en-US" sz="1300" dirty="0"/>
          </a:p>
        </p:txBody>
      </p:sp>
      <p:sp>
        <p:nvSpPr>
          <p:cNvPr id="16" name="Text 14"/>
          <p:cNvSpPr/>
          <p:nvPr/>
        </p:nvSpPr>
        <p:spPr>
          <a:xfrm>
            <a:off x="4617720" y="1536192"/>
            <a:ext cx="7132320" cy="237744"/>
          </a:xfrm>
          <a:prstGeom prst="rect">
            <a:avLst/>
          </a:prstGeom>
          <a:noFill/>
          <a:ln/>
        </p:spPr>
        <p:txBody>
          <a:bodyPr wrap="square" lIns="0" tIns="0" rIns="0" bIns="0" rtlCol="0" anchor="ctr"/>
          <a:lstStyle/>
          <a:p>
            <a:pPr indent="0" marL="0">
              <a:buNone/>
            </a:pPr>
            <a:r>
              <a:rPr lang="en-US" sz="1100" b="1" spc="150" kern="0" dirty="0">
                <a:solidFill>
                  <a:srgbClr val="5F8A3E"/>
                </a:solidFill>
                <a:latin typeface="Calibri" pitchFamily="34" charset="0"/>
                <a:ea typeface="Calibri" pitchFamily="34" charset="-122"/>
                <a:cs typeface="Calibri" pitchFamily="34" charset="-120"/>
              </a:rPr>
              <a:t>Supporting packages</a:t>
            </a:r>
            <a:endParaRPr lang="en-US" sz="1100" dirty="0"/>
          </a:p>
        </p:txBody>
      </p:sp>
      <p:sp>
        <p:nvSpPr>
          <p:cNvPr id="17" name="Shape 15"/>
          <p:cNvSpPr/>
          <p:nvPr/>
        </p:nvSpPr>
        <p:spPr>
          <a:xfrm>
            <a:off x="4617720" y="1810512"/>
            <a:ext cx="2231136" cy="960120"/>
          </a:xfrm>
          <a:prstGeom prst="roundRect">
            <a:avLst>
              <a:gd name="adj" fmla="val 4762"/>
            </a:avLst>
          </a:prstGeom>
          <a:solidFill>
            <a:srgbClr val="FFFFFF"/>
          </a:solidFill>
          <a:ln w="12700">
            <a:solidFill>
              <a:srgbClr val="C9D9BC"/>
            </a:solidFill>
            <a:prstDash val="solid"/>
          </a:ln>
        </p:spPr>
      </p:sp>
      <p:sp>
        <p:nvSpPr>
          <p:cNvPr id="18" name="Text 16"/>
          <p:cNvSpPr/>
          <p:nvPr/>
        </p:nvSpPr>
        <p:spPr>
          <a:xfrm>
            <a:off x="4764024" y="1856232"/>
            <a:ext cx="1938528" cy="868680"/>
          </a:xfrm>
          <a:prstGeom prst="rect">
            <a:avLst/>
          </a:prstGeom>
          <a:noFill/>
          <a:ln/>
        </p:spPr>
        <p:txBody>
          <a:bodyPr wrap="square" lIns="0" tIns="0" rIns="0" bIns="0"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entity/</a:t>
            </a:r>
            <a:endParaRPr lang="en-US" sz="1100" dirty="0"/>
          </a:p>
          <a:p>
            <a:pPr indent="0" marL="0">
              <a:buNone/>
            </a:pPr>
            <a:r>
              <a:rPr lang="en-US" sz="850" dirty="0">
                <a:solidFill>
                  <a:srgbClr val="5F6E64"/>
                </a:solidFill>
                <a:latin typeface="Calibri" pitchFamily="34" charset="0"/>
                <a:ea typeface="Calibri" pitchFamily="34" charset="-122"/>
                <a:cs typeface="Calibri" pitchFamily="34" charset="-120"/>
              </a:rPr>
              <a:t>@Entity classes mapped to tables</a:t>
            </a:r>
            <a:endParaRPr lang="en-US" sz="1100" dirty="0"/>
          </a:p>
        </p:txBody>
      </p:sp>
      <p:sp>
        <p:nvSpPr>
          <p:cNvPr id="19" name="Shape 17"/>
          <p:cNvSpPr/>
          <p:nvPr/>
        </p:nvSpPr>
        <p:spPr>
          <a:xfrm>
            <a:off x="7068312" y="1810512"/>
            <a:ext cx="2231136" cy="960120"/>
          </a:xfrm>
          <a:prstGeom prst="roundRect">
            <a:avLst>
              <a:gd name="adj" fmla="val 4762"/>
            </a:avLst>
          </a:prstGeom>
          <a:solidFill>
            <a:srgbClr val="FFFFFF"/>
          </a:solidFill>
          <a:ln w="12700">
            <a:solidFill>
              <a:srgbClr val="C9D9BC"/>
            </a:solidFill>
            <a:prstDash val="solid"/>
          </a:ln>
        </p:spPr>
      </p:sp>
      <p:sp>
        <p:nvSpPr>
          <p:cNvPr id="20" name="Text 18"/>
          <p:cNvSpPr/>
          <p:nvPr/>
        </p:nvSpPr>
        <p:spPr>
          <a:xfrm>
            <a:off x="7214616" y="1856232"/>
            <a:ext cx="1938528" cy="868680"/>
          </a:xfrm>
          <a:prstGeom prst="rect">
            <a:avLst/>
          </a:prstGeom>
          <a:noFill/>
          <a:ln/>
        </p:spPr>
        <p:txBody>
          <a:bodyPr wrap="square" lIns="0" tIns="0" rIns="0" bIns="0"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dto/</a:t>
            </a:r>
            <a:endParaRPr lang="en-US" sz="1100" dirty="0"/>
          </a:p>
          <a:p>
            <a:pPr indent="0" marL="0">
              <a:buNone/>
            </a:pPr>
            <a:r>
              <a:rPr lang="en-US" sz="850" dirty="0">
                <a:solidFill>
                  <a:srgbClr val="5F6E64"/>
                </a:solidFill>
                <a:latin typeface="Calibri" pitchFamily="34" charset="0"/>
                <a:ea typeface="Calibri" pitchFamily="34" charset="-122"/>
                <a:cs typeface="Calibri" pitchFamily="34" charset="-120"/>
              </a:rPr>
              <a:t>the shape sent over HTTP</a:t>
            </a:r>
            <a:endParaRPr lang="en-US" sz="1100" dirty="0"/>
          </a:p>
        </p:txBody>
      </p:sp>
      <p:sp>
        <p:nvSpPr>
          <p:cNvPr id="21" name="Shape 19"/>
          <p:cNvSpPr/>
          <p:nvPr/>
        </p:nvSpPr>
        <p:spPr>
          <a:xfrm>
            <a:off x="9518904" y="1810512"/>
            <a:ext cx="2231136" cy="960120"/>
          </a:xfrm>
          <a:prstGeom prst="roundRect">
            <a:avLst>
              <a:gd name="adj" fmla="val 4762"/>
            </a:avLst>
          </a:prstGeom>
          <a:solidFill>
            <a:srgbClr val="FFFFFF"/>
          </a:solidFill>
          <a:ln w="12700">
            <a:solidFill>
              <a:srgbClr val="C9D9BC"/>
            </a:solidFill>
            <a:prstDash val="solid"/>
          </a:ln>
        </p:spPr>
      </p:sp>
      <p:sp>
        <p:nvSpPr>
          <p:cNvPr id="22" name="Text 20"/>
          <p:cNvSpPr/>
          <p:nvPr/>
        </p:nvSpPr>
        <p:spPr>
          <a:xfrm>
            <a:off x="9665208" y="1856232"/>
            <a:ext cx="1938528" cy="868680"/>
          </a:xfrm>
          <a:prstGeom prst="rect">
            <a:avLst/>
          </a:prstGeom>
          <a:noFill/>
          <a:ln/>
        </p:spPr>
        <p:txBody>
          <a:bodyPr wrap="square" lIns="0" tIns="0" rIns="0" bIns="0"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enums/</a:t>
            </a:r>
            <a:endParaRPr lang="en-US" sz="1100" dirty="0"/>
          </a:p>
          <a:p>
            <a:pPr indent="0" marL="0">
              <a:buNone/>
            </a:pPr>
            <a:r>
              <a:rPr lang="en-US" sz="850" dirty="0">
                <a:solidFill>
                  <a:srgbClr val="5F6E64"/>
                </a:solidFill>
                <a:latin typeface="Calibri" pitchFamily="34" charset="0"/>
                <a:ea typeface="Calibri" pitchFamily="34" charset="-122"/>
                <a:cs typeface="Calibri" pitchFamily="34" charset="-120"/>
              </a:rPr>
              <a:t>fixed value sets, stored as strings</a:t>
            </a:r>
            <a:endParaRPr lang="en-US" sz="1100" dirty="0"/>
          </a:p>
        </p:txBody>
      </p:sp>
      <p:sp>
        <p:nvSpPr>
          <p:cNvPr id="23" name="Shape 21"/>
          <p:cNvSpPr/>
          <p:nvPr/>
        </p:nvSpPr>
        <p:spPr>
          <a:xfrm>
            <a:off x="4617720" y="2980944"/>
            <a:ext cx="2231136" cy="960120"/>
          </a:xfrm>
          <a:prstGeom prst="roundRect">
            <a:avLst>
              <a:gd name="adj" fmla="val 4762"/>
            </a:avLst>
          </a:prstGeom>
          <a:solidFill>
            <a:srgbClr val="FFFFFF"/>
          </a:solidFill>
          <a:ln w="12700">
            <a:solidFill>
              <a:srgbClr val="C9D9BC"/>
            </a:solidFill>
            <a:prstDash val="solid"/>
          </a:ln>
        </p:spPr>
      </p:sp>
      <p:sp>
        <p:nvSpPr>
          <p:cNvPr id="24" name="Text 22"/>
          <p:cNvSpPr/>
          <p:nvPr/>
        </p:nvSpPr>
        <p:spPr>
          <a:xfrm>
            <a:off x="4764024" y="3026664"/>
            <a:ext cx="1938528" cy="868680"/>
          </a:xfrm>
          <a:prstGeom prst="rect">
            <a:avLst/>
          </a:prstGeom>
          <a:noFill/>
          <a:ln/>
        </p:spPr>
        <p:txBody>
          <a:bodyPr wrap="square" lIns="0" tIns="0" rIns="0" bIns="0"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security/</a:t>
            </a:r>
            <a:endParaRPr lang="en-US" sz="1100" dirty="0"/>
          </a:p>
          <a:p>
            <a:pPr indent="0" marL="0">
              <a:buNone/>
            </a:pPr>
            <a:r>
              <a:rPr lang="en-US" sz="850" dirty="0">
                <a:solidFill>
                  <a:srgbClr val="5F6E64"/>
                </a:solidFill>
                <a:latin typeface="Calibri" pitchFamily="34" charset="0"/>
                <a:ea typeface="Calibri" pitchFamily="34" charset="-122"/>
                <a:cs typeface="Calibri" pitchFamily="34" charset="-120"/>
              </a:rPr>
              <a:t>JwtAuthFilter + JwtUtil</a:t>
            </a:r>
            <a:endParaRPr lang="en-US" sz="1100" dirty="0"/>
          </a:p>
        </p:txBody>
      </p:sp>
      <p:sp>
        <p:nvSpPr>
          <p:cNvPr id="25" name="Shape 23"/>
          <p:cNvSpPr/>
          <p:nvPr/>
        </p:nvSpPr>
        <p:spPr>
          <a:xfrm>
            <a:off x="7068312" y="2980944"/>
            <a:ext cx="2231136" cy="960120"/>
          </a:xfrm>
          <a:prstGeom prst="roundRect">
            <a:avLst>
              <a:gd name="adj" fmla="val 4762"/>
            </a:avLst>
          </a:prstGeom>
          <a:solidFill>
            <a:srgbClr val="FFFFFF"/>
          </a:solidFill>
          <a:ln w="12700">
            <a:solidFill>
              <a:srgbClr val="C9D9BC"/>
            </a:solidFill>
            <a:prstDash val="solid"/>
          </a:ln>
        </p:spPr>
      </p:sp>
      <p:sp>
        <p:nvSpPr>
          <p:cNvPr id="26" name="Text 24"/>
          <p:cNvSpPr/>
          <p:nvPr/>
        </p:nvSpPr>
        <p:spPr>
          <a:xfrm>
            <a:off x="7214616" y="3026664"/>
            <a:ext cx="1938528" cy="868680"/>
          </a:xfrm>
          <a:prstGeom prst="rect">
            <a:avLst/>
          </a:prstGeom>
          <a:noFill/>
          <a:ln/>
        </p:spPr>
        <p:txBody>
          <a:bodyPr wrap="square" lIns="0" tIns="0" rIns="0" bIns="0"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config/</a:t>
            </a:r>
            <a:endParaRPr lang="en-US" sz="1100" dirty="0"/>
          </a:p>
          <a:p>
            <a:pPr indent="0" marL="0">
              <a:buNone/>
            </a:pPr>
            <a:r>
              <a:rPr lang="en-US" sz="850" dirty="0">
                <a:solidFill>
                  <a:srgbClr val="5F6E64"/>
                </a:solidFill>
                <a:latin typeface="Calibri" pitchFamily="34" charset="0"/>
                <a:ea typeface="Calibri" pitchFamily="34" charset="-122"/>
                <a:cs typeface="Calibri" pitchFamily="34" charset="-120"/>
              </a:rPr>
              <a:t>SecurityConfig: URL + method → roles</a:t>
            </a:r>
            <a:endParaRPr lang="en-US" sz="1100" dirty="0"/>
          </a:p>
        </p:txBody>
      </p:sp>
      <p:sp>
        <p:nvSpPr>
          <p:cNvPr id="27" name="Shape 25"/>
          <p:cNvSpPr/>
          <p:nvPr/>
        </p:nvSpPr>
        <p:spPr>
          <a:xfrm>
            <a:off x="9518904" y="2980944"/>
            <a:ext cx="2231136" cy="960120"/>
          </a:xfrm>
          <a:prstGeom prst="roundRect">
            <a:avLst>
              <a:gd name="adj" fmla="val 4762"/>
            </a:avLst>
          </a:prstGeom>
          <a:solidFill>
            <a:srgbClr val="FFFFFF"/>
          </a:solidFill>
          <a:ln w="12700">
            <a:solidFill>
              <a:srgbClr val="C9D9BC"/>
            </a:solidFill>
            <a:prstDash val="solid"/>
          </a:ln>
        </p:spPr>
      </p:sp>
      <p:sp>
        <p:nvSpPr>
          <p:cNvPr id="28" name="Text 26"/>
          <p:cNvSpPr/>
          <p:nvPr/>
        </p:nvSpPr>
        <p:spPr>
          <a:xfrm>
            <a:off x="9665208" y="3026664"/>
            <a:ext cx="1938528" cy="868680"/>
          </a:xfrm>
          <a:prstGeom prst="rect">
            <a:avLst/>
          </a:prstGeom>
          <a:noFill/>
          <a:ln/>
        </p:spPr>
        <p:txBody>
          <a:bodyPr wrap="square" lIns="0" tIns="0" rIns="0" bIns="0"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client/</a:t>
            </a:r>
            <a:endParaRPr lang="en-US" sz="1100" dirty="0"/>
          </a:p>
          <a:p>
            <a:pPr indent="0" marL="0">
              <a:buNone/>
            </a:pPr>
            <a:r>
              <a:rPr lang="en-US" sz="850" dirty="0">
                <a:solidFill>
                  <a:srgbClr val="5F6E64"/>
                </a:solidFill>
                <a:latin typeface="Calibri" pitchFamily="34" charset="0"/>
                <a:ea typeface="Calibri" pitchFamily="34" charset="-122"/>
                <a:cs typeface="Calibri" pitchFamily="34" charset="-120"/>
              </a:rPr>
              <a:t>REST calls to other services</a:t>
            </a:r>
            <a:endParaRPr lang="en-US" sz="1100" dirty="0"/>
          </a:p>
        </p:txBody>
      </p:sp>
      <p:sp>
        <p:nvSpPr>
          <p:cNvPr id="29" name="Shape 27"/>
          <p:cNvSpPr/>
          <p:nvPr/>
        </p:nvSpPr>
        <p:spPr>
          <a:xfrm>
            <a:off x="4617720" y="4151376"/>
            <a:ext cx="2231136" cy="960120"/>
          </a:xfrm>
          <a:prstGeom prst="roundRect">
            <a:avLst>
              <a:gd name="adj" fmla="val 4762"/>
            </a:avLst>
          </a:prstGeom>
          <a:solidFill>
            <a:srgbClr val="FFFFFF"/>
          </a:solidFill>
          <a:ln w="12700">
            <a:solidFill>
              <a:srgbClr val="C9D9BC"/>
            </a:solidFill>
            <a:prstDash val="solid"/>
          </a:ln>
        </p:spPr>
      </p:sp>
      <p:sp>
        <p:nvSpPr>
          <p:cNvPr id="30" name="Text 28"/>
          <p:cNvSpPr/>
          <p:nvPr/>
        </p:nvSpPr>
        <p:spPr>
          <a:xfrm>
            <a:off x="4764024" y="4197096"/>
            <a:ext cx="1938528" cy="868680"/>
          </a:xfrm>
          <a:prstGeom prst="rect">
            <a:avLst/>
          </a:prstGeom>
          <a:noFill/>
          <a:ln/>
        </p:spPr>
        <p:txBody>
          <a:bodyPr wrap="square" lIns="0" tIns="0" rIns="0" bIns="0"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exception/</a:t>
            </a:r>
            <a:endParaRPr lang="en-US" sz="1100" dirty="0"/>
          </a:p>
          <a:p>
            <a:pPr indent="0" marL="0">
              <a:buNone/>
            </a:pPr>
            <a:r>
              <a:rPr lang="en-US" sz="850" dirty="0">
                <a:solidFill>
                  <a:srgbClr val="5F6E64"/>
                </a:solidFill>
                <a:latin typeface="Calibri" pitchFamily="34" charset="0"/>
                <a:ea typeface="Calibri" pitchFamily="34" charset="-122"/>
                <a:cs typeface="Calibri" pitchFamily="34" charset="-120"/>
              </a:rPr>
              <a:t>GlobalExceptionHandler → clean JSON</a:t>
            </a:r>
            <a:endParaRPr lang="en-US" sz="1100" dirty="0"/>
          </a:p>
        </p:txBody>
      </p:sp>
      <p:sp>
        <p:nvSpPr>
          <p:cNvPr id="31" name="Shape 29"/>
          <p:cNvSpPr/>
          <p:nvPr/>
        </p:nvSpPr>
        <p:spPr>
          <a:xfrm>
            <a:off x="7068312" y="4151376"/>
            <a:ext cx="2231136" cy="960120"/>
          </a:xfrm>
          <a:prstGeom prst="roundRect">
            <a:avLst>
              <a:gd name="adj" fmla="val 4762"/>
            </a:avLst>
          </a:prstGeom>
          <a:solidFill>
            <a:srgbClr val="FFFFFF"/>
          </a:solidFill>
          <a:ln w="12700">
            <a:solidFill>
              <a:srgbClr val="C9D9BC"/>
            </a:solidFill>
            <a:prstDash val="solid"/>
          </a:ln>
        </p:spPr>
      </p:sp>
      <p:sp>
        <p:nvSpPr>
          <p:cNvPr id="32" name="Text 30"/>
          <p:cNvSpPr/>
          <p:nvPr/>
        </p:nvSpPr>
        <p:spPr>
          <a:xfrm>
            <a:off x="7214616" y="4197096"/>
            <a:ext cx="1938528" cy="868680"/>
          </a:xfrm>
          <a:prstGeom prst="rect">
            <a:avLst/>
          </a:prstGeom>
          <a:noFill/>
          <a:ln/>
        </p:spPr>
        <p:txBody>
          <a:bodyPr wrap="square" lIns="0" tIns="0" rIns="0" bIns="0"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aspect/</a:t>
            </a:r>
            <a:endParaRPr lang="en-US" sz="1100" dirty="0"/>
          </a:p>
          <a:p>
            <a:pPr indent="0" marL="0">
              <a:buNone/>
            </a:pPr>
            <a:r>
              <a:rPr lang="en-US" sz="850" dirty="0">
                <a:solidFill>
                  <a:srgbClr val="5F6E64"/>
                </a:solidFill>
                <a:latin typeface="Calibri" pitchFamily="34" charset="0"/>
                <a:ea typeface="Calibri" pitchFamily="34" charset="-122"/>
                <a:cs typeface="Calibri" pitchFamily="34" charset="-120"/>
              </a:rPr>
              <a:t>AuditLoggingAspect on every write</a:t>
            </a:r>
            <a:endParaRPr lang="en-US" sz="1100" dirty="0"/>
          </a:p>
        </p:txBody>
      </p:sp>
      <p:sp>
        <p:nvSpPr>
          <p:cNvPr id="33" name="Shape 31"/>
          <p:cNvSpPr/>
          <p:nvPr/>
        </p:nvSpPr>
        <p:spPr>
          <a:xfrm>
            <a:off x="9518904" y="4151376"/>
            <a:ext cx="2231136" cy="960120"/>
          </a:xfrm>
          <a:prstGeom prst="roundRect">
            <a:avLst>
              <a:gd name="adj" fmla="val 4762"/>
            </a:avLst>
          </a:prstGeom>
          <a:solidFill>
            <a:srgbClr val="FFFFFF"/>
          </a:solidFill>
          <a:ln w="12700">
            <a:solidFill>
              <a:srgbClr val="C9D9BC"/>
            </a:solidFill>
            <a:prstDash val="solid"/>
          </a:ln>
        </p:spPr>
      </p:sp>
      <p:sp>
        <p:nvSpPr>
          <p:cNvPr id="34" name="Text 32"/>
          <p:cNvSpPr/>
          <p:nvPr/>
        </p:nvSpPr>
        <p:spPr>
          <a:xfrm>
            <a:off x="9665208" y="4197096"/>
            <a:ext cx="1938528" cy="868680"/>
          </a:xfrm>
          <a:prstGeom prst="rect">
            <a:avLst/>
          </a:prstGeom>
          <a:noFill/>
          <a:ln/>
        </p:spPr>
        <p:txBody>
          <a:bodyPr wrap="square" lIns="0" tIns="0" rIns="0" bIns="0"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Eureka client</a:t>
            </a:r>
            <a:endParaRPr lang="en-US" sz="1100" dirty="0"/>
          </a:p>
          <a:p>
            <a:pPr indent="0" marL="0">
              <a:buNone/>
            </a:pPr>
            <a:r>
              <a:rPr lang="en-US" sz="850" dirty="0">
                <a:solidFill>
                  <a:srgbClr val="5F6E64"/>
                </a:solidFill>
                <a:latin typeface="Calibri" pitchFamily="34" charset="0"/>
                <a:ea typeface="Calibri" pitchFamily="34" charset="-122"/>
                <a:cs typeface="Calibri" pitchFamily="34" charset="-120"/>
              </a:rPr>
              <a:t>registers itself on startup</a:t>
            </a:r>
            <a:endParaRPr lang="en-US" sz="1100" dirty="0"/>
          </a:p>
        </p:txBody>
      </p:sp>
      <p:sp>
        <p:nvSpPr>
          <p:cNvPr id="35" name="Shape 33"/>
          <p:cNvSpPr/>
          <p:nvPr/>
        </p:nvSpPr>
        <p:spPr>
          <a:xfrm>
            <a:off x="411480" y="5440680"/>
            <a:ext cx="11384280" cy="1051560"/>
          </a:xfrm>
          <a:prstGeom prst="roundRect">
            <a:avLst>
              <a:gd name="adj" fmla="val 4348"/>
            </a:avLst>
          </a:prstGeom>
          <a:solidFill>
            <a:srgbClr val="2C5F2D"/>
          </a:solidFill>
          <a:ln w="12700">
            <a:solidFill>
              <a:srgbClr val="2C5F2D"/>
            </a:solidFill>
            <a:prstDash val="solid"/>
          </a:ln>
        </p:spPr>
      </p:sp>
      <p:sp>
        <p:nvSpPr>
          <p:cNvPr id="36" name="Text 34"/>
          <p:cNvSpPr/>
          <p:nvPr/>
        </p:nvSpPr>
        <p:spPr>
          <a:xfrm>
            <a:off x="658368" y="5495544"/>
            <a:ext cx="10881360" cy="941832"/>
          </a:xfrm>
          <a:prstGeom prst="rect">
            <a:avLst/>
          </a:prstGeom>
          <a:noFill/>
          <a:ln/>
        </p:spPr>
        <p:txBody>
          <a:bodyPr wrap="square" lIns="0" tIns="0" rIns="0" bIns="0" rtlCol="0" anchor="ctr"/>
          <a:lstStyle/>
          <a:p>
            <a:pPr indent="0" marL="0">
              <a:lnSpc>
                <a:spcPct val="115000"/>
              </a:lnSpc>
              <a:buNone/>
            </a:pPr>
            <a:r>
              <a:rPr lang="en-US" sz="1150" b="1" dirty="0">
                <a:solidFill>
                  <a:srgbClr val="97BC62"/>
                </a:solidFill>
                <a:latin typeface="Calibri" pitchFamily="34" charset="0"/>
                <a:ea typeface="Calibri" pitchFamily="34" charset="-122"/>
                <a:cs typeface="Calibri" pitchFamily="34" charset="-120"/>
              </a:rPr>
              <a:t>One request, end to end:  </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GET /agrilink/crop/crop-plans  →  JwtAuthFilter validates the token and sets Authentication  →  SecurityConfig allows the role  →  CropPlanController scopes the query to the caller  →  CropPlanService applies the rules  →  CropPlanRepository hits MySQL  →  JSON out.</a:t>
            </a:r>
            <a:endParaRPr lang="en-US" sz="1150" dirty="0"/>
          </a:p>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Shared by all eight: stateless JWT filter, CSRF disabled, GlobalExceptionHandler, audit aspect that fire-and-forgets a POST to iam-service /agriLink/audit and never blocks the request.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11155680" cy="256032"/>
          </a:xfrm>
          <a:prstGeom prst="rect">
            <a:avLst/>
          </a:prstGeom>
          <a:noFill/>
          <a:ln/>
        </p:spPr>
        <p:txBody>
          <a:bodyPr wrap="square" lIns="0" tIns="0" rIns="0" bIns="0" rtlCol="0" anchor="ctr"/>
          <a:lstStyle/>
          <a:p>
            <a:pPr indent="0" marL="0">
              <a:buNone/>
            </a:pPr>
            <a:r>
              <a:rPr lang="en-US" sz="1100" b="1" spc="250" kern="0" dirty="0">
                <a:solidFill>
                  <a:srgbClr val="5F8A3E"/>
                </a:solidFill>
                <a:latin typeface="Calibri" pitchFamily="34" charset="0"/>
                <a:ea typeface="Calibri" pitchFamily="34" charset="-122"/>
                <a:cs typeface="Calibri" pitchFamily="34" charset="-120"/>
              </a:rPr>
              <a:t>MODULE MAP</a:t>
            </a:r>
            <a:endParaRPr lang="en-US" sz="1100" dirty="0"/>
          </a:p>
        </p:txBody>
      </p:sp>
      <p:sp>
        <p:nvSpPr>
          <p:cNvPr id="3" name="Text 1"/>
          <p:cNvSpPr/>
          <p:nvPr/>
        </p:nvSpPr>
        <p:spPr>
          <a:xfrm>
            <a:off x="502920" y="548640"/>
            <a:ext cx="11155680" cy="502920"/>
          </a:xfrm>
          <a:prstGeom prst="rect">
            <a:avLst/>
          </a:prstGeom>
          <a:noFill/>
          <a:ln/>
        </p:spPr>
        <p:txBody>
          <a:bodyPr wrap="square" lIns="0" tIns="0" rIns="0" bIns="0" rtlCol="0" anchor="t"/>
          <a:lstStyle/>
          <a:p>
            <a:pPr indent="0" marL="0">
              <a:buNone/>
            </a:pPr>
            <a:r>
              <a:rPr lang="en-US" sz="3000" b="1" dirty="0">
                <a:solidFill>
                  <a:srgbClr val="1F2A24"/>
                </a:solidFill>
                <a:latin typeface="Cambria" pitchFamily="34" charset="0"/>
                <a:ea typeface="Cambria" pitchFamily="34" charset="-122"/>
                <a:cs typeface="Cambria" pitchFamily="34" charset="-120"/>
              </a:rPr>
              <a:t>Eight Modules, Eight Databases</a:t>
            </a:r>
            <a:endParaRPr lang="en-US" sz="3000" dirty="0"/>
          </a:p>
        </p:txBody>
      </p:sp>
      <p:sp>
        <p:nvSpPr>
          <p:cNvPr id="4" name="Text 2"/>
          <p:cNvSpPr/>
          <p:nvPr/>
        </p:nvSpPr>
        <p:spPr>
          <a:xfrm>
            <a:off x="502920" y="1078992"/>
            <a:ext cx="11155680" cy="310896"/>
          </a:xfrm>
          <a:prstGeom prst="rect">
            <a:avLst/>
          </a:prstGeom>
          <a:noFill/>
          <a:ln/>
        </p:spPr>
        <p:txBody>
          <a:bodyPr wrap="square" lIns="0" tIns="0" rIns="0" bIns="0" rtlCol="0" anchor="t"/>
          <a:lstStyle/>
          <a:p>
            <a:pPr indent="0" marL="0">
              <a:buNone/>
            </a:pPr>
            <a:r>
              <a:rPr lang="en-US" sz="1250" dirty="0">
                <a:solidFill>
                  <a:srgbClr val="5F6E64"/>
                </a:solidFill>
                <a:latin typeface="Calibri" pitchFamily="34" charset="0"/>
                <a:ea typeface="Calibri" pitchFamily="34" charset="-122"/>
                <a:cs typeface="Calibri" pitchFamily="34" charset="-120"/>
              </a:rPr>
              <a:t>Ports, data ownership and — honestly — which services enforce owner-level scoping today.</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600200"/>
          <a:ext cx="11384280" cy="914400"/>
        </p:xfrm>
        <a:graphic>
          <a:graphicData uri="http://schemas.openxmlformats.org/drawingml/2006/table">
            <a:tbl>
              <a:tblPr/>
              <a:tblGrid>
                <a:gridCol w="1874520"/>
                <a:gridCol w="3200400"/>
                <a:gridCol w="2286000"/>
                <a:gridCol w="3017520"/>
                <a:gridCol w="1005840"/>
              </a:tblGrid>
              <a:tr h="42062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Module (service)</a:t>
                      </a:r>
                      <a:endParaRPr lang="en-US" sz="10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2C5F2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owns</a:t>
                      </a:r>
                      <a:endParaRPr lang="en-US" sz="10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2C5F2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Port · context-path</a:t>
                      </a:r>
                      <a:endParaRPr lang="en-US" sz="10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2C5F2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Key entities</a:t>
                      </a:r>
                      <a:endParaRPr lang="en-US" sz="10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2C5F2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Owner-scoped?</a:t>
                      </a:r>
                      <a:endParaRPr lang="en-US" sz="10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2C5F2D"/>
                    </a:solidFill>
                  </a:tcPr>
                </a:tc>
              </a:tr>
              <a:tr h="420624">
                <a:tc>
                  <a:txBody>
                    <a:bodyPr/>
                    <a:lstStyle/>
                    <a:p>
                      <a:pPr algn="l" indent="0" marL="0">
                        <a:buNone/>
                      </a:pPr>
                      <a:r>
                        <a:rPr lang="en-US" sz="950" b="1" dirty="0">
                          <a:solidFill>
                            <a:srgbClr val="1F2A24"/>
                          </a:solidFill>
                          <a:latin typeface="Calibri" pitchFamily="34" charset="0"/>
                          <a:ea typeface="Calibri" pitchFamily="34" charset="-122"/>
                          <a:cs typeface="Calibri" pitchFamily="34" charset="-120"/>
                        </a:rPr>
                        <a:t>2.1  iam</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Login, users, the 6 roles, sessions, audit trail</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8081 · /agriLink</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UserRole, UserDetails, UserSession, AuditLog</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ctr" indent="0" marL="0">
                        <a:buNone/>
                      </a:pPr>
                      <a:r>
                        <a:rPr lang="en-US" sz="950" b="1" dirty="0">
                          <a:solidFill>
                            <a:srgbClr val="5F6E64"/>
                          </a:solidFill>
                          <a:latin typeface="Calibri" pitchFamily="34" charset="0"/>
                          <a:ea typeface="Calibri" pitchFamily="34" charset="-122"/>
                          <a:cs typeface="Calibri" pitchFamily="34" charset="-120"/>
                        </a:rPr>
                        <a:t>n/a</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r>
              <a:tr h="420624">
                <a:tc>
                  <a:txBody>
                    <a:bodyPr/>
                    <a:lstStyle/>
                    <a:p>
                      <a:pPr algn="l" indent="0" marL="0">
                        <a:buNone/>
                      </a:pPr>
                      <a:r>
                        <a:rPr lang="en-US" sz="950" b="1" dirty="0">
                          <a:solidFill>
                            <a:srgbClr val="1F2A24"/>
                          </a:solidFill>
                          <a:latin typeface="Calibri" pitchFamily="34" charset="0"/>
                          <a:ea typeface="Calibri" pitchFamily="34" charset="-122"/>
                          <a:cs typeface="Calibri" pitchFamily="34" charset="-120"/>
                        </a:rPr>
                        <a:t>2.2  farmer</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Farmer profiles and land holdings</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8082 · /agrilink/farmer</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FarmerProfile, LandHolding</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5F8A3E"/>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r>
              <a:tr h="420624">
                <a:tc>
                  <a:txBody>
                    <a:bodyPr/>
                    <a:lstStyle/>
                    <a:p>
                      <a:pPr algn="l" indent="0" marL="0">
                        <a:buNone/>
                      </a:pPr>
                      <a:r>
                        <a:rPr lang="en-US" sz="950" b="1" dirty="0">
                          <a:solidFill>
                            <a:srgbClr val="1F2A24"/>
                          </a:solidFill>
                          <a:latin typeface="Calibri" pitchFamily="34" charset="0"/>
                          <a:ea typeface="Calibri" pitchFamily="34" charset="-122"/>
                          <a:cs typeface="Calibri" pitchFamily="34" charset="-120"/>
                        </a:rPr>
                        <a:t>2.3  crop</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Crop templates, sowing plans, growth tracking</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8083 · /agrilink/crop</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CropCatalog, CropPlan, GrowthObservation</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ctr" indent="0" marL="0">
                        <a:buNone/>
                      </a:pPr>
                      <a:r>
                        <a:rPr lang="en-US" sz="950" b="1" dirty="0">
                          <a:solidFill>
                            <a:srgbClr val="5F8A3E"/>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r>
              <a:tr h="420624">
                <a:tc>
                  <a:txBody>
                    <a:bodyPr/>
                    <a:lstStyle/>
                    <a:p>
                      <a:pPr algn="l" indent="0" marL="0">
                        <a:buNone/>
                      </a:pPr>
                      <a:r>
                        <a:rPr lang="en-US" sz="950" b="1" dirty="0">
                          <a:solidFill>
                            <a:srgbClr val="1F2A24"/>
                          </a:solidFill>
                          <a:latin typeface="Calibri" pitchFamily="34" charset="0"/>
                          <a:ea typeface="Calibri" pitchFamily="34" charset="-122"/>
                          <a:cs typeface="Calibri" pitchFamily="34" charset="-120"/>
                        </a:rPr>
                        <a:t>2.4  input</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Seed / fertiliser catalogue and farmer requests</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8084 · /agrilink/input</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InputCatalog, InputRequest</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0402F"/>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r>
              <a:tr h="420624">
                <a:tc>
                  <a:txBody>
                    <a:bodyPr/>
                    <a:lstStyle/>
                    <a:p>
                      <a:pPr algn="l" indent="0" marL="0">
                        <a:buNone/>
                      </a:pPr>
                      <a:r>
                        <a:rPr lang="en-US" sz="950" b="1" dirty="0">
                          <a:solidFill>
                            <a:srgbClr val="1F2A24"/>
                          </a:solidFill>
                          <a:latin typeface="Calibri" pitchFamily="34" charset="0"/>
                          <a:ea typeface="Calibri" pitchFamily="34" charset="-122"/>
                          <a:cs typeface="Calibri" pitchFamily="34" charset="-120"/>
                        </a:rPr>
                        <a:t>2.5  subsidy</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Scheme catalogue, applications, disbursement</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8085 · /agriLink/subsidyScheme</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SchemeCatalog, SubsidyApplication</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ctr" indent="0" marL="0">
                        <a:buNone/>
                      </a:pPr>
                      <a:r>
                        <a:rPr lang="en-US" sz="950" b="1" dirty="0">
                          <a:solidFill>
                            <a:srgbClr val="5F8A3E"/>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r>
              <a:tr h="420624">
                <a:tc>
                  <a:txBody>
                    <a:bodyPr/>
                    <a:lstStyle/>
                    <a:p>
                      <a:pPr algn="l" indent="0" marL="0">
                        <a:buNone/>
                      </a:pPr>
                      <a:r>
                        <a:rPr lang="en-US" sz="950" b="1" dirty="0">
                          <a:solidFill>
                            <a:srgbClr val="1F2A24"/>
                          </a:solidFill>
                          <a:latin typeface="Calibri" pitchFamily="34" charset="0"/>
                          <a:ea typeface="Calibri" pitchFamily="34" charset="-122"/>
                          <a:cs typeface="Calibri" pitchFamily="34" charset="-120"/>
                        </a:rPr>
                        <a:t>2.6  produce</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Produce listings, buyer sales, payment status</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8086 · /agrilink/produce</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ProduceListing, ProduceSale</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0402F"/>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r>
              <a:tr h="420624">
                <a:tc>
                  <a:txBody>
                    <a:bodyPr/>
                    <a:lstStyle/>
                    <a:p>
                      <a:pPr algn="l" indent="0" marL="0">
                        <a:buNone/>
                      </a:pPr>
                      <a:r>
                        <a:rPr lang="en-US" sz="950" b="1" dirty="0">
                          <a:solidFill>
                            <a:srgbClr val="1F2A24"/>
                          </a:solidFill>
                          <a:latin typeface="Calibri" pitchFamily="34" charset="0"/>
                          <a:ea typeface="Calibri" pitchFamily="34" charset="-122"/>
                          <a:cs typeface="Calibri" pitchFamily="34" charset="-120"/>
                        </a:rPr>
                        <a:t>2.7  report</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Live dashboards, aggregation, xlsx / pdf export</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8087 · /agriLink/analytics</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AgriReport (+ computed metrics)</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c>
                  <a:txBody>
                    <a:bodyPr/>
                    <a:lstStyle/>
                    <a:p>
                      <a:pPr algn="ctr" indent="0" marL="0">
                        <a:buNone/>
                      </a:pPr>
                      <a:r>
                        <a:rPr lang="en-US" sz="950" b="1" dirty="0">
                          <a:solidFill>
                            <a:srgbClr val="5F6E64"/>
                          </a:solidFill>
                          <a:latin typeface="Calibri" pitchFamily="34" charset="0"/>
                          <a:ea typeface="Calibri" pitchFamily="34" charset="-122"/>
                          <a:cs typeface="Calibri" pitchFamily="34" charset="-120"/>
                        </a:rPr>
                        <a:t>reads all</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EDF3E8"/>
                    </a:solidFill>
                  </a:tcPr>
                </a:tc>
              </a:tr>
              <a:tr h="420624">
                <a:tc>
                  <a:txBody>
                    <a:bodyPr/>
                    <a:lstStyle/>
                    <a:p>
                      <a:pPr algn="l" indent="0" marL="0">
                        <a:buNone/>
                      </a:pPr>
                      <a:r>
                        <a:rPr lang="en-US" sz="950" b="1" dirty="0">
                          <a:solidFill>
                            <a:srgbClr val="1F2A24"/>
                          </a:solidFill>
                          <a:latin typeface="Calibri" pitchFamily="34" charset="0"/>
                          <a:ea typeface="Calibri" pitchFamily="34" charset="-122"/>
                          <a:cs typeface="Calibri" pitchFamily="34" charset="-120"/>
                        </a:rPr>
                        <a:t>2.8  notification</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In-app advisories and reminders</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8088 · /agrilink/notification</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24"/>
                          </a:solidFill>
                          <a:latin typeface="Calibri" pitchFamily="34" charset="0"/>
                          <a:ea typeface="Calibri" pitchFamily="34" charset="-122"/>
                          <a:cs typeface="Calibri" pitchFamily="34" charset="-120"/>
                        </a:rPr>
                        <a:t>Notification</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0402F"/>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73152" marR="73152" marT="73152" marB="73152" anchor="ctr">
                    <a:lnL w="12700" cap="flat" cmpd="sng" algn="ctr">
                      <a:solidFill>
                        <a:srgbClr val="D3E0C7"/>
                      </a:solidFill>
                      <a:prstDash val="solid"/>
                      <a:round/>
                      <a:headEnd type="none" w="med" len="med"/>
                      <a:tailEnd type="none" w="med" len="med"/>
                    </a:lnL>
                    <a:lnR w="12700" cap="flat" cmpd="sng" algn="ctr">
                      <a:solidFill>
                        <a:srgbClr val="D3E0C7"/>
                      </a:solidFill>
                      <a:prstDash val="solid"/>
                      <a:round/>
                      <a:headEnd type="none" w="med" len="med"/>
                      <a:tailEnd type="none" w="med" len="med"/>
                    </a:lnR>
                    <a:lnT w="12700" cap="flat" cmpd="sng" algn="ctr">
                      <a:solidFill>
                        <a:srgbClr val="D3E0C7"/>
                      </a:solidFill>
                      <a:prstDash val="solid"/>
                      <a:round/>
                      <a:headEnd type="none" w="med" len="med"/>
                      <a:tailEnd type="none" w="med" len="med"/>
                    </a:lnT>
                    <a:lnB w="12700" cap="flat" cmpd="sng" algn="ctr">
                      <a:solidFill>
                        <a:srgbClr val="D3E0C7"/>
                      </a:solidFill>
                      <a:prstDash val="solid"/>
                      <a:round/>
                      <a:headEnd type="none" w="med" len="med"/>
                      <a:tailEnd type="none" w="med" len="med"/>
                    </a:lnB>
                    <a:solidFill>
                      <a:srgbClr val="FFFFFF"/>
                    </a:solidFill>
                  </a:tcPr>
                </a:tc>
              </a:tr>
            </a:tbl>
          </a:graphicData>
        </a:graphic>
      </p:graphicFrame>
      <p:sp>
        <p:nvSpPr>
          <p:cNvPr id="6" name="Shape 3"/>
          <p:cNvSpPr/>
          <p:nvPr/>
        </p:nvSpPr>
        <p:spPr>
          <a:xfrm>
            <a:off x="411480" y="5715000"/>
            <a:ext cx="11384280" cy="868680"/>
          </a:xfrm>
          <a:prstGeom prst="roundRect">
            <a:avLst>
              <a:gd name="adj" fmla="val 5263"/>
            </a:avLst>
          </a:prstGeom>
          <a:solidFill>
            <a:srgbClr val="2C5F2D"/>
          </a:solidFill>
          <a:ln w="12700">
            <a:solidFill>
              <a:srgbClr val="2C5F2D"/>
            </a:solidFill>
            <a:prstDash val="solid"/>
          </a:ln>
        </p:spPr>
      </p:sp>
      <p:sp>
        <p:nvSpPr>
          <p:cNvPr id="7" name="Text 4"/>
          <p:cNvSpPr/>
          <p:nvPr/>
        </p:nvSpPr>
        <p:spPr>
          <a:xfrm>
            <a:off x="658368" y="5769864"/>
            <a:ext cx="10881360" cy="758952"/>
          </a:xfrm>
          <a:prstGeom prst="rect">
            <a:avLst/>
          </a:prstGeom>
          <a:noFill/>
          <a:ln/>
        </p:spPr>
        <p:txBody>
          <a:bodyPr wrap="square" lIns="0" tIns="0" rIns="0" bIns="0" rtlCol="0" anchor="ctr"/>
          <a:lstStyle/>
          <a:p>
            <a:pPr indent="0" marL="0">
              <a:lnSpc>
                <a:spcPct val="115000"/>
              </a:lnSpc>
              <a:buNone/>
            </a:pPr>
            <a:r>
              <a:rPr lang="en-US" sz="1150" b="1" dirty="0">
                <a:solidFill>
                  <a:srgbClr val="97BC62"/>
                </a:solidFill>
                <a:latin typeface="Calibri" pitchFamily="34" charset="0"/>
                <a:ea typeface="Calibri" pitchFamily="34" charset="-122"/>
                <a:cs typeface="Calibri" pitchFamily="34" charset="-120"/>
              </a:rPr>
              <a:t>Being honest about this table is a strength. </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farmer, crop and subsidy re-derive ownership from the token; input, produce and notification are role-gated only, so any farmer can still read another farmer's rows there. Same class of bug — crop is the one I closed, and the fix is copy-pasteable to the rest.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11155680" cy="256032"/>
          </a:xfrm>
          <a:prstGeom prst="rect">
            <a:avLst/>
          </a:prstGeom>
          <a:noFill/>
          <a:ln/>
        </p:spPr>
        <p:txBody>
          <a:bodyPr wrap="square" lIns="0" tIns="0" rIns="0" bIns="0" rtlCol="0" anchor="ctr"/>
          <a:lstStyle/>
          <a:p>
            <a:pPr indent="0" marL="0">
              <a:buNone/>
            </a:pPr>
            <a:r>
              <a:rPr lang="en-US" sz="1100" b="1" spc="250" kern="0" dirty="0">
                <a:solidFill>
                  <a:srgbClr val="5F8A3E"/>
                </a:solidFill>
                <a:latin typeface="Calibri" pitchFamily="34" charset="0"/>
                <a:ea typeface="Calibri" pitchFamily="34" charset="-122"/>
                <a:cs typeface="Calibri" pitchFamily="34" charset="-120"/>
              </a:rPr>
              <a:t>MY MODULE · 2.3</a:t>
            </a:r>
            <a:endParaRPr lang="en-US" sz="1100" dirty="0"/>
          </a:p>
        </p:txBody>
      </p:sp>
      <p:sp>
        <p:nvSpPr>
          <p:cNvPr id="3" name="Text 1"/>
          <p:cNvSpPr/>
          <p:nvPr/>
        </p:nvSpPr>
        <p:spPr>
          <a:xfrm>
            <a:off x="502920" y="548640"/>
            <a:ext cx="11155680" cy="502920"/>
          </a:xfrm>
          <a:prstGeom prst="rect">
            <a:avLst/>
          </a:prstGeom>
          <a:noFill/>
          <a:ln/>
        </p:spPr>
        <p:txBody>
          <a:bodyPr wrap="square" lIns="0" tIns="0" rIns="0" bIns="0" rtlCol="0" anchor="t"/>
          <a:lstStyle/>
          <a:p>
            <a:pPr indent="0" marL="0">
              <a:buNone/>
            </a:pPr>
            <a:r>
              <a:rPr lang="en-US" sz="3000" b="1" dirty="0">
                <a:solidFill>
                  <a:srgbClr val="1F2A24"/>
                </a:solidFill>
                <a:latin typeface="Cambria" pitchFamily="34" charset="0"/>
                <a:ea typeface="Cambria" pitchFamily="34" charset="-122"/>
                <a:cs typeface="Cambria" pitchFamily="34" charset="-120"/>
              </a:rPr>
              <a:t>Crop Planning: Template → Plan → Observation</a:t>
            </a:r>
            <a:endParaRPr lang="en-US" sz="3000" dirty="0"/>
          </a:p>
        </p:txBody>
      </p:sp>
      <p:sp>
        <p:nvSpPr>
          <p:cNvPr id="4" name="Text 2"/>
          <p:cNvSpPr/>
          <p:nvPr/>
        </p:nvSpPr>
        <p:spPr>
          <a:xfrm>
            <a:off x="502920" y="1078992"/>
            <a:ext cx="11155680" cy="310896"/>
          </a:xfrm>
          <a:prstGeom prst="rect">
            <a:avLst/>
          </a:prstGeom>
          <a:noFill/>
          <a:ln/>
        </p:spPr>
        <p:txBody>
          <a:bodyPr wrap="square" lIns="0" tIns="0" rIns="0" bIns="0" rtlCol="0" anchor="t"/>
          <a:lstStyle/>
          <a:p>
            <a:pPr indent="0" marL="0">
              <a:buNone/>
            </a:pPr>
            <a:r>
              <a:rPr lang="en-US" sz="1250" dirty="0">
                <a:solidFill>
                  <a:srgbClr val="5F6E64"/>
                </a:solidFill>
                <a:latin typeface="Calibri" pitchFamily="34" charset="0"/>
                <a:ea typeface="Calibri" pitchFamily="34" charset="-122"/>
                <a:cs typeface="Calibri" pitchFamily="34" charset="-120"/>
              </a:rPr>
              <a:t>Three entities in one chain. The Admin defines what can be grown, the farmer commits to it, the officer verifies it in the field.</a:t>
            </a:r>
            <a:endParaRPr lang="en-US" sz="1250" dirty="0"/>
          </a:p>
        </p:txBody>
      </p:sp>
      <p:sp>
        <p:nvSpPr>
          <p:cNvPr id="5" name="Shape 3"/>
          <p:cNvSpPr/>
          <p:nvPr/>
        </p:nvSpPr>
        <p:spPr>
          <a:xfrm>
            <a:off x="402336" y="1783080"/>
            <a:ext cx="3520440" cy="3246120"/>
          </a:xfrm>
          <a:prstGeom prst="roundRect">
            <a:avLst>
              <a:gd name="adj" fmla="val 1408"/>
            </a:avLst>
          </a:prstGeom>
          <a:solidFill>
            <a:srgbClr val="FFFFFF"/>
          </a:solidFill>
          <a:ln w="19050">
            <a:solidFill>
              <a:srgbClr val="2C5F2D"/>
            </a:solidFill>
            <a:prstDash val="solid"/>
          </a:ln>
        </p:spPr>
      </p:sp>
      <p:sp>
        <p:nvSpPr>
          <p:cNvPr id="6" name="Text 4"/>
          <p:cNvSpPr/>
          <p:nvPr/>
        </p:nvSpPr>
        <p:spPr>
          <a:xfrm>
            <a:off x="402336" y="1783080"/>
            <a:ext cx="3520440" cy="731520"/>
          </a:xfrm>
          <a:prstGeom prst="roundRect">
            <a:avLst>
              <a:gd name="adj" fmla="val 6250"/>
            </a:avLst>
          </a:prstGeom>
          <a:solidFill>
            <a:srgbClr val="2C5F2D"/>
          </a:solidFill>
          <a:ln w="12700">
            <a:solidFill>
              <a:srgbClr val="2C5F2D"/>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CropCatalog</a:t>
            </a:r>
            <a:endParaRPr lang="en-US" sz="1500" dirty="0"/>
          </a:p>
          <a:p>
            <a:pPr algn="ctr" indent="0" marL="0">
              <a:buNone/>
            </a:pPr>
            <a:r>
              <a:rPr lang="en-US" sz="1000" dirty="0">
                <a:solidFill>
                  <a:srgbClr val="EAF1E2"/>
                </a:solidFill>
                <a:latin typeface="Calibri" pitchFamily="34" charset="0"/>
                <a:ea typeface="Calibri" pitchFamily="34" charset="-122"/>
                <a:cs typeface="Calibri" pitchFamily="34" charset="-120"/>
              </a:rPr>
              <a:t>Admin's master template</a:t>
            </a:r>
            <a:endParaRPr lang="en-US" sz="1500" dirty="0"/>
          </a:p>
        </p:txBody>
      </p:sp>
      <p:sp>
        <p:nvSpPr>
          <p:cNvPr id="7" name="Text 5"/>
          <p:cNvSpPr/>
          <p:nvPr/>
        </p:nvSpPr>
        <p:spPr>
          <a:xfrm>
            <a:off x="658368" y="2651760"/>
            <a:ext cx="3063240" cy="16002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cropName, category, season</a:t>
            </a:r>
            <a:endParaRPr lang="en-US" sz="1000" dirty="0"/>
          </a:p>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typicalDurationDays</a:t>
            </a:r>
            <a:endParaRPr lang="en-US" sz="1000" dirty="0"/>
          </a:p>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expectedYieldPerAcre</a:t>
            </a:r>
            <a:endParaRPr lang="en-US" sz="1000" dirty="0"/>
          </a:p>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status  AC / IN</a:t>
            </a:r>
            <a:endParaRPr lang="en-US" sz="1000" dirty="0"/>
          </a:p>
        </p:txBody>
      </p:sp>
      <p:sp>
        <p:nvSpPr>
          <p:cNvPr id="8" name="Text 6"/>
          <p:cNvSpPr/>
          <p:nvPr/>
        </p:nvSpPr>
        <p:spPr>
          <a:xfrm>
            <a:off x="621792" y="4270248"/>
            <a:ext cx="3081528" cy="384048"/>
          </a:xfrm>
          <a:prstGeom prst="rect">
            <a:avLst/>
          </a:prstGeom>
          <a:noFill/>
          <a:ln/>
        </p:spPr>
        <p:txBody>
          <a:bodyPr wrap="square" lIns="0" tIns="0" rIns="0" bIns="0" rtlCol="0" anchor="t"/>
          <a:lstStyle/>
          <a:p>
            <a:pPr indent="0" marL="0">
              <a:buNone/>
            </a:pPr>
            <a:r>
              <a:rPr lang="en-US" sz="950" i="1" dirty="0">
                <a:solidFill>
                  <a:srgbClr val="5F6E64"/>
                </a:solidFill>
                <a:latin typeface="Calibri" pitchFamily="34" charset="0"/>
                <a:ea typeface="Calibri" pitchFamily="34" charset="-122"/>
                <a:cs typeface="Calibri" pitchFamily="34" charset="-120"/>
              </a:rPr>
              <a:t>e.g. Rice · Kharif · 120 days · 24 t/acre</a:t>
            </a:r>
            <a:endParaRPr lang="en-US" sz="950" dirty="0"/>
          </a:p>
        </p:txBody>
      </p:sp>
      <p:sp>
        <p:nvSpPr>
          <p:cNvPr id="9" name="Text 7"/>
          <p:cNvSpPr/>
          <p:nvPr/>
        </p:nvSpPr>
        <p:spPr>
          <a:xfrm>
            <a:off x="621792" y="4654296"/>
            <a:ext cx="3081528" cy="256032"/>
          </a:xfrm>
          <a:prstGeom prst="rect">
            <a:avLst/>
          </a:prstGeom>
          <a:noFill/>
          <a:ln/>
        </p:spPr>
        <p:txBody>
          <a:bodyPr wrap="square" lIns="0" tIns="0" rIns="0" bIns="0" rtlCol="0" anchor="ctr"/>
          <a:lstStyle/>
          <a:p>
            <a:pPr indent="0" marL="0">
              <a:buNone/>
            </a:pPr>
            <a:r>
              <a:rPr lang="en-US" sz="900" b="1" dirty="0">
                <a:solidFill>
                  <a:srgbClr val="2C5F2D"/>
                </a:solidFill>
                <a:latin typeface="Calibri" pitchFamily="34" charset="0"/>
                <a:ea typeface="Calibri" pitchFamily="34" charset="-122"/>
                <a:cs typeface="Calibri" pitchFamily="34" charset="-120"/>
              </a:rPr>
              <a:t>Admin writes · everyone reads</a:t>
            </a:r>
            <a:endParaRPr lang="en-US" sz="900" dirty="0"/>
          </a:p>
        </p:txBody>
      </p:sp>
      <p:sp>
        <p:nvSpPr>
          <p:cNvPr id="10" name="Shape 8"/>
          <p:cNvSpPr/>
          <p:nvPr/>
        </p:nvSpPr>
        <p:spPr>
          <a:xfrm>
            <a:off x="3977640" y="3406140"/>
            <a:ext cx="301752" cy="0"/>
          </a:xfrm>
          <a:prstGeom prst="line">
            <a:avLst/>
          </a:prstGeom>
          <a:noFill/>
          <a:ln w="22225">
            <a:solidFill>
              <a:srgbClr val="1F2A24"/>
            </a:solidFill>
            <a:prstDash val="solid"/>
            <a:tailEnd type="triangle"/>
          </a:ln>
        </p:spPr>
      </p:sp>
      <p:sp>
        <p:nvSpPr>
          <p:cNvPr id="11" name="Shape 9"/>
          <p:cNvSpPr/>
          <p:nvPr/>
        </p:nvSpPr>
        <p:spPr>
          <a:xfrm>
            <a:off x="4334256" y="1783080"/>
            <a:ext cx="3520440" cy="3246120"/>
          </a:xfrm>
          <a:prstGeom prst="roundRect">
            <a:avLst>
              <a:gd name="adj" fmla="val 1408"/>
            </a:avLst>
          </a:prstGeom>
          <a:solidFill>
            <a:srgbClr val="FFFFFF"/>
          </a:solidFill>
          <a:ln w="19050">
            <a:solidFill>
              <a:srgbClr val="5F8A3E"/>
            </a:solidFill>
            <a:prstDash val="solid"/>
          </a:ln>
        </p:spPr>
      </p:sp>
      <p:sp>
        <p:nvSpPr>
          <p:cNvPr id="12" name="Text 10"/>
          <p:cNvSpPr/>
          <p:nvPr/>
        </p:nvSpPr>
        <p:spPr>
          <a:xfrm>
            <a:off x="4334256" y="1783080"/>
            <a:ext cx="3520440" cy="731520"/>
          </a:xfrm>
          <a:prstGeom prst="roundRect">
            <a:avLst>
              <a:gd name="adj" fmla="val 6250"/>
            </a:avLst>
          </a:prstGeom>
          <a:solidFill>
            <a:srgbClr val="5F8A3E"/>
          </a:solidFill>
          <a:ln w="12700">
            <a:solidFill>
              <a:srgbClr val="5F8A3E"/>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CropPlan</a:t>
            </a:r>
            <a:endParaRPr lang="en-US" sz="1500" dirty="0"/>
          </a:p>
          <a:p>
            <a:pPr algn="ctr" indent="0" marL="0">
              <a:buNone/>
            </a:pPr>
            <a:r>
              <a:rPr lang="en-US" sz="1000" dirty="0">
                <a:solidFill>
                  <a:srgbClr val="EAF1E2"/>
                </a:solidFill>
                <a:latin typeface="Calibri" pitchFamily="34" charset="0"/>
                <a:ea typeface="Calibri" pitchFamily="34" charset="-122"/>
                <a:cs typeface="Calibri" pitchFamily="34" charset="-120"/>
              </a:rPr>
              <a:t>Farmer's commitment</a:t>
            </a:r>
            <a:endParaRPr lang="en-US" sz="1500" dirty="0"/>
          </a:p>
        </p:txBody>
      </p:sp>
      <p:sp>
        <p:nvSpPr>
          <p:cNvPr id="13" name="Text 11"/>
          <p:cNvSpPr/>
          <p:nvPr/>
        </p:nvSpPr>
        <p:spPr>
          <a:xfrm>
            <a:off x="4590288" y="2651760"/>
            <a:ext cx="3063240" cy="16002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farmerId  →  farmer-service profile</a:t>
            </a:r>
            <a:endParaRPr lang="en-US" sz="1000" dirty="0"/>
          </a:p>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holdingId  →  farmer-service land</a:t>
            </a:r>
            <a:endParaRPr lang="en-US" sz="1000" dirty="0"/>
          </a:p>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cropId  →  CropCatalog</a:t>
            </a:r>
            <a:endParaRPr lang="en-US" sz="1000" dirty="0"/>
          </a:p>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season, year, areaPlanted</a:t>
            </a:r>
            <a:endParaRPr lang="en-US" sz="1000" dirty="0"/>
          </a:p>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sowingDate, expectedHarvestDate</a:t>
            </a:r>
            <a:endParaRPr lang="en-US" sz="1000" dirty="0"/>
          </a:p>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status  PLANNED → … → HARVESTED</a:t>
            </a:r>
            <a:endParaRPr lang="en-US" sz="1000" dirty="0"/>
          </a:p>
        </p:txBody>
      </p:sp>
      <p:sp>
        <p:nvSpPr>
          <p:cNvPr id="14" name="Text 12"/>
          <p:cNvSpPr/>
          <p:nvPr/>
        </p:nvSpPr>
        <p:spPr>
          <a:xfrm>
            <a:off x="4553712" y="4270248"/>
            <a:ext cx="3081528" cy="384048"/>
          </a:xfrm>
          <a:prstGeom prst="rect">
            <a:avLst/>
          </a:prstGeom>
          <a:noFill/>
          <a:ln/>
        </p:spPr>
        <p:txBody>
          <a:bodyPr wrap="square" lIns="0" tIns="0" rIns="0" bIns="0" rtlCol="0" anchor="t"/>
          <a:lstStyle/>
          <a:p>
            <a:pPr indent="0" marL="0">
              <a:buNone/>
            </a:pPr>
            <a:r>
              <a:rPr lang="en-US" sz="950" i="1" dirty="0">
                <a:solidFill>
                  <a:srgbClr val="5F6E64"/>
                </a:solidFill>
                <a:latin typeface="Calibri" pitchFamily="34" charset="0"/>
                <a:ea typeface="Calibri" pitchFamily="34" charset="-122"/>
                <a:cs typeface="Calibri" pitchFamily="34" charset="-120"/>
              </a:rPr>
              <a:t>unique per farmer + holding + crop + season + year</a:t>
            </a:r>
            <a:endParaRPr lang="en-US" sz="950" dirty="0"/>
          </a:p>
        </p:txBody>
      </p:sp>
      <p:sp>
        <p:nvSpPr>
          <p:cNvPr id="15" name="Text 13"/>
          <p:cNvSpPr/>
          <p:nvPr/>
        </p:nvSpPr>
        <p:spPr>
          <a:xfrm>
            <a:off x="4553712" y="4654296"/>
            <a:ext cx="3081528" cy="256032"/>
          </a:xfrm>
          <a:prstGeom prst="rect">
            <a:avLst/>
          </a:prstGeom>
          <a:noFill/>
          <a:ln/>
        </p:spPr>
        <p:txBody>
          <a:bodyPr wrap="square" lIns="0" tIns="0" rIns="0" bIns="0" rtlCol="0" anchor="ctr"/>
          <a:lstStyle/>
          <a:p>
            <a:pPr indent="0" marL="0">
              <a:buNone/>
            </a:pPr>
            <a:r>
              <a:rPr lang="en-US" sz="900" b="1" dirty="0">
                <a:solidFill>
                  <a:srgbClr val="5F8A3E"/>
                </a:solidFill>
                <a:latin typeface="Calibri" pitchFamily="34" charset="0"/>
                <a:ea typeface="Calibri" pitchFamily="34" charset="-122"/>
                <a:cs typeface="Calibri" pitchFamily="34" charset="-120"/>
              </a:rPr>
              <a:t>Farmer owns theirs · staff see all</a:t>
            </a:r>
            <a:endParaRPr lang="en-US" sz="900" dirty="0"/>
          </a:p>
        </p:txBody>
      </p:sp>
      <p:sp>
        <p:nvSpPr>
          <p:cNvPr id="16" name="Shape 14"/>
          <p:cNvSpPr/>
          <p:nvPr/>
        </p:nvSpPr>
        <p:spPr>
          <a:xfrm>
            <a:off x="7909560" y="3406140"/>
            <a:ext cx="301752" cy="0"/>
          </a:xfrm>
          <a:prstGeom prst="line">
            <a:avLst/>
          </a:prstGeom>
          <a:noFill/>
          <a:ln w="22225">
            <a:solidFill>
              <a:srgbClr val="1F2A24"/>
            </a:solidFill>
            <a:prstDash val="solid"/>
            <a:tailEnd type="triangle"/>
          </a:ln>
        </p:spPr>
      </p:sp>
      <p:sp>
        <p:nvSpPr>
          <p:cNvPr id="17" name="Shape 15"/>
          <p:cNvSpPr/>
          <p:nvPr/>
        </p:nvSpPr>
        <p:spPr>
          <a:xfrm>
            <a:off x="8266176" y="1783080"/>
            <a:ext cx="3520440" cy="3246120"/>
          </a:xfrm>
          <a:prstGeom prst="roundRect">
            <a:avLst>
              <a:gd name="adj" fmla="val 1408"/>
            </a:avLst>
          </a:prstGeom>
          <a:solidFill>
            <a:srgbClr val="FFFFFF"/>
          </a:solidFill>
          <a:ln w="19050">
            <a:solidFill>
              <a:srgbClr val="C97B18"/>
            </a:solidFill>
            <a:prstDash val="solid"/>
          </a:ln>
        </p:spPr>
      </p:sp>
      <p:sp>
        <p:nvSpPr>
          <p:cNvPr id="18" name="Text 16"/>
          <p:cNvSpPr/>
          <p:nvPr/>
        </p:nvSpPr>
        <p:spPr>
          <a:xfrm>
            <a:off x="8266176" y="1783080"/>
            <a:ext cx="3520440" cy="731520"/>
          </a:xfrm>
          <a:prstGeom prst="roundRect">
            <a:avLst>
              <a:gd name="adj" fmla="val 6250"/>
            </a:avLst>
          </a:prstGeom>
          <a:solidFill>
            <a:srgbClr val="C97B18"/>
          </a:solidFill>
          <a:ln w="12700">
            <a:solidFill>
              <a:srgbClr val="C97B18"/>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GrowthObservation</a:t>
            </a:r>
            <a:endParaRPr lang="en-US" sz="1500" dirty="0"/>
          </a:p>
          <a:p>
            <a:pPr algn="ctr" indent="0" marL="0">
              <a:buNone/>
            </a:pPr>
            <a:r>
              <a:rPr lang="en-US" sz="1000" dirty="0">
                <a:solidFill>
                  <a:srgbClr val="EAF1E2"/>
                </a:solidFill>
                <a:latin typeface="Calibri" pitchFamily="34" charset="0"/>
                <a:ea typeface="Calibri" pitchFamily="34" charset="-122"/>
                <a:cs typeface="Calibri" pitchFamily="34" charset="-120"/>
              </a:rPr>
              <a:t>Officer's field log</a:t>
            </a:r>
            <a:endParaRPr lang="en-US" sz="1500" dirty="0"/>
          </a:p>
        </p:txBody>
      </p:sp>
      <p:sp>
        <p:nvSpPr>
          <p:cNvPr id="19" name="Text 17"/>
          <p:cNvSpPr/>
          <p:nvPr/>
        </p:nvSpPr>
        <p:spPr>
          <a:xfrm>
            <a:off x="8522208" y="2651760"/>
            <a:ext cx="3063240" cy="16002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planId  →  CropPlan</a:t>
            </a:r>
            <a:endParaRPr lang="en-US" sz="1000" dirty="0"/>
          </a:p>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officerId, observationDate</a:t>
            </a:r>
            <a:endParaRPr lang="en-US" sz="1000" dirty="0"/>
          </a:p>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stage  GERMINATION → MATURITY</a:t>
            </a:r>
            <a:endParaRPr lang="en-US" sz="1000" dirty="0"/>
          </a:p>
          <a:p>
            <a:pPr marL="342900" indent="-3429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pestOrDiseaseFlag, remarks</a:t>
            </a:r>
            <a:endParaRPr lang="en-US" sz="1000" dirty="0"/>
          </a:p>
        </p:txBody>
      </p:sp>
      <p:sp>
        <p:nvSpPr>
          <p:cNvPr id="20" name="Text 18"/>
          <p:cNvSpPr/>
          <p:nvPr/>
        </p:nvSpPr>
        <p:spPr>
          <a:xfrm>
            <a:off x="8485632" y="4270248"/>
            <a:ext cx="3081528" cy="384048"/>
          </a:xfrm>
          <a:prstGeom prst="rect">
            <a:avLst/>
          </a:prstGeom>
          <a:noFill/>
          <a:ln/>
        </p:spPr>
        <p:txBody>
          <a:bodyPr wrap="square" lIns="0" tIns="0" rIns="0" bIns="0" rtlCol="0" anchor="t"/>
          <a:lstStyle/>
          <a:p>
            <a:pPr indent="0" marL="0">
              <a:buNone/>
            </a:pPr>
            <a:r>
              <a:rPr lang="en-US" sz="950" i="1" dirty="0">
                <a:solidFill>
                  <a:srgbClr val="5F6E64"/>
                </a:solidFill>
                <a:latin typeface="Calibri" pitchFamily="34" charset="0"/>
                <a:ea typeface="Calibri" pitchFamily="34" charset="-122"/>
                <a:cs typeface="Calibri" pitchFamily="34" charset="-120"/>
              </a:rPr>
              <a:t>many observations per plan, over time</a:t>
            </a:r>
            <a:endParaRPr lang="en-US" sz="950" dirty="0"/>
          </a:p>
        </p:txBody>
      </p:sp>
      <p:sp>
        <p:nvSpPr>
          <p:cNvPr id="21" name="Text 19"/>
          <p:cNvSpPr/>
          <p:nvPr/>
        </p:nvSpPr>
        <p:spPr>
          <a:xfrm>
            <a:off x="8485632" y="4654296"/>
            <a:ext cx="3081528" cy="256032"/>
          </a:xfrm>
          <a:prstGeom prst="rect">
            <a:avLst/>
          </a:prstGeom>
          <a:noFill/>
          <a:ln/>
        </p:spPr>
        <p:txBody>
          <a:bodyPr wrap="square" lIns="0" tIns="0" rIns="0" bIns="0" rtlCol="0" anchor="ctr"/>
          <a:lstStyle/>
          <a:p>
            <a:pPr indent="0" marL="0">
              <a:buNone/>
            </a:pPr>
            <a:r>
              <a:rPr lang="en-US" sz="900" b="1" dirty="0">
                <a:solidFill>
                  <a:srgbClr val="C97B18"/>
                </a:solidFill>
                <a:latin typeface="Calibri" pitchFamily="34" charset="0"/>
                <a:ea typeface="Calibri" pitchFamily="34" charset="-122"/>
                <a:cs typeface="Calibri" pitchFamily="34" charset="-120"/>
              </a:rPr>
              <a:t>Officer / Admin only — never the farmer</a:t>
            </a:r>
            <a:endParaRPr lang="en-US" sz="900" dirty="0"/>
          </a:p>
        </p:txBody>
      </p:sp>
      <p:sp>
        <p:nvSpPr>
          <p:cNvPr id="22" name="Shape 20"/>
          <p:cNvSpPr/>
          <p:nvPr/>
        </p:nvSpPr>
        <p:spPr>
          <a:xfrm>
            <a:off x="411480" y="5230368"/>
            <a:ext cx="11384280" cy="960120"/>
          </a:xfrm>
          <a:prstGeom prst="roundRect">
            <a:avLst>
              <a:gd name="adj" fmla="val 4762"/>
            </a:avLst>
          </a:prstGeom>
          <a:solidFill>
            <a:srgbClr val="2C5F2D"/>
          </a:solidFill>
          <a:ln w="12700">
            <a:solidFill>
              <a:srgbClr val="2C5F2D"/>
            </a:solidFill>
            <a:prstDash val="solid"/>
          </a:ln>
        </p:spPr>
      </p:sp>
      <p:sp>
        <p:nvSpPr>
          <p:cNvPr id="23" name="Text 21"/>
          <p:cNvSpPr/>
          <p:nvPr/>
        </p:nvSpPr>
        <p:spPr>
          <a:xfrm>
            <a:off x="658368" y="5285232"/>
            <a:ext cx="10881360" cy="850392"/>
          </a:xfrm>
          <a:prstGeom prst="rect">
            <a:avLst/>
          </a:prstGeom>
          <a:noFill/>
          <a:ln/>
        </p:spPr>
        <p:txBody>
          <a:bodyPr wrap="square" lIns="0" tIns="0" rIns="0" bIns="0" rtlCol="0" anchor="ctr"/>
          <a:lstStyle/>
          <a:p>
            <a:pPr indent="0" marL="0">
              <a:lnSpc>
                <a:spcPct val="115000"/>
              </a:lnSpc>
              <a:buNone/>
            </a:pPr>
            <a:r>
              <a:rPr lang="en-US" sz="1150" b="1" dirty="0">
                <a:solidFill>
                  <a:srgbClr val="97BC62"/>
                </a:solidFill>
                <a:latin typeface="Calibri" pitchFamily="34" charset="0"/>
                <a:ea typeface="Calibri" pitchFamily="34" charset="-122"/>
                <a:cs typeface="Calibri" pitchFamily="34" charset="-120"/>
              </a:rPr>
              <a:t>Port 8083  ·  database agrilink_crop  ·  context-path /agrilink/crop  ·  3 REST resources, full CRUD each.</a:t>
            </a:r>
            <a:endParaRPr lang="en-US" sz="1150" dirty="0"/>
          </a:p>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The chain is what makes it a workflow: no plan without a catalogue entry, no observation without a plan, and the plan's status is driven by what the officer records.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11155680" cy="256032"/>
          </a:xfrm>
          <a:prstGeom prst="rect">
            <a:avLst/>
          </a:prstGeom>
          <a:noFill/>
          <a:ln/>
        </p:spPr>
        <p:txBody>
          <a:bodyPr wrap="square" lIns="0" tIns="0" rIns="0" bIns="0" rtlCol="0" anchor="ctr"/>
          <a:lstStyle/>
          <a:p>
            <a:pPr indent="0" marL="0">
              <a:buNone/>
            </a:pPr>
            <a:r>
              <a:rPr lang="en-US" sz="1100" b="1" spc="250" kern="0" dirty="0">
                <a:solidFill>
                  <a:srgbClr val="5F8A3E"/>
                </a:solidFill>
                <a:latin typeface="Calibri" pitchFamily="34" charset="0"/>
                <a:ea typeface="Calibri" pitchFamily="34" charset="-122"/>
                <a:cs typeface="Calibri" pitchFamily="34" charset="-120"/>
              </a:rPr>
              <a:t>BUSINESS RULES</a:t>
            </a:r>
            <a:endParaRPr lang="en-US" sz="1100" dirty="0"/>
          </a:p>
        </p:txBody>
      </p:sp>
      <p:sp>
        <p:nvSpPr>
          <p:cNvPr id="3" name="Text 1"/>
          <p:cNvSpPr/>
          <p:nvPr/>
        </p:nvSpPr>
        <p:spPr>
          <a:xfrm>
            <a:off x="502920" y="548640"/>
            <a:ext cx="11155680" cy="502920"/>
          </a:xfrm>
          <a:prstGeom prst="rect">
            <a:avLst/>
          </a:prstGeom>
          <a:noFill/>
          <a:ln/>
        </p:spPr>
        <p:txBody>
          <a:bodyPr wrap="square" lIns="0" tIns="0" rIns="0" bIns="0" rtlCol="0" anchor="t"/>
          <a:lstStyle/>
          <a:p>
            <a:pPr indent="0" marL="0">
              <a:buNone/>
            </a:pPr>
            <a:r>
              <a:rPr lang="en-US" sz="3000" b="1" dirty="0">
                <a:solidFill>
                  <a:srgbClr val="1F2A24"/>
                </a:solidFill>
                <a:latin typeface="Cambria" pitchFamily="34" charset="0"/>
                <a:ea typeface="Cambria" pitchFamily="34" charset="-122"/>
                <a:cs typeface="Cambria" pitchFamily="34" charset="-120"/>
              </a:rPr>
              <a:t>Two State Machines the Service Layer Protects</a:t>
            </a:r>
            <a:endParaRPr lang="en-US" sz="3000" dirty="0"/>
          </a:p>
        </p:txBody>
      </p:sp>
      <p:sp>
        <p:nvSpPr>
          <p:cNvPr id="4" name="Text 2"/>
          <p:cNvSpPr/>
          <p:nvPr/>
        </p:nvSpPr>
        <p:spPr>
          <a:xfrm>
            <a:off x="502920" y="1078992"/>
            <a:ext cx="11155680" cy="310896"/>
          </a:xfrm>
          <a:prstGeom prst="rect">
            <a:avLst/>
          </a:prstGeom>
          <a:noFill/>
          <a:ln/>
        </p:spPr>
        <p:txBody>
          <a:bodyPr wrap="square" lIns="0" tIns="0" rIns="0" bIns="0" rtlCol="0" anchor="t"/>
          <a:lstStyle/>
          <a:p>
            <a:pPr indent="0" marL="0">
              <a:buNone/>
            </a:pPr>
            <a:r>
              <a:rPr lang="en-US" sz="1250" dirty="0">
                <a:solidFill>
                  <a:srgbClr val="5F6E64"/>
                </a:solidFill>
                <a:latin typeface="Calibri" pitchFamily="34" charset="0"/>
                <a:ea typeface="Calibri" pitchFamily="34" charset="-122"/>
                <a:cs typeface="Calibri" pitchFamily="34" charset="-120"/>
              </a:rPr>
              <a:t>Statuses are not free text. The API rejects anything that would move a plan or an observation backwards.</a:t>
            </a:r>
            <a:endParaRPr lang="en-US" sz="1250" dirty="0"/>
          </a:p>
        </p:txBody>
      </p:sp>
      <p:sp>
        <p:nvSpPr>
          <p:cNvPr id="5" name="Text 3"/>
          <p:cNvSpPr/>
          <p:nvPr/>
        </p:nvSpPr>
        <p:spPr>
          <a:xfrm>
            <a:off x="457200" y="1481328"/>
            <a:ext cx="11247120" cy="237744"/>
          </a:xfrm>
          <a:prstGeom prst="rect">
            <a:avLst/>
          </a:prstGeom>
          <a:noFill/>
          <a:ln/>
        </p:spPr>
        <p:txBody>
          <a:bodyPr wrap="square" lIns="0" tIns="0" rIns="0" bIns="0" rtlCol="0" anchor="ctr"/>
          <a:lstStyle/>
          <a:p>
            <a:pPr indent="0" marL="0">
              <a:buNone/>
            </a:pPr>
            <a:r>
              <a:rPr lang="en-US" sz="1100" b="1" spc="150" kern="0" dirty="0">
                <a:solidFill>
                  <a:srgbClr val="5F8A3E"/>
                </a:solidFill>
                <a:latin typeface="Calibri" pitchFamily="34" charset="0"/>
                <a:ea typeface="Calibri" pitchFamily="34" charset="-122"/>
                <a:cs typeface="Calibri" pitchFamily="34" charset="-120"/>
              </a:rPr>
              <a:t>Crop plan lifecycle  ·  PlanStatus</a:t>
            </a:r>
            <a:endParaRPr lang="en-US" sz="1100" dirty="0"/>
          </a:p>
        </p:txBody>
      </p:sp>
      <p:sp>
        <p:nvSpPr>
          <p:cNvPr id="6" name="Text 4"/>
          <p:cNvSpPr/>
          <p:nvPr/>
        </p:nvSpPr>
        <p:spPr>
          <a:xfrm>
            <a:off x="457200" y="1773936"/>
            <a:ext cx="1965960" cy="603504"/>
          </a:xfrm>
          <a:prstGeom prst="roundRect">
            <a:avLst>
              <a:gd name="adj" fmla="val 12121"/>
            </a:avLst>
          </a:prstGeom>
          <a:solidFill>
            <a:srgbClr val="7A8A80"/>
          </a:solidFill>
          <a:ln w="12700">
            <a:solidFill>
              <a:srgbClr val="7A8A8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PLANNED</a:t>
            </a:r>
            <a:endParaRPr lang="en-US" sz="1100" dirty="0"/>
          </a:p>
        </p:txBody>
      </p:sp>
      <p:sp>
        <p:nvSpPr>
          <p:cNvPr id="7" name="Shape 5"/>
          <p:cNvSpPr/>
          <p:nvPr/>
        </p:nvSpPr>
        <p:spPr>
          <a:xfrm>
            <a:off x="2478024" y="2075688"/>
            <a:ext cx="301752" cy="0"/>
          </a:xfrm>
          <a:prstGeom prst="line">
            <a:avLst/>
          </a:prstGeom>
          <a:noFill/>
          <a:ln w="22225">
            <a:solidFill>
              <a:srgbClr val="1F2A24"/>
            </a:solidFill>
            <a:prstDash val="solid"/>
            <a:tailEnd type="triangle"/>
          </a:ln>
        </p:spPr>
      </p:sp>
      <p:sp>
        <p:nvSpPr>
          <p:cNvPr id="8" name="Text 6"/>
          <p:cNvSpPr/>
          <p:nvPr/>
        </p:nvSpPr>
        <p:spPr>
          <a:xfrm>
            <a:off x="2834640" y="1773936"/>
            <a:ext cx="1965960" cy="603504"/>
          </a:xfrm>
          <a:prstGeom prst="roundRect">
            <a:avLst>
              <a:gd name="adj" fmla="val 12121"/>
            </a:avLst>
          </a:prstGeom>
          <a:solidFill>
            <a:srgbClr val="B08A1E"/>
          </a:solidFill>
          <a:ln w="12700">
            <a:solidFill>
              <a:srgbClr val="B08A1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SOWING</a:t>
            </a:r>
            <a:endParaRPr lang="en-US" sz="1100" dirty="0"/>
          </a:p>
        </p:txBody>
      </p:sp>
      <p:sp>
        <p:nvSpPr>
          <p:cNvPr id="9" name="Shape 7"/>
          <p:cNvSpPr/>
          <p:nvPr/>
        </p:nvSpPr>
        <p:spPr>
          <a:xfrm>
            <a:off x="4855464" y="2075688"/>
            <a:ext cx="301752" cy="0"/>
          </a:xfrm>
          <a:prstGeom prst="line">
            <a:avLst/>
          </a:prstGeom>
          <a:noFill/>
          <a:ln w="22225">
            <a:solidFill>
              <a:srgbClr val="1F2A24"/>
            </a:solidFill>
            <a:prstDash val="solid"/>
            <a:tailEnd type="triangle"/>
          </a:ln>
        </p:spPr>
      </p:sp>
      <p:sp>
        <p:nvSpPr>
          <p:cNvPr id="10" name="Text 8"/>
          <p:cNvSpPr/>
          <p:nvPr/>
        </p:nvSpPr>
        <p:spPr>
          <a:xfrm>
            <a:off x="5212080" y="1773936"/>
            <a:ext cx="1965960" cy="603504"/>
          </a:xfrm>
          <a:prstGeom prst="roundRect">
            <a:avLst>
              <a:gd name="adj" fmla="val 12121"/>
            </a:avLst>
          </a:prstGeom>
          <a:solidFill>
            <a:srgbClr val="3E7D3B"/>
          </a:solidFill>
          <a:ln w="12700">
            <a:solidFill>
              <a:srgbClr val="3E7D3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GROWING</a:t>
            </a:r>
            <a:endParaRPr lang="en-US" sz="1100" dirty="0"/>
          </a:p>
        </p:txBody>
      </p:sp>
      <p:sp>
        <p:nvSpPr>
          <p:cNvPr id="11" name="Shape 9"/>
          <p:cNvSpPr/>
          <p:nvPr/>
        </p:nvSpPr>
        <p:spPr>
          <a:xfrm>
            <a:off x="7232904" y="2075688"/>
            <a:ext cx="301752" cy="0"/>
          </a:xfrm>
          <a:prstGeom prst="line">
            <a:avLst/>
          </a:prstGeom>
          <a:noFill/>
          <a:ln w="22225">
            <a:solidFill>
              <a:srgbClr val="1F2A24"/>
            </a:solidFill>
            <a:prstDash val="solid"/>
            <a:tailEnd type="triangle"/>
          </a:ln>
        </p:spPr>
      </p:sp>
      <p:sp>
        <p:nvSpPr>
          <p:cNvPr id="12" name="Text 10"/>
          <p:cNvSpPr/>
          <p:nvPr/>
        </p:nvSpPr>
        <p:spPr>
          <a:xfrm>
            <a:off x="7589520" y="1773936"/>
            <a:ext cx="1965960" cy="603504"/>
          </a:xfrm>
          <a:prstGeom prst="roundRect">
            <a:avLst>
              <a:gd name="adj" fmla="val 12121"/>
            </a:avLst>
          </a:prstGeom>
          <a:solidFill>
            <a:srgbClr val="3B4E8C"/>
          </a:solidFill>
          <a:ln w="12700">
            <a:solidFill>
              <a:srgbClr val="3B4E8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HARVESTED</a:t>
            </a:r>
            <a:endParaRPr lang="en-US" sz="1100" dirty="0"/>
          </a:p>
        </p:txBody>
      </p:sp>
      <p:sp>
        <p:nvSpPr>
          <p:cNvPr id="13" name="Text 11"/>
          <p:cNvSpPr/>
          <p:nvPr/>
        </p:nvSpPr>
        <p:spPr>
          <a:xfrm>
            <a:off x="9802368" y="1737360"/>
            <a:ext cx="1965960" cy="676656"/>
          </a:xfrm>
          <a:prstGeom prst="rect">
            <a:avLst/>
          </a:prstGeom>
          <a:noFill/>
          <a:ln/>
        </p:spPr>
        <p:txBody>
          <a:bodyPr wrap="square" lIns="0" tIns="0" rIns="0" bIns="0" rtlCol="0" anchor="ctr"/>
          <a:lstStyle/>
          <a:p>
            <a:pPr indent="0" marL="0">
              <a:buNone/>
            </a:pPr>
            <a:r>
              <a:rPr lang="en-US" sz="950" i="1" dirty="0">
                <a:solidFill>
                  <a:srgbClr val="B0402F"/>
                </a:solidFill>
                <a:latin typeface="Calibri" pitchFamily="34" charset="0"/>
                <a:ea typeface="Calibri" pitchFamily="34" charset="-122"/>
                <a:cs typeface="Calibri" pitchFamily="34" charset="-120"/>
              </a:rPr>
              <a:t>FAILED can end a plan from any stage</a:t>
            </a:r>
            <a:endParaRPr lang="en-US" sz="950" dirty="0"/>
          </a:p>
        </p:txBody>
      </p:sp>
      <p:sp>
        <p:nvSpPr>
          <p:cNvPr id="14" name="Text 12"/>
          <p:cNvSpPr/>
          <p:nvPr/>
        </p:nvSpPr>
        <p:spPr>
          <a:xfrm>
            <a:off x="457200" y="2670048"/>
            <a:ext cx="11247120" cy="237744"/>
          </a:xfrm>
          <a:prstGeom prst="rect">
            <a:avLst/>
          </a:prstGeom>
          <a:noFill/>
          <a:ln/>
        </p:spPr>
        <p:txBody>
          <a:bodyPr wrap="square" lIns="0" tIns="0" rIns="0" bIns="0" rtlCol="0" anchor="ctr"/>
          <a:lstStyle/>
          <a:p>
            <a:pPr indent="0" marL="0">
              <a:buNone/>
            </a:pPr>
            <a:r>
              <a:rPr lang="en-US" sz="1100" b="1" spc="150" kern="0" dirty="0">
                <a:solidFill>
                  <a:srgbClr val="5F8A3E"/>
                </a:solidFill>
                <a:latin typeface="Calibri" pitchFamily="34" charset="0"/>
                <a:ea typeface="Calibri" pitchFamily="34" charset="-122"/>
                <a:cs typeface="Calibri" pitchFamily="34" charset="-120"/>
              </a:rPr>
              <a:t>Growth stages  ·  Stage  (forward only, must start at Germination)</a:t>
            </a:r>
            <a:endParaRPr lang="en-US" sz="1100" dirty="0"/>
          </a:p>
        </p:txBody>
      </p:sp>
      <p:sp>
        <p:nvSpPr>
          <p:cNvPr id="15" name="Text 13"/>
          <p:cNvSpPr/>
          <p:nvPr/>
        </p:nvSpPr>
        <p:spPr>
          <a:xfrm>
            <a:off x="457200" y="2962656"/>
            <a:ext cx="1965960" cy="603504"/>
          </a:xfrm>
          <a:prstGeom prst="roundRect">
            <a:avLst>
              <a:gd name="adj" fmla="val 12121"/>
            </a:avLst>
          </a:prstGeom>
          <a:solidFill>
            <a:srgbClr val="6FA24A"/>
          </a:solidFill>
          <a:ln w="12700">
            <a:solidFill>
              <a:srgbClr val="6FA24A"/>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GERMINATION</a:t>
            </a:r>
            <a:endParaRPr lang="en-US" sz="1100" dirty="0"/>
          </a:p>
        </p:txBody>
      </p:sp>
      <p:sp>
        <p:nvSpPr>
          <p:cNvPr id="16" name="Shape 14"/>
          <p:cNvSpPr/>
          <p:nvPr/>
        </p:nvSpPr>
        <p:spPr>
          <a:xfrm>
            <a:off x="2478024" y="3264408"/>
            <a:ext cx="301752" cy="0"/>
          </a:xfrm>
          <a:prstGeom prst="line">
            <a:avLst/>
          </a:prstGeom>
          <a:noFill/>
          <a:ln w="22225">
            <a:solidFill>
              <a:srgbClr val="1F2A24"/>
            </a:solidFill>
            <a:prstDash val="solid"/>
            <a:tailEnd type="triangle"/>
          </a:ln>
        </p:spPr>
      </p:sp>
      <p:sp>
        <p:nvSpPr>
          <p:cNvPr id="17" name="Text 15"/>
          <p:cNvSpPr/>
          <p:nvPr/>
        </p:nvSpPr>
        <p:spPr>
          <a:xfrm>
            <a:off x="2834640" y="2962656"/>
            <a:ext cx="1965960" cy="603504"/>
          </a:xfrm>
          <a:prstGeom prst="roundRect">
            <a:avLst>
              <a:gd name="adj" fmla="val 12121"/>
            </a:avLst>
          </a:prstGeom>
          <a:solidFill>
            <a:srgbClr val="4F8C3A"/>
          </a:solidFill>
          <a:ln w="12700">
            <a:solidFill>
              <a:srgbClr val="4F8C3A"/>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VEGETATIVE</a:t>
            </a:r>
            <a:endParaRPr lang="en-US" sz="1100" dirty="0"/>
          </a:p>
        </p:txBody>
      </p:sp>
      <p:sp>
        <p:nvSpPr>
          <p:cNvPr id="18" name="Shape 16"/>
          <p:cNvSpPr/>
          <p:nvPr/>
        </p:nvSpPr>
        <p:spPr>
          <a:xfrm>
            <a:off x="4855464" y="3264408"/>
            <a:ext cx="301752" cy="0"/>
          </a:xfrm>
          <a:prstGeom prst="line">
            <a:avLst/>
          </a:prstGeom>
          <a:noFill/>
          <a:ln w="22225">
            <a:solidFill>
              <a:srgbClr val="1F2A24"/>
            </a:solidFill>
            <a:prstDash val="solid"/>
            <a:tailEnd type="triangle"/>
          </a:ln>
        </p:spPr>
      </p:sp>
      <p:sp>
        <p:nvSpPr>
          <p:cNvPr id="19" name="Text 17"/>
          <p:cNvSpPr/>
          <p:nvPr/>
        </p:nvSpPr>
        <p:spPr>
          <a:xfrm>
            <a:off x="5212080" y="2962656"/>
            <a:ext cx="1965960" cy="603504"/>
          </a:xfrm>
          <a:prstGeom prst="roundRect">
            <a:avLst>
              <a:gd name="adj" fmla="val 12121"/>
            </a:avLst>
          </a:prstGeom>
          <a:solidFill>
            <a:srgbClr val="C97B18"/>
          </a:solidFill>
          <a:ln w="12700">
            <a:solidFill>
              <a:srgbClr val="C97B1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FLOWERING</a:t>
            </a:r>
            <a:endParaRPr lang="en-US" sz="1100" dirty="0"/>
          </a:p>
        </p:txBody>
      </p:sp>
      <p:sp>
        <p:nvSpPr>
          <p:cNvPr id="20" name="Shape 18"/>
          <p:cNvSpPr/>
          <p:nvPr/>
        </p:nvSpPr>
        <p:spPr>
          <a:xfrm>
            <a:off x="7232904" y="3264408"/>
            <a:ext cx="301752" cy="0"/>
          </a:xfrm>
          <a:prstGeom prst="line">
            <a:avLst/>
          </a:prstGeom>
          <a:noFill/>
          <a:ln w="22225">
            <a:solidFill>
              <a:srgbClr val="1F2A24"/>
            </a:solidFill>
            <a:prstDash val="solid"/>
            <a:tailEnd type="triangle"/>
          </a:ln>
        </p:spPr>
      </p:sp>
      <p:sp>
        <p:nvSpPr>
          <p:cNvPr id="21" name="Text 19"/>
          <p:cNvSpPr/>
          <p:nvPr/>
        </p:nvSpPr>
        <p:spPr>
          <a:xfrm>
            <a:off x="7589520" y="2962656"/>
            <a:ext cx="1965960" cy="603504"/>
          </a:xfrm>
          <a:prstGeom prst="roundRect">
            <a:avLst>
              <a:gd name="adj" fmla="val 12121"/>
            </a:avLst>
          </a:prstGeom>
          <a:solidFill>
            <a:srgbClr val="8B5E1F"/>
          </a:solidFill>
          <a:ln w="12700">
            <a:solidFill>
              <a:srgbClr val="8B5E1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MATURITY</a:t>
            </a:r>
            <a:endParaRPr lang="en-US" sz="1100" dirty="0"/>
          </a:p>
        </p:txBody>
      </p:sp>
      <p:sp>
        <p:nvSpPr>
          <p:cNvPr id="22" name="Text 20"/>
          <p:cNvSpPr/>
          <p:nvPr/>
        </p:nvSpPr>
        <p:spPr>
          <a:xfrm>
            <a:off x="9802368" y="2926080"/>
            <a:ext cx="1965960" cy="676656"/>
          </a:xfrm>
          <a:prstGeom prst="rect">
            <a:avLst/>
          </a:prstGeom>
          <a:noFill/>
          <a:ln/>
        </p:spPr>
        <p:txBody>
          <a:bodyPr wrap="square" lIns="0" tIns="0" rIns="0" bIns="0" rtlCol="0" anchor="ctr"/>
          <a:lstStyle/>
          <a:p>
            <a:pPr indent="0" marL="0">
              <a:buNone/>
            </a:pPr>
            <a:r>
              <a:rPr lang="en-US" sz="950" i="1" dirty="0">
                <a:solidFill>
                  <a:srgbClr val="B0402F"/>
                </a:solidFill>
                <a:latin typeface="Calibri" pitchFamily="34" charset="0"/>
                <a:ea typeface="Calibri" pitchFamily="34" charset="-122"/>
                <a:cs typeface="Calibri" pitchFamily="34" charset="-120"/>
              </a:rPr>
              <a:t>enforced by enum ordinal, server-side</a:t>
            </a:r>
            <a:endParaRPr lang="en-US" sz="950" dirty="0"/>
          </a:p>
        </p:txBody>
      </p:sp>
      <p:sp>
        <p:nvSpPr>
          <p:cNvPr id="23" name="Shape 21"/>
          <p:cNvSpPr/>
          <p:nvPr/>
        </p:nvSpPr>
        <p:spPr>
          <a:xfrm>
            <a:off x="292608" y="3977640"/>
            <a:ext cx="2697480" cy="1371600"/>
          </a:xfrm>
          <a:prstGeom prst="roundRect">
            <a:avLst>
              <a:gd name="adj" fmla="val 3333"/>
            </a:avLst>
          </a:prstGeom>
          <a:solidFill>
            <a:srgbClr val="EDF3E8"/>
          </a:solidFill>
          <a:ln w="12700">
            <a:solidFill>
              <a:srgbClr val="97BC62"/>
            </a:solidFill>
            <a:prstDash val="solid"/>
          </a:ln>
        </p:spPr>
      </p:sp>
      <p:sp>
        <p:nvSpPr>
          <p:cNvPr id="24" name="Text 22"/>
          <p:cNvSpPr/>
          <p:nvPr/>
        </p:nvSpPr>
        <p:spPr>
          <a:xfrm>
            <a:off x="493776" y="4114800"/>
            <a:ext cx="2295144" cy="274320"/>
          </a:xfrm>
          <a:prstGeom prst="rect">
            <a:avLst/>
          </a:prstGeom>
          <a:noFill/>
          <a:ln/>
        </p:spPr>
        <p:txBody>
          <a:bodyPr wrap="square" lIns="0" tIns="0" rIns="0" bIns="0" rtlCol="0" anchor="ctr"/>
          <a:lstStyle/>
          <a:p>
            <a:pPr indent="0" marL="0">
              <a:buNone/>
            </a:pPr>
            <a:r>
              <a:rPr lang="en-US" sz="1200" b="1" dirty="0">
                <a:solidFill>
                  <a:srgbClr val="2C5F2D"/>
                </a:solidFill>
                <a:latin typeface="Cambria" pitchFamily="34" charset="0"/>
                <a:ea typeface="Cambria" pitchFamily="34" charset="-122"/>
                <a:cs typeface="Cambria" pitchFamily="34" charset="-120"/>
              </a:rPr>
              <a:t>Forward-only growth</a:t>
            </a:r>
            <a:endParaRPr lang="en-US" sz="1200" dirty="0"/>
          </a:p>
        </p:txBody>
      </p:sp>
      <p:sp>
        <p:nvSpPr>
          <p:cNvPr id="25" name="Text 23"/>
          <p:cNvSpPr/>
          <p:nvPr/>
        </p:nvSpPr>
        <p:spPr>
          <a:xfrm>
            <a:off x="493776" y="4407408"/>
            <a:ext cx="2295144" cy="960120"/>
          </a:xfrm>
          <a:prstGeom prst="rect">
            <a:avLst/>
          </a:prstGeom>
          <a:noFill/>
          <a:ln/>
        </p:spPr>
        <p:txBody>
          <a:bodyPr wrap="square" lIns="0" tIns="0" rIns="0" bIns="0" rtlCol="0" anchor="t"/>
          <a:lstStyle/>
          <a:p>
            <a:pPr indent="0" marL="0">
              <a:lnSpc>
                <a:spcPct val="105000"/>
              </a:lnSpc>
              <a:buNone/>
            </a:pPr>
            <a:r>
              <a:rPr lang="en-US" sz="950" dirty="0">
                <a:solidFill>
                  <a:srgbClr val="5F6E64"/>
                </a:solidFill>
                <a:latin typeface="Calibri" pitchFamily="34" charset="0"/>
                <a:ea typeface="Calibri" pitchFamily="34" charset="-122"/>
                <a:cs typeface="Calibri" pitchFamily="34" charset="-120"/>
              </a:rPr>
              <a:t>The first observation on a plan must be Germination, and each new one must be at or after the current stage. Compared by enum ordinal in GrowthObservationService.</a:t>
            </a:r>
            <a:endParaRPr lang="en-US" sz="950" dirty="0"/>
          </a:p>
        </p:txBody>
      </p:sp>
      <p:sp>
        <p:nvSpPr>
          <p:cNvPr id="26" name="Shape 24"/>
          <p:cNvSpPr/>
          <p:nvPr/>
        </p:nvSpPr>
        <p:spPr>
          <a:xfrm>
            <a:off x="3264408" y="3977640"/>
            <a:ext cx="2697480" cy="1371600"/>
          </a:xfrm>
          <a:prstGeom prst="roundRect">
            <a:avLst>
              <a:gd name="adj" fmla="val 3333"/>
            </a:avLst>
          </a:prstGeom>
          <a:solidFill>
            <a:srgbClr val="EDF3E8"/>
          </a:solidFill>
          <a:ln w="12700">
            <a:solidFill>
              <a:srgbClr val="97BC62"/>
            </a:solidFill>
            <a:prstDash val="solid"/>
          </a:ln>
        </p:spPr>
      </p:sp>
      <p:sp>
        <p:nvSpPr>
          <p:cNvPr id="27" name="Text 25"/>
          <p:cNvSpPr/>
          <p:nvPr/>
        </p:nvSpPr>
        <p:spPr>
          <a:xfrm>
            <a:off x="3465576" y="4114800"/>
            <a:ext cx="2295144" cy="274320"/>
          </a:xfrm>
          <a:prstGeom prst="rect">
            <a:avLst/>
          </a:prstGeom>
          <a:noFill/>
          <a:ln/>
        </p:spPr>
        <p:txBody>
          <a:bodyPr wrap="square" lIns="0" tIns="0" rIns="0" bIns="0" rtlCol="0" anchor="ctr"/>
          <a:lstStyle/>
          <a:p>
            <a:pPr indent="0" marL="0">
              <a:buNone/>
            </a:pPr>
            <a:r>
              <a:rPr lang="en-US" sz="1200" b="1" dirty="0">
                <a:solidFill>
                  <a:srgbClr val="2C5F2D"/>
                </a:solidFill>
                <a:latin typeface="Cambria" pitchFamily="34" charset="0"/>
                <a:ea typeface="Cambria" pitchFamily="34" charset="-122"/>
                <a:cs typeface="Cambria" pitchFamily="34" charset="-120"/>
              </a:rPr>
              <a:t>No duplicate plan</a:t>
            </a:r>
            <a:endParaRPr lang="en-US" sz="1200" dirty="0"/>
          </a:p>
        </p:txBody>
      </p:sp>
      <p:sp>
        <p:nvSpPr>
          <p:cNvPr id="28" name="Text 26"/>
          <p:cNvSpPr/>
          <p:nvPr/>
        </p:nvSpPr>
        <p:spPr>
          <a:xfrm>
            <a:off x="3465576" y="4407408"/>
            <a:ext cx="2295144" cy="960120"/>
          </a:xfrm>
          <a:prstGeom prst="rect">
            <a:avLst/>
          </a:prstGeom>
          <a:noFill/>
          <a:ln/>
        </p:spPr>
        <p:txBody>
          <a:bodyPr wrap="square" lIns="0" tIns="0" rIns="0" bIns="0" rtlCol="0" anchor="t"/>
          <a:lstStyle/>
          <a:p>
            <a:pPr indent="0" marL="0">
              <a:lnSpc>
                <a:spcPct val="105000"/>
              </a:lnSpc>
              <a:buNone/>
            </a:pPr>
            <a:r>
              <a:rPr lang="en-US" sz="950" dirty="0">
                <a:solidFill>
                  <a:srgbClr val="5F6E64"/>
                </a:solidFill>
                <a:latin typeface="Calibri" pitchFamily="34" charset="0"/>
                <a:ea typeface="Calibri" pitchFamily="34" charset="-122"/>
                <a:cs typeface="Calibri" pitchFamily="34" charset="-120"/>
              </a:rPr>
              <a:t>A plan is unique per farmer + holding + crop + season + year, so the same field cannot be double-booked for one season.</a:t>
            </a:r>
            <a:endParaRPr lang="en-US" sz="950" dirty="0"/>
          </a:p>
        </p:txBody>
      </p:sp>
      <p:sp>
        <p:nvSpPr>
          <p:cNvPr id="29" name="Shape 27"/>
          <p:cNvSpPr/>
          <p:nvPr/>
        </p:nvSpPr>
        <p:spPr>
          <a:xfrm>
            <a:off x="6236208" y="3977640"/>
            <a:ext cx="2697480" cy="1371600"/>
          </a:xfrm>
          <a:prstGeom prst="roundRect">
            <a:avLst>
              <a:gd name="adj" fmla="val 3333"/>
            </a:avLst>
          </a:prstGeom>
          <a:solidFill>
            <a:srgbClr val="EDF3E8"/>
          </a:solidFill>
          <a:ln w="12700">
            <a:solidFill>
              <a:srgbClr val="97BC62"/>
            </a:solidFill>
            <a:prstDash val="solid"/>
          </a:ln>
        </p:spPr>
      </p:sp>
      <p:sp>
        <p:nvSpPr>
          <p:cNvPr id="30" name="Text 28"/>
          <p:cNvSpPr/>
          <p:nvPr/>
        </p:nvSpPr>
        <p:spPr>
          <a:xfrm>
            <a:off x="6437376" y="4114800"/>
            <a:ext cx="2295144" cy="274320"/>
          </a:xfrm>
          <a:prstGeom prst="rect">
            <a:avLst/>
          </a:prstGeom>
          <a:noFill/>
          <a:ln/>
        </p:spPr>
        <p:txBody>
          <a:bodyPr wrap="square" lIns="0" tIns="0" rIns="0" bIns="0" rtlCol="0" anchor="ctr"/>
          <a:lstStyle/>
          <a:p>
            <a:pPr indent="0" marL="0">
              <a:buNone/>
            </a:pPr>
            <a:r>
              <a:rPr lang="en-US" sz="1200" b="1" dirty="0">
                <a:solidFill>
                  <a:srgbClr val="2C5F2D"/>
                </a:solidFill>
                <a:latin typeface="Cambria" pitchFamily="34" charset="0"/>
                <a:ea typeface="Cambria" pitchFamily="34" charset="-122"/>
                <a:cs typeface="Cambria" pitchFamily="34" charset="-120"/>
              </a:rPr>
              <a:t>Safe defaults</a:t>
            </a:r>
            <a:endParaRPr lang="en-US" sz="1200" dirty="0"/>
          </a:p>
        </p:txBody>
      </p:sp>
      <p:sp>
        <p:nvSpPr>
          <p:cNvPr id="31" name="Text 29"/>
          <p:cNvSpPr/>
          <p:nvPr/>
        </p:nvSpPr>
        <p:spPr>
          <a:xfrm>
            <a:off x="6437376" y="4407408"/>
            <a:ext cx="2295144" cy="960120"/>
          </a:xfrm>
          <a:prstGeom prst="rect">
            <a:avLst/>
          </a:prstGeom>
          <a:noFill/>
          <a:ln/>
        </p:spPr>
        <p:txBody>
          <a:bodyPr wrap="square" lIns="0" tIns="0" rIns="0" bIns="0" rtlCol="0" anchor="t"/>
          <a:lstStyle/>
          <a:p>
            <a:pPr indent="0" marL="0">
              <a:lnSpc>
                <a:spcPct val="105000"/>
              </a:lnSpc>
              <a:buNone/>
            </a:pPr>
            <a:r>
              <a:rPr lang="en-US" sz="950" dirty="0">
                <a:solidFill>
                  <a:srgbClr val="5F6E64"/>
                </a:solidFill>
                <a:latin typeface="Calibri" pitchFamily="34" charset="0"/>
                <a:ea typeface="Calibri" pitchFamily="34" charset="-122"/>
                <a:cs typeface="Calibri" pitchFamily="34" charset="-120"/>
              </a:rPr>
              <a:t>A new plan starts as PLANNED; a new catalogue entry starts as AC (active). The client cannot skip straight to HARVESTED on create.</a:t>
            </a:r>
            <a:endParaRPr lang="en-US" sz="950" dirty="0"/>
          </a:p>
        </p:txBody>
      </p:sp>
      <p:sp>
        <p:nvSpPr>
          <p:cNvPr id="32" name="Shape 30"/>
          <p:cNvSpPr/>
          <p:nvPr/>
        </p:nvSpPr>
        <p:spPr>
          <a:xfrm>
            <a:off x="9208008" y="3977640"/>
            <a:ext cx="2697480" cy="1371600"/>
          </a:xfrm>
          <a:prstGeom prst="roundRect">
            <a:avLst>
              <a:gd name="adj" fmla="val 3333"/>
            </a:avLst>
          </a:prstGeom>
          <a:solidFill>
            <a:srgbClr val="EDF3E8"/>
          </a:solidFill>
          <a:ln w="12700">
            <a:solidFill>
              <a:srgbClr val="97BC62"/>
            </a:solidFill>
            <a:prstDash val="solid"/>
          </a:ln>
        </p:spPr>
      </p:sp>
      <p:sp>
        <p:nvSpPr>
          <p:cNvPr id="33" name="Text 31"/>
          <p:cNvSpPr/>
          <p:nvPr/>
        </p:nvSpPr>
        <p:spPr>
          <a:xfrm>
            <a:off x="9409176" y="4114800"/>
            <a:ext cx="2295144" cy="274320"/>
          </a:xfrm>
          <a:prstGeom prst="rect">
            <a:avLst/>
          </a:prstGeom>
          <a:noFill/>
          <a:ln/>
        </p:spPr>
        <p:txBody>
          <a:bodyPr wrap="square" lIns="0" tIns="0" rIns="0" bIns="0" rtlCol="0" anchor="ctr"/>
          <a:lstStyle/>
          <a:p>
            <a:pPr indent="0" marL="0">
              <a:buNone/>
            </a:pPr>
            <a:r>
              <a:rPr lang="en-US" sz="1200" b="1" dirty="0">
                <a:solidFill>
                  <a:srgbClr val="2C5F2D"/>
                </a:solidFill>
                <a:latin typeface="Cambria" pitchFamily="34" charset="0"/>
                <a:ea typeface="Cambria" pitchFamily="34" charset="-122"/>
                <a:cs typeface="Cambria" pitchFamily="34" charset="-120"/>
              </a:rPr>
              <a:t>Season ↔ crop sync (UI)</a:t>
            </a:r>
            <a:endParaRPr lang="en-US" sz="1200" dirty="0"/>
          </a:p>
        </p:txBody>
      </p:sp>
      <p:sp>
        <p:nvSpPr>
          <p:cNvPr id="34" name="Text 32"/>
          <p:cNvSpPr/>
          <p:nvPr/>
        </p:nvSpPr>
        <p:spPr>
          <a:xfrm>
            <a:off x="9409176" y="4407408"/>
            <a:ext cx="2295144" cy="960120"/>
          </a:xfrm>
          <a:prstGeom prst="rect">
            <a:avLst/>
          </a:prstGeom>
          <a:noFill/>
          <a:ln/>
        </p:spPr>
        <p:txBody>
          <a:bodyPr wrap="square" lIns="0" tIns="0" rIns="0" bIns="0" rtlCol="0" anchor="t"/>
          <a:lstStyle/>
          <a:p>
            <a:pPr indent="0" marL="0">
              <a:lnSpc>
                <a:spcPct val="105000"/>
              </a:lnSpc>
              <a:buNone/>
            </a:pPr>
            <a:r>
              <a:rPr lang="en-US" sz="950" dirty="0">
                <a:solidFill>
                  <a:srgbClr val="5F6E64"/>
                </a:solidFill>
                <a:latin typeface="Calibri" pitchFamily="34" charset="0"/>
                <a:ea typeface="Calibri" pitchFamily="34" charset="-122"/>
                <a:cs typeface="Calibri" pitchFamily="34" charset="-120"/>
              </a:rPr>
              <a:t>Choosing a season filters the crop dropdown; choosing a crop back-fills its season. Two guarded valueChanges subscriptions, no feedback loop.</a:t>
            </a:r>
            <a:endParaRPr lang="en-US" sz="950" dirty="0"/>
          </a:p>
        </p:txBody>
      </p:sp>
      <p:sp>
        <p:nvSpPr>
          <p:cNvPr id="35" name="Shape 33"/>
          <p:cNvSpPr/>
          <p:nvPr/>
        </p:nvSpPr>
        <p:spPr>
          <a:xfrm>
            <a:off x="411480" y="5669280"/>
            <a:ext cx="11384280" cy="777240"/>
          </a:xfrm>
          <a:prstGeom prst="roundRect">
            <a:avLst>
              <a:gd name="adj" fmla="val 5882"/>
            </a:avLst>
          </a:prstGeom>
          <a:solidFill>
            <a:srgbClr val="2C5F2D"/>
          </a:solidFill>
          <a:ln w="12700">
            <a:solidFill>
              <a:srgbClr val="2C5F2D"/>
            </a:solidFill>
            <a:prstDash val="solid"/>
          </a:ln>
        </p:spPr>
      </p:sp>
      <p:sp>
        <p:nvSpPr>
          <p:cNvPr id="36" name="Text 34"/>
          <p:cNvSpPr/>
          <p:nvPr/>
        </p:nvSpPr>
        <p:spPr>
          <a:xfrm>
            <a:off x="658368" y="5724144"/>
            <a:ext cx="10881360" cy="667512"/>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Enums are persisted as strings (@Enumerated(STRING)) so the tables stay readable, and Hibernate runs with ddl-auto=update — it adds columns and never drops data.</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301C"/>
        </a:solidFill>
      </p:bgPr>
    </p:bg>
    <p:spTree>
      <p:nvGrpSpPr>
        <p:cNvPr id="1" name=""/>
        <p:cNvGrpSpPr/>
        <p:nvPr/>
      </p:nvGrpSpPr>
      <p:grpSpPr>
        <a:xfrm>
          <a:off x="0" y="0"/>
          <a:ext cx="0" cy="0"/>
          <a:chOff x="0" y="0"/>
          <a:chExt cx="0" cy="0"/>
        </a:xfrm>
      </p:grpSpPr>
      <p:sp>
        <p:nvSpPr>
          <p:cNvPr id="2" name="Text 0"/>
          <p:cNvSpPr/>
          <p:nvPr/>
        </p:nvSpPr>
        <p:spPr>
          <a:xfrm>
            <a:off x="502920" y="274320"/>
            <a:ext cx="11155680" cy="256032"/>
          </a:xfrm>
          <a:prstGeom prst="rect">
            <a:avLst/>
          </a:prstGeom>
          <a:noFill/>
          <a:ln/>
        </p:spPr>
        <p:txBody>
          <a:bodyPr wrap="square" lIns="0" tIns="0" rIns="0" bIns="0" rtlCol="0" anchor="ctr"/>
          <a:lstStyle/>
          <a:p>
            <a:pPr indent="0" marL="0">
              <a:buNone/>
            </a:pPr>
            <a:r>
              <a:rPr lang="en-US" sz="1100" b="1" spc="250" kern="0" dirty="0">
                <a:solidFill>
                  <a:srgbClr val="97BC62"/>
                </a:solidFill>
                <a:latin typeface="Calibri" pitchFamily="34" charset="0"/>
                <a:ea typeface="Calibri" pitchFamily="34" charset="-122"/>
                <a:cs typeface="Calibri" pitchFamily="34" charset="-120"/>
              </a:rPr>
              <a:t>SECURITY MODEL</a:t>
            </a:r>
            <a:endParaRPr lang="en-US" sz="1100" dirty="0"/>
          </a:p>
        </p:txBody>
      </p:sp>
      <p:sp>
        <p:nvSpPr>
          <p:cNvPr id="3" name="Text 1"/>
          <p:cNvSpPr/>
          <p:nvPr/>
        </p:nvSpPr>
        <p:spPr>
          <a:xfrm>
            <a:off x="502920" y="548640"/>
            <a:ext cx="1115568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Two Tokens and Four Layers of Access Control</a:t>
            </a:r>
            <a:endParaRPr lang="en-US" sz="3000" dirty="0"/>
          </a:p>
        </p:txBody>
      </p:sp>
      <p:sp>
        <p:nvSpPr>
          <p:cNvPr id="4" name="Text 2"/>
          <p:cNvSpPr/>
          <p:nvPr/>
        </p:nvSpPr>
        <p:spPr>
          <a:xfrm>
            <a:off x="502920" y="1078992"/>
            <a:ext cx="11155680" cy="310896"/>
          </a:xfrm>
          <a:prstGeom prst="rect">
            <a:avLst/>
          </a:prstGeom>
          <a:noFill/>
          <a:ln/>
        </p:spPr>
        <p:txBody>
          <a:bodyPr wrap="square" lIns="0" tIns="0" rIns="0" bIns="0" rtlCol="0" anchor="t"/>
          <a:lstStyle/>
          <a:p>
            <a:pPr indent="0" marL="0">
              <a:buNone/>
            </a:pPr>
            <a:r>
              <a:rPr lang="en-US" sz="1250" dirty="0">
                <a:solidFill>
                  <a:srgbClr val="97BC62"/>
                </a:solidFill>
                <a:latin typeface="Calibri" pitchFamily="34" charset="0"/>
                <a:ea typeface="Calibri" pitchFamily="34" charset="-122"/>
                <a:cs typeface="Calibri" pitchFamily="34" charset="-120"/>
              </a:rPr>
              <a:t>Stateless authentication, plus authorisation that is re-derived from the token on every single request.</a:t>
            </a:r>
            <a:endParaRPr lang="en-US" sz="1250" dirty="0"/>
          </a:p>
        </p:txBody>
      </p:sp>
      <p:sp>
        <p:nvSpPr>
          <p:cNvPr id="5" name="Shape 3"/>
          <p:cNvSpPr/>
          <p:nvPr/>
        </p:nvSpPr>
        <p:spPr>
          <a:xfrm>
            <a:off x="411480" y="1572768"/>
            <a:ext cx="5577840" cy="3749040"/>
          </a:xfrm>
          <a:prstGeom prst="roundRect">
            <a:avLst>
              <a:gd name="adj" fmla="val 1220"/>
            </a:avLst>
          </a:prstGeom>
          <a:solidFill>
            <a:srgbClr val="22452A"/>
          </a:solidFill>
          <a:ln w="12700">
            <a:solidFill>
              <a:srgbClr val="5F8A3E"/>
            </a:solidFill>
            <a:prstDash val="solid"/>
          </a:ln>
        </p:spPr>
      </p:sp>
      <p:sp>
        <p:nvSpPr>
          <p:cNvPr id="6" name="Text 4"/>
          <p:cNvSpPr/>
          <p:nvPr/>
        </p:nvSpPr>
        <p:spPr>
          <a:xfrm>
            <a:off x="685800" y="1755648"/>
            <a:ext cx="502920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Two tokens, two jobs</a:t>
            </a:r>
            <a:endParaRPr lang="en-US" sz="1500" dirty="0"/>
          </a:p>
        </p:txBody>
      </p:sp>
      <p:sp>
        <p:nvSpPr>
          <p:cNvPr id="7" name="Text 5"/>
          <p:cNvSpPr/>
          <p:nvPr/>
        </p:nvSpPr>
        <p:spPr>
          <a:xfrm>
            <a:off x="685800" y="2139696"/>
            <a:ext cx="5029200" cy="256032"/>
          </a:xfrm>
          <a:prstGeom prst="rect">
            <a:avLst/>
          </a:prstGeom>
          <a:noFill/>
          <a:ln/>
        </p:spPr>
        <p:txBody>
          <a:bodyPr wrap="square" lIns="0" tIns="0" rIns="0" bIns="0" rtlCol="0" anchor="ctr"/>
          <a:lstStyle/>
          <a:p>
            <a:pPr indent="0" marL="0">
              <a:buNone/>
            </a:pPr>
            <a:r>
              <a:rPr lang="en-US" sz="1150" b="1" dirty="0">
                <a:solidFill>
                  <a:srgbClr val="97BC62"/>
                </a:solidFill>
                <a:latin typeface="Calibri" pitchFamily="34" charset="0"/>
                <a:ea typeface="Calibri" pitchFamily="34" charset="-122"/>
                <a:cs typeface="Calibri" pitchFamily="34" charset="-120"/>
              </a:rPr>
              <a:t>Access token — a JWT</a:t>
            </a:r>
            <a:endParaRPr lang="en-US" sz="1150" dirty="0"/>
          </a:p>
        </p:txBody>
      </p:sp>
      <p:sp>
        <p:nvSpPr>
          <p:cNvPr id="8" name="Text 6"/>
          <p:cNvSpPr/>
          <p:nvPr/>
        </p:nvSpPr>
        <p:spPr>
          <a:xfrm>
            <a:off x="685800" y="2414016"/>
            <a:ext cx="5029200" cy="731520"/>
          </a:xfrm>
          <a:prstGeom prst="rect">
            <a:avLst/>
          </a:prstGeom>
          <a:noFill/>
          <a:ln/>
        </p:spPr>
        <p:txBody>
          <a:bodyPr wrap="square" lIns="0" tIns="0" rIns="0" bIns="0" rtlCol="0" anchor="t"/>
          <a:lstStyle/>
          <a:p>
            <a:pPr indent="0" marL="0">
              <a:lnSpc>
                <a:spcPct val="106000"/>
              </a:lnSpc>
              <a:buNone/>
            </a:pPr>
            <a:r>
              <a:rPr lang="en-US" sz="1000" dirty="0">
                <a:solidFill>
                  <a:srgbClr val="DCE7D3"/>
                </a:solidFill>
                <a:latin typeface="Calibri" pitchFamily="34" charset="0"/>
                <a:ea typeface="Calibri" pitchFamily="34" charset="-122"/>
                <a:cs typeface="Calibri" pitchFamily="34" charset="-120"/>
              </a:rPr>
              <a:t>HMAC-signed, short-lived, sent on every request. Claims: subject = userId, roleId, roleName, regionId. Each service validates it locally with the shared secret — no round trip to iam.</a:t>
            </a:r>
            <a:endParaRPr lang="en-US" sz="1000" dirty="0"/>
          </a:p>
        </p:txBody>
      </p:sp>
      <p:sp>
        <p:nvSpPr>
          <p:cNvPr id="9" name="Text 7"/>
          <p:cNvSpPr/>
          <p:nvPr/>
        </p:nvSpPr>
        <p:spPr>
          <a:xfrm>
            <a:off x="685800" y="3200400"/>
            <a:ext cx="5029200" cy="256032"/>
          </a:xfrm>
          <a:prstGeom prst="rect">
            <a:avLst/>
          </a:prstGeom>
          <a:noFill/>
          <a:ln/>
        </p:spPr>
        <p:txBody>
          <a:bodyPr wrap="square" lIns="0" tIns="0" rIns="0" bIns="0" rtlCol="0" anchor="ctr"/>
          <a:lstStyle/>
          <a:p>
            <a:pPr indent="0" marL="0">
              <a:buNone/>
            </a:pPr>
            <a:r>
              <a:rPr lang="en-US" sz="1150" b="1" dirty="0">
                <a:solidFill>
                  <a:srgbClr val="97BC62"/>
                </a:solidFill>
                <a:latin typeface="Calibri" pitchFamily="34" charset="0"/>
                <a:ea typeface="Calibri" pitchFamily="34" charset="-122"/>
                <a:cs typeface="Calibri" pitchFamily="34" charset="-120"/>
              </a:rPr>
              <a:t>Refresh token — opaque random</a:t>
            </a:r>
            <a:endParaRPr lang="en-US" sz="1150" dirty="0"/>
          </a:p>
        </p:txBody>
      </p:sp>
      <p:sp>
        <p:nvSpPr>
          <p:cNvPr id="10" name="Text 8"/>
          <p:cNvSpPr/>
          <p:nvPr/>
        </p:nvSpPr>
        <p:spPr>
          <a:xfrm>
            <a:off x="685800" y="3474720"/>
            <a:ext cx="5029200" cy="731520"/>
          </a:xfrm>
          <a:prstGeom prst="rect">
            <a:avLst/>
          </a:prstGeom>
          <a:noFill/>
          <a:ln/>
        </p:spPr>
        <p:txBody>
          <a:bodyPr wrap="square" lIns="0" tIns="0" rIns="0" bIns="0" rtlCol="0" anchor="t"/>
          <a:lstStyle/>
          <a:p>
            <a:pPr indent="0" marL="0">
              <a:lnSpc>
                <a:spcPct val="106000"/>
              </a:lnSpc>
              <a:buNone/>
            </a:pPr>
            <a:r>
              <a:rPr lang="en-US" sz="1000" dirty="0">
                <a:solidFill>
                  <a:srgbClr val="DCE7D3"/>
                </a:solidFill>
                <a:latin typeface="Calibri" pitchFamily="34" charset="0"/>
                <a:ea typeface="Calibri" pitchFamily="34" charset="-122"/>
                <a:cs typeface="Calibri" pitchFamily="34" charset="-120"/>
              </a:rPr>
              <a:t>Long-lived, used only at /session/refresh. Stored as a SHA-256 hash in UserSession together with IP and device, so a database leak yields nothing usable.</a:t>
            </a:r>
            <a:endParaRPr lang="en-US" sz="1000" dirty="0"/>
          </a:p>
        </p:txBody>
      </p:sp>
      <p:sp>
        <p:nvSpPr>
          <p:cNvPr id="11" name="Text 9"/>
          <p:cNvSpPr/>
          <p:nvPr/>
        </p:nvSpPr>
        <p:spPr>
          <a:xfrm>
            <a:off x="685800" y="4261104"/>
            <a:ext cx="5029200" cy="256032"/>
          </a:xfrm>
          <a:prstGeom prst="rect">
            <a:avLst/>
          </a:prstGeom>
          <a:noFill/>
          <a:ln/>
        </p:spPr>
        <p:txBody>
          <a:bodyPr wrap="square" lIns="0" tIns="0" rIns="0" bIns="0" rtlCol="0" anchor="ctr"/>
          <a:lstStyle/>
          <a:p>
            <a:pPr indent="0" marL="0">
              <a:buNone/>
            </a:pPr>
            <a:r>
              <a:rPr lang="en-US" sz="1150" b="1" dirty="0">
                <a:solidFill>
                  <a:srgbClr val="97BC62"/>
                </a:solidFill>
                <a:latin typeface="Calibri" pitchFamily="34" charset="0"/>
                <a:ea typeface="Calibri" pitchFamily="34" charset="-122"/>
                <a:cs typeface="Calibri" pitchFamily="34" charset="-120"/>
              </a:rPr>
              <a:t>Passwords — BCrypt</a:t>
            </a:r>
            <a:endParaRPr lang="en-US" sz="1150" dirty="0"/>
          </a:p>
        </p:txBody>
      </p:sp>
      <p:sp>
        <p:nvSpPr>
          <p:cNvPr id="12" name="Text 10"/>
          <p:cNvSpPr/>
          <p:nvPr/>
        </p:nvSpPr>
        <p:spPr>
          <a:xfrm>
            <a:off x="685800" y="4535424"/>
            <a:ext cx="5029200" cy="731520"/>
          </a:xfrm>
          <a:prstGeom prst="rect">
            <a:avLst/>
          </a:prstGeom>
          <a:noFill/>
          <a:ln/>
        </p:spPr>
        <p:txBody>
          <a:bodyPr wrap="square" lIns="0" tIns="0" rIns="0" bIns="0" rtlCol="0" anchor="t"/>
          <a:lstStyle/>
          <a:p>
            <a:pPr indent="0" marL="0">
              <a:lnSpc>
                <a:spcPct val="106000"/>
              </a:lnSpc>
              <a:buNone/>
            </a:pPr>
            <a:r>
              <a:rPr lang="en-US" sz="1000" dirty="0">
                <a:solidFill>
                  <a:srgbClr val="DCE7D3"/>
                </a:solidFill>
                <a:latin typeface="Calibri" pitchFamily="34" charset="0"/>
                <a:ea typeface="Calibri" pitchFamily="34" charset="-122"/>
                <a:cs typeface="Calibri" pitchFamily="34" charset="-120"/>
              </a:rPr>
              <a:t>Never stored or logged in plain text. Login failures return one generic message, so the response cannot be used to discover which emails exist.</a:t>
            </a:r>
            <a:endParaRPr lang="en-US" sz="1000" dirty="0"/>
          </a:p>
        </p:txBody>
      </p:sp>
      <p:sp>
        <p:nvSpPr>
          <p:cNvPr id="13" name="Shape 11"/>
          <p:cNvSpPr/>
          <p:nvPr/>
        </p:nvSpPr>
        <p:spPr>
          <a:xfrm>
            <a:off x="6199632" y="1572768"/>
            <a:ext cx="5596128" cy="3749040"/>
          </a:xfrm>
          <a:prstGeom prst="roundRect">
            <a:avLst>
              <a:gd name="adj" fmla="val 1220"/>
            </a:avLst>
          </a:prstGeom>
          <a:solidFill>
            <a:srgbClr val="22452A"/>
          </a:solidFill>
          <a:ln w="12700">
            <a:solidFill>
              <a:srgbClr val="5F8A3E"/>
            </a:solidFill>
            <a:prstDash val="solid"/>
          </a:ln>
        </p:spPr>
      </p:sp>
      <p:sp>
        <p:nvSpPr>
          <p:cNvPr id="14" name="Text 12"/>
          <p:cNvSpPr/>
          <p:nvPr/>
        </p:nvSpPr>
        <p:spPr>
          <a:xfrm>
            <a:off x="6473952" y="1755648"/>
            <a:ext cx="502920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Four layers, only three of them real</a:t>
            </a:r>
            <a:endParaRPr lang="en-US" sz="1500" dirty="0"/>
          </a:p>
        </p:txBody>
      </p:sp>
      <p:sp>
        <p:nvSpPr>
          <p:cNvPr id="15" name="Text 13"/>
          <p:cNvSpPr/>
          <p:nvPr/>
        </p:nvSpPr>
        <p:spPr>
          <a:xfrm>
            <a:off x="6473952" y="2185416"/>
            <a:ext cx="310896" cy="310896"/>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6" name="Text 14"/>
          <p:cNvSpPr/>
          <p:nvPr/>
        </p:nvSpPr>
        <p:spPr>
          <a:xfrm>
            <a:off x="6912864" y="2157984"/>
            <a:ext cx="4681728" cy="731520"/>
          </a:xfrm>
          <a:prstGeom prst="rect">
            <a:avLst/>
          </a:prstGeom>
          <a:noFill/>
          <a:ln/>
        </p:spPr>
        <p:txBody>
          <a:bodyPr wrap="square" lIns="0" tIns="0" rIns="0" bIns="0" rtlCol="0" anchor="t"/>
          <a:lstStyle/>
          <a:p>
            <a:pPr indent="0" marL="0">
              <a:lnSpc>
                <a:spcPct val="108000"/>
              </a:lnSpc>
              <a:buNone/>
            </a:pPr>
            <a:r>
              <a:rPr lang="en-US" sz="1050" dirty="0">
                <a:solidFill>
                  <a:srgbClr val="FFFFFF"/>
                </a:solidFill>
                <a:latin typeface="Calibri" pitchFamily="34" charset="0"/>
                <a:ea typeface="Calibri" pitchFamily="34" charset="-122"/>
                <a:cs typeface="Calibri" pitchFamily="34" charset="-120"/>
              </a:rPr>
              <a:t>Angular route guards — authGuard blocks anonymous users, roleGuard matches route.data.roles. Convenience only.</a:t>
            </a:r>
            <a:endParaRPr lang="en-US" sz="1050" dirty="0"/>
          </a:p>
        </p:txBody>
      </p:sp>
      <p:sp>
        <p:nvSpPr>
          <p:cNvPr id="17" name="Text 15"/>
          <p:cNvSpPr/>
          <p:nvPr/>
        </p:nvSpPr>
        <p:spPr>
          <a:xfrm>
            <a:off x="6473952" y="2971800"/>
            <a:ext cx="310896" cy="310896"/>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912864" y="2944368"/>
            <a:ext cx="4681728" cy="731520"/>
          </a:xfrm>
          <a:prstGeom prst="rect">
            <a:avLst/>
          </a:prstGeom>
          <a:noFill/>
          <a:ln/>
        </p:spPr>
        <p:txBody>
          <a:bodyPr wrap="square" lIns="0" tIns="0" rIns="0" bIns="0" rtlCol="0" anchor="t"/>
          <a:lstStyle/>
          <a:p>
            <a:pPr indent="0" marL="0">
              <a:lnSpc>
                <a:spcPct val="108000"/>
              </a:lnSpc>
              <a:buNone/>
            </a:pPr>
            <a:r>
              <a:rPr lang="en-US" sz="1050" dirty="0">
                <a:solidFill>
                  <a:srgbClr val="FFFFFF"/>
                </a:solidFill>
                <a:latin typeface="Calibri" pitchFamily="34" charset="0"/>
                <a:ea typeface="Calibri" pitchFamily="34" charset="-122"/>
                <a:cs typeface="Calibri" pitchFamily="34" charset="-120"/>
              </a:rPr>
              <a:t>SecurityConfig in each service — URL + HTTP method mapped to allowed roles, sessions STATELESS.</a:t>
            </a:r>
            <a:endParaRPr lang="en-US" sz="1050" dirty="0"/>
          </a:p>
        </p:txBody>
      </p:sp>
      <p:sp>
        <p:nvSpPr>
          <p:cNvPr id="19" name="Text 17"/>
          <p:cNvSpPr/>
          <p:nvPr/>
        </p:nvSpPr>
        <p:spPr>
          <a:xfrm>
            <a:off x="6473952" y="3758184"/>
            <a:ext cx="310896" cy="310896"/>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6912864" y="3730752"/>
            <a:ext cx="4681728" cy="731520"/>
          </a:xfrm>
          <a:prstGeom prst="rect">
            <a:avLst/>
          </a:prstGeom>
          <a:noFill/>
          <a:ln/>
        </p:spPr>
        <p:txBody>
          <a:bodyPr wrap="square" lIns="0" tIns="0" rIns="0" bIns="0" rtlCol="0" anchor="t"/>
          <a:lstStyle/>
          <a:p>
            <a:pPr indent="0" marL="0">
              <a:lnSpc>
                <a:spcPct val="108000"/>
              </a:lnSpc>
              <a:buNone/>
            </a:pPr>
            <a:r>
              <a:rPr lang="en-US" sz="1050" dirty="0">
                <a:solidFill>
                  <a:srgbClr val="FFFFFF"/>
                </a:solidFill>
                <a:latin typeface="Calibri" pitchFamily="34" charset="0"/>
                <a:ea typeface="Calibri" pitchFamily="34" charset="-122"/>
                <a:cs typeface="Calibri" pitchFamily="34" charset="-120"/>
              </a:rPr>
              <a:t>Service-layer rules — an Officer may create only Farmer accounts, and approve them only inside their own region.</a:t>
            </a:r>
            <a:endParaRPr lang="en-US" sz="1050" dirty="0"/>
          </a:p>
        </p:txBody>
      </p:sp>
      <p:sp>
        <p:nvSpPr>
          <p:cNvPr id="21" name="Text 19"/>
          <p:cNvSpPr/>
          <p:nvPr/>
        </p:nvSpPr>
        <p:spPr>
          <a:xfrm>
            <a:off x="6473952" y="4544568"/>
            <a:ext cx="310896" cy="310896"/>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6912864" y="4517136"/>
            <a:ext cx="4681728" cy="731520"/>
          </a:xfrm>
          <a:prstGeom prst="rect">
            <a:avLst/>
          </a:prstGeom>
          <a:noFill/>
          <a:ln/>
        </p:spPr>
        <p:txBody>
          <a:bodyPr wrap="square" lIns="0" tIns="0" rIns="0" bIns="0" rtlCol="0" anchor="t"/>
          <a:lstStyle/>
          <a:p>
            <a:pPr indent="0" marL="0">
              <a:lnSpc>
                <a:spcPct val="108000"/>
              </a:lnSpc>
              <a:buNone/>
            </a:pPr>
            <a:r>
              <a:rPr lang="en-US" sz="1050" dirty="0">
                <a:solidFill>
                  <a:srgbClr val="FFFFFF"/>
                </a:solidFill>
                <a:latin typeface="Calibri" pitchFamily="34" charset="0"/>
                <a:ea typeface="Calibri" pitchFamily="34" charset="-122"/>
                <a:cs typeface="Calibri" pitchFamily="34" charset="-120"/>
              </a:rPr>
              <a:t>Owner scoping — the row itself must belong to the token's userId, checked on read, update and delete.</a:t>
            </a:r>
            <a:endParaRPr lang="en-US" sz="1050" dirty="0"/>
          </a:p>
        </p:txBody>
      </p:sp>
      <p:sp>
        <p:nvSpPr>
          <p:cNvPr id="23" name="Text 21"/>
          <p:cNvSpPr/>
          <p:nvPr/>
        </p:nvSpPr>
        <p:spPr>
          <a:xfrm>
            <a:off x="6473952" y="4882896"/>
            <a:ext cx="5029200" cy="274320"/>
          </a:xfrm>
          <a:prstGeom prst="rect">
            <a:avLst/>
          </a:prstGeom>
          <a:noFill/>
          <a:ln/>
        </p:spPr>
        <p:txBody>
          <a:bodyPr wrap="square" lIns="0" tIns="0" rIns="0" bIns="0" rtlCol="0" anchor="ctr"/>
          <a:lstStyle/>
          <a:p>
            <a:pPr indent="0" marL="0">
              <a:buNone/>
            </a:pPr>
            <a:r>
              <a:rPr lang="en-US" sz="1050" b="1" i="1" dirty="0">
                <a:solidFill>
                  <a:srgbClr val="97BC62"/>
                </a:solidFill>
                <a:latin typeface="Calibri" pitchFamily="34" charset="0"/>
                <a:ea typeface="Calibri" pitchFamily="34" charset="-122"/>
                <a:cs typeface="Calibri" pitchFamily="34" charset="-120"/>
              </a:rPr>
              <a:t>Layers 2–4 are the gate. Layer 1 only hides buttons.</a:t>
            </a:r>
            <a:endParaRPr lang="en-US" sz="1050" dirty="0"/>
          </a:p>
        </p:txBody>
      </p:sp>
      <p:sp>
        <p:nvSpPr>
          <p:cNvPr id="24" name="Shape 22"/>
          <p:cNvSpPr/>
          <p:nvPr/>
        </p:nvSpPr>
        <p:spPr>
          <a:xfrm>
            <a:off x="411480" y="5532120"/>
            <a:ext cx="11384280" cy="868680"/>
          </a:xfrm>
          <a:prstGeom prst="roundRect">
            <a:avLst>
              <a:gd name="adj" fmla="val 5263"/>
            </a:avLst>
          </a:prstGeom>
          <a:solidFill>
            <a:srgbClr val="22452A"/>
          </a:solidFill>
          <a:ln w="12700">
            <a:solidFill>
              <a:srgbClr val="5F8A3E"/>
            </a:solidFill>
            <a:prstDash val="solid"/>
          </a:ln>
        </p:spPr>
      </p:sp>
      <p:sp>
        <p:nvSpPr>
          <p:cNvPr id="25" name="Text 23"/>
          <p:cNvSpPr/>
          <p:nvPr/>
        </p:nvSpPr>
        <p:spPr>
          <a:xfrm>
            <a:off x="658368" y="5586984"/>
            <a:ext cx="10881360" cy="758952"/>
          </a:xfrm>
          <a:prstGeom prst="rect">
            <a:avLst/>
          </a:prstGeom>
          <a:noFill/>
          <a:ln/>
        </p:spPr>
        <p:txBody>
          <a:bodyPr wrap="square" lIns="0" tIns="0" rIns="0" bIns="0" rtlCol="0" anchor="ctr"/>
          <a:lstStyle/>
          <a:p>
            <a:pPr indent="0" marL="0">
              <a:lnSpc>
                <a:spcPct val="115000"/>
              </a:lnSpc>
              <a:buNone/>
            </a:pPr>
            <a:r>
              <a:rPr lang="en-US" sz="1150" b="1" dirty="0">
                <a:solidFill>
                  <a:srgbClr val="97BC62"/>
                </a:solidFill>
                <a:latin typeface="Calibri" pitchFamily="34" charset="0"/>
                <a:ea typeface="Calibri" pitchFamily="34" charset="-122"/>
                <a:cs typeface="Calibri" pitchFamily="34" charset="-120"/>
              </a:rPr>
              <a:t>Audit trail: </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an AOP aspect wraps every POST / PUT / DELETE and fire-and-forgets a record to iam-service /agriLink/audit, tagged with the module name and action. It is deliberately non-blocking — if auditing is down, the farmer's request still succeeds.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74320"/>
            <a:ext cx="11155680" cy="256032"/>
          </a:xfrm>
          <a:prstGeom prst="rect">
            <a:avLst/>
          </a:prstGeom>
          <a:noFill/>
          <a:ln/>
        </p:spPr>
        <p:txBody>
          <a:bodyPr wrap="square" lIns="0" tIns="0" rIns="0" bIns="0" rtlCol="0" anchor="ctr"/>
          <a:lstStyle/>
          <a:p>
            <a:pPr indent="0" marL="0">
              <a:buNone/>
            </a:pPr>
            <a:r>
              <a:rPr lang="en-US" sz="1100" b="1" spc="250" kern="0" dirty="0">
                <a:solidFill>
                  <a:srgbClr val="5F8A3E"/>
                </a:solidFill>
                <a:latin typeface="Calibri" pitchFamily="34" charset="0"/>
                <a:ea typeface="Calibri" pitchFamily="34" charset="-122"/>
                <a:cs typeface="Calibri" pitchFamily="34" charset="-120"/>
              </a:rPr>
              <a:t>MY STRONGEST TALKING POINT</a:t>
            </a:r>
            <a:endParaRPr lang="en-US" sz="1100" dirty="0"/>
          </a:p>
        </p:txBody>
      </p:sp>
      <p:sp>
        <p:nvSpPr>
          <p:cNvPr id="3" name="Text 1"/>
          <p:cNvSpPr/>
          <p:nvPr/>
        </p:nvSpPr>
        <p:spPr>
          <a:xfrm>
            <a:off x="502920" y="548640"/>
            <a:ext cx="11155680" cy="502920"/>
          </a:xfrm>
          <a:prstGeom prst="rect">
            <a:avLst/>
          </a:prstGeom>
          <a:noFill/>
          <a:ln/>
        </p:spPr>
        <p:txBody>
          <a:bodyPr wrap="square" lIns="0" tIns="0" rIns="0" bIns="0" rtlCol="0" anchor="t"/>
          <a:lstStyle/>
          <a:p>
            <a:pPr indent="0" marL="0">
              <a:buNone/>
            </a:pPr>
            <a:r>
              <a:rPr lang="en-US" sz="3000" b="1" dirty="0">
                <a:solidFill>
                  <a:srgbClr val="1F2A24"/>
                </a:solidFill>
                <a:latin typeface="Cambria" pitchFamily="34" charset="0"/>
                <a:ea typeface="Cambria" pitchFamily="34" charset="-122"/>
                <a:cs typeface="Cambria" pitchFamily="34" charset="-120"/>
              </a:rPr>
              <a:t>The Authorisation Hole I Found — and Closed</a:t>
            </a:r>
            <a:endParaRPr lang="en-US" sz="3000" dirty="0"/>
          </a:p>
        </p:txBody>
      </p:sp>
      <p:sp>
        <p:nvSpPr>
          <p:cNvPr id="4" name="Text 2"/>
          <p:cNvSpPr/>
          <p:nvPr/>
        </p:nvSpPr>
        <p:spPr>
          <a:xfrm>
            <a:off x="502920" y="1078992"/>
            <a:ext cx="11155680" cy="310896"/>
          </a:xfrm>
          <a:prstGeom prst="rect">
            <a:avLst/>
          </a:prstGeom>
          <a:noFill/>
          <a:ln/>
        </p:spPr>
        <p:txBody>
          <a:bodyPr wrap="square" lIns="0" tIns="0" rIns="0" bIns="0" rtlCol="0" anchor="t"/>
          <a:lstStyle/>
          <a:p>
            <a:pPr indent="0" marL="0">
              <a:buNone/>
            </a:pPr>
            <a:r>
              <a:rPr lang="en-US" sz="1250" dirty="0">
                <a:solidFill>
                  <a:srgbClr val="5F6E64"/>
                </a:solidFill>
                <a:latin typeface="Calibri" pitchFamily="34" charset="0"/>
                <a:ea typeface="Calibri" pitchFamily="34" charset="-122"/>
                <a:cs typeface="Calibri" pitchFamily="34" charset="-120"/>
              </a:rPr>
              <a:t>The screen was always right. The API was not. This is the difference between filtering and authorising.</a:t>
            </a:r>
            <a:endParaRPr lang="en-US" sz="1250" dirty="0"/>
          </a:p>
        </p:txBody>
      </p:sp>
      <p:sp>
        <p:nvSpPr>
          <p:cNvPr id="5" name="Shape 3"/>
          <p:cNvSpPr/>
          <p:nvPr/>
        </p:nvSpPr>
        <p:spPr>
          <a:xfrm>
            <a:off x="411480" y="1627632"/>
            <a:ext cx="5577840" cy="3657600"/>
          </a:xfrm>
          <a:prstGeom prst="roundRect">
            <a:avLst>
              <a:gd name="adj" fmla="val 1250"/>
            </a:avLst>
          </a:prstGeom>
          <a:solidFill>
            <a:srgbClr val="FBEBE8"/>
          </a:solidFill>
          <a:ln w="19050">
            <a:solidFill>
              <a:srgbClr val="B0402F"/>
            </a:solidFill>
            <a:prstDash val="solid"/>
          </a:ln>
        </p:spPr>
      </p:sp>
      <p:sp>
        <p:nvSpPr>
          <p:cNvPr id="6" name="Text 4"/>
          <p:cNvSpPr/>
          <p:nvPr/>
        </p:nvSpPr>
        <p:spPr>
          <a:xfrm>
            <a:off x="411480" y="1627632"/>
            <a:ext cx="5577840" cy="493776"/>
          </a:xfrm>
          <a:prstGeom prst="roundRect">
            <a:avLst>
              <a:gd name="adj" fmla="val 9259"/>
            </a:avLst>
          </a:prstGeom>
          <a:solidFill>
            <a:srgbClr val="B0402F"/>
          </a:solidFill>
          <a:ln w="12700">
            <a:solidFill>
              <a:srgbClr val="B0402F"/>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Before  ·  filtering lived in the browser</a:t>
            </a:r>
            <a:endParaRPr lang="en-US" sz="1250" dirty="0"/>
          </a:p>
        </p:txBody>
      </p:sp>
      <p:sp>
        <p:nvSpPr>
          <p:cNvPr id="7" name="Text 5"/>
          <p:cNvSpPr/>
          <p:nvPr/>
        </p:nvSpPr>
        <p:spPr>
          <a:xfrm>
            <a:off x="667512" y="2304288"/>
            <a:ext cx="310896" cy="310896"/>
          </a:xfrm>
          <a:prstGeom prst="ellipse">
            <a:avLst/>
          </a:prstGeom>
          <a:solidFill>
            <a:srgbClr val="B0402F"/>
          </a:solidFill>
          <a:ln w="12700">
            <a:solidFill>
              <a:srgbClr val="B0402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088136" y="2286000"/>
            <a:ext cx="4663440" cy="694944"/>
          </a:xfrm>
          <a:prstGeom prst="rect">
            <a:avLst/>
          </a:prstGeom>
          <a:noFill/>
          <a:ln/>
        </p:spPr>
        <p:txBody>
          <a:bodyPr wrap="square" lIns="0" tIns="0" rIns="0" bIns="0" rtlCol="0" anchor="t"/>
          <a:lstStyle/>
          <a:p>
            <a:pPr indent="0" marL="0">
              <a:lnSpc>
                <a:spcPct val="106000"/>
              </a:lnSpc>
              <a:buNone/>
            </a:pPr>
            <a:r>
              <a:rPr lang="en-US" sz="1000" dirty="0">
                <a:solidFill>
                  <a:srgbClr val="1F2A24"/>
                </a:solidFill>
                <a:latin typeface="Calibri" pitchFamily="34" charset="0"/>
                <a:ea typeface="Calibri" pitchFamily="34" charset="-122"/>
                <a:cs typeface="Calibri" pitchFamily="34" charset="-120"/>
              </a:rPr>
              <a:t>The Angular page filtered crop plans client-side, so a farmer's table looked perfectly correct.</a:t>
            </a:r>
            <a:endParaRPr lang="en-US" sz="1000" dirty="0"/>
          </a:p>
        </p:txBody>
      </p:sp>
      <p:sp>
        <p:nvSpPr>
          <p:cNvPr id="9" name="Text 7"/>
          <p:cNvSpPr/>
          <p:nvPr/>
        </p:nvSpPr>
        <p:spPr>
          <a:xfrm>
            <a:off x="667512" y="3054096"/>
            <a:ext cx="310896" cy="310896"/>
          </a:xfrm>
          <a:prstGeom prst="ellipse">
            <a:avLst/>
          </a:prstGeom>
          <a:solidFill>
            <a:srgbClr val="B0402F"/>
          </a:solidFill>
          <a:ln w="12700">
            <a:solidFill>
              <a:srgbClr val="B0402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1088136" y="3035808"/>
            <a:ext cx="4663440" cy="694944"/>
          </a:xfrm>
          <a:prstGeom prst="rect">
            <a:avLst/>
          </a:prstGeom>
          <a:noFill/>
          <a:ln/>
        </p:spPr>
        <p:txBody>
          <a:bodyPr wrap="square" lIns="0" tIns="0" rIns="0" bIns="0" rtlCol="0" anchor="t"/>
          <a:lstStyle/>
          <a:p>
            <a:pPr indent="0" marL="0">
              <a:lnSpc>
                <a:spcPct val="106000"/>
              </a:lnSpc>
              <a:buNone/>
            </a:pPr>
            <a:r>
              <a:rPr lang="en-US" sz="1000" dirty="0">
                <a:solidFill>
                  <a:srgbClr val="1F2A24"/>
                </a:solidFill>
                <a:latin typeface="Calibri" pitchFamily="34" charset="0"/>
                <a:ea typeface="Calibri" pitchFamily="34" charset="-122"/>
                <a:cs typeface="Calibri" pitchFamily="34" charset="-120"/>
              </a:rPr>
              <a:t>But GET /agrilink/crop/crop-plans returned every farmer's plans. Role check passed — Farmer is allowed on the endpoint.</a:t>
            </a:r>
            <a:endParaRPr lang="en-US" sz="1000" dirty="0"/>
          </a:p>
        </p:txBody>
      </p:sp>
      <p:sp>
        <p:nvSpPr>
          <p:cNvPr id="11" name="Text 9"/>
          <p:cNvSpPr/>
          <p:nvPr/>
        </p:nvSpPr>
        <p:spPr>
          <a:xfrm>
            <a:off x="667512" y="3803904"/>
            <a:ext cx="310896" cy="310896"/>
          </a:xfrm>
          <a:prstGeom prst="ellipse">
            <a:avLst/>
          </a:prstGeom>
          <a:solidFill>
            <a:srgbClr val="B0402F"/>
          </a:solidFill>
          <a:ln w="12700">
            <a:solidFill>
              <a:srgbClr val="B0402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p:nvPr/>
        </p:nvSpPr>
        <p:spPr>
          <a:xfrm>
            <a:off x="1088136" y="3785616"/>
            <a:ext cx="4663440" cy="694944"/>
          </a:xfrm>
          <a:prstGeom prst="rect">
            <a:avLst/>
          </a:prstGeom>
          <a:noFill/>
          <a:ln/>
        </p:spPr>
        <p:txBody>
          <a:bodyPr wrap="square" lIns="0" tIns="0" rIns="0" bIns="0" rtlCol="0" anchor="t"/>
          <a:lstStyle/>
          <a:p>
            <a:pPr indent="0" marL="0">
              <a:lnSpc>
                <a:spcPct val="106000"/>
              </a:lnSpc>
              <a:buNone/>
            </a:pPr>
            <a:r>
              <a:rPr lang="en-US" sz="1000" dirty="0">
                <a:solidFill>
                  <a:srgbClr val="1F2A24"/>
                </a:solidFill>
                <a:latin typeface="Calibri" pitchFamily="34" charset="0"/>
                <a:ea typeface="Calibri" pitchFamily="34" charset="-122"/>
                <a:cs typeface="Calibri" pitchFamily="34" charset="-120"/>
              </a:rPr>
              <a:t>Anyone logged in as a farmer could read other farmers' data straight from DevTools or curl: holdings, areas, sowing dates.</a:t>
            </a:r>
            <a:endParaRPr lang="en-US" sz="1000" dirty="0"/>
          </a:p>
        </p:txBody>
      </p:sp>
      <p:sp>
        <p:nvSpPr>
          <p:cNvPr id="13" name="Text 11"/>
          <p:cNvSpPr/>
          <p:nvPr/>
        </p:nvSpPr>
        <p:spPr>
          <a:xfrm>
            <a:off x="667512" y="4553712"/>
            <a:ext cx="310896" cy="310896"/>
          </a:xfrm>
          <a:prstGeom prst="ellipse">
            <a:avLst/>
          </a:prstGeom>
          <a:solidFill>
            <a:srgbClr val="B0402F"/>
          </a:solidFill>
          <a:ln w="12700">
            <a:solidFill>
              <a:srgbClr val="B0402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4" name="Text 12"/>
          <p:cNvSpPr/>
          <p:nvPr/>
        </p:nvSpPr>
        <p:spPr>
          <a:xfrm>
            <a:off x="1088136" y="4535424"/>
            <a:ext cx="4663440" cy="694944"/>
          </a:xfrm>
          <a:prstGeom prst="rect">
            <a:avLst/>
          </a:prstGeom>
          <a:noFill/>
          <a:ln/>
        </p:spPr>
        <p:txBody>
          <a:bodyPr wrap="square" lIns="0" tIns="0" rIns="0" bIns="0" rtlCol="0" anchor="t"/>
          <a:lstStyle/>
          <a:p>
            <a:pPr indent="0" marL="0">
              <a:lnSpc>
                <a:spcPct val="106000"/>
              </a:lnSpc>
              <a:buNone/>
            </a:pPr>
            <a:r>
              <a:rPr lang="en-US" sz="1000" dirty="0">
                <a:solidFill>
                  <a:srgbClr val="1F2A24"/>
                </a:solidFill>
                <a:latin typeface="Calibri" pitchFamily="34" charset="0"/>
                <a:ea typeface="Calibri" pitchFamily="34" charset="-122"/>
                <a:cs typeface="Calibri" pitchFamily="34" charset="-120"/>
              </a:rPr>
              <a:t>GET by id, PUT and DELETE had no ownership check either — a farmer could edit or delete someone else's plan by guessing an id.</a:t>
            </a:r>
            <a:endParaRPr lang="en-US" sz="1000" dirty="0"/>
          </a:p>
        </p:txBody>
      </p:sp>
      <p:sp>
        <p:nvSpPr>
          <p:cNvPr id="15" name="Shape 13"/>
          <p:cNvSpPr/>
          <p:nvPr/>
        </p:nvSpPr>
        <p:spPr>
          <a:xfrm>
            <a:off x="6199632" y="1627632"/>
            <a:ext cx="5577840" cy="3657600"/>
          </a:xfrm>
          <a:prstGeom prst="roundRect">
            <a:avLst>
              <a:gd name="adj" fmla="val 1250"/>
            </a:avLst>
          </a:prstGeom>
          <a:solidFill>
            <a:srgbClr val="EDF3E8"/>
          </a:solidFill>
          <a:ln w="19050">
            <a:solidFill>
              <a:srgbClr val="5F8A3E"/>
            </a:solidFill>
            <a:prstDash val="solid"/>
          </a:ln>
        </p:spPr>
      </p:sp>
      <p:sp>
        <p:nvSpPr>
          <p:cNvPr id="16" name="Text 14"/>
          <p:cNvSpPr/>
          <p:nvPr/>
        </p:nvSpPr>
        <p:spPr>
          <a:xfrm>
            <a:off x="6199632" y="1627632"/>
            <a:ext cx="5577840" cy="493776"/>
          </a:xfrm>
          <a:prstGeom prst="roundRect">
            <a:avLst>
              <a:gd name="adj" fmla="val 9259"/>
            </a:avLst>
          </a:prstGeom>
          <a:solidFill>
            <a:srgbClr val="5F8A3E"/>
          </a:solidFill>
          <a:ln w="12700">
            <a:solidFill>
              <a:srgbClr val="5F8A3E"/>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After  ·  ownership re-derived from the token</a:t>
            </a:r>
            <a:endParaRPr lang="en-US" sz="1250" dirty="0"/>
          </a:p>
        </p:txBody>
      </p:sp>
      <p:sp>
        <p:nvSpPr>
          <p:cNvPr id="17" name="Text 15"/>
          <p:cNvSpPr/>
          <p:nvPr/>
        </p:nvSpPr>
        <p:spPr>
          <a:xfrm>
            <a:off x="6455664" y="2304288"/>
            <a:ext cx="310896" cy="310896"/>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6"/>
          <p:cNvSpPr/>
          <p:nvPr/>
        </p:nvSpPr>
        <p:spPr>
          <a:xfrm>
            <a:off x="6876288" y="2286000"/>
            <a:ext cx="4663440" cy="694944"/>
          </a:xfrm>
          <a:prstGeom prst="rect">
            <a:avLst/>
          </a:prstGeom>
          <a:noFill/>
          <a:ln/>
        </p:spPr>
        <p:txBody>
          <a:bodyPr wrap="square" lIns="0" tIns="0" rIns="0" bIns="0" rtlCol="0" anchor="t"/>
          <a:lstStyle/>
          <a:p>
            <a:pPr indent="0" marL="0">
              <a:lnSpc>
                <a:spcPct val="106000"/>
              </a:lnSpc>
              <a:buNone/>
            </a:pPr>
            <a:r>
              <a:rPr lang="en-US" sz="1000" dirty="0">
                <a:solidFill>
                  <a:srgbClr val="1F2A24"/>
                </a:solidFill>
                <a:latin typeface="Calibri" pitchFamily="34" charset="0"/>
                <a:ea typeface="Calibri" pitchFamily="34" charset="-122"/>
                <a:cs typeface="Calibri" pitchFamily="34" charset="-120"/>
              </a:rPr>
              <a:t>CropPlanController reads roleName and userId out of the validated JWT instead of trusting anything the client sent.</a:t>
            </a:r>
            <a:endParaRPr lang="en-US" sz="1000" dirty="0"/>
          </a:p>
        </p:txBody>
      </p:sp>
      <p:sp>
        <p:nvSpPr>
          <p:cNvPr id="19" name="Text 17"/>
          <p:cNvSpPr/>
          <p:nvPr/>
        </p:nvSpPr>
        <p:spPr>
          <a:xfrm>
            <a:off x="6455664" y="3054096"/>
            <a:ext cx="310896" cy="310896"/>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0" name="Text 18"/>
          <p:cNvSpPr/>
          <p:nvPr/>
        </p:nvSpPr>
        <p:spPr>
          <a:xfrm>
            <a:off x="6876288" y="3035808"/>
            <a:ext cx="4663440" cy="694944"/>
          </a:xfrm>
          <a:prstGeom prst="rect">
            <a:avLst/>
          </a:prstGeom>
          <a:noFill/>
          <a:ln/>
        </p:spPr>
        <p:txBody>
          <a:bodyPr wrap="square" lIns="0" tIns="0" rIns="0" bIns="0" rtlCol="0" anchor="t"/>
          <a:lstStyle/>
          <a:p>
            <a:pPr indent="0" marL="0">
              <a:lnSpc>
                <a:spcPct val="106000"/>
              </a:lnSpc>
              <a:buNone/>
            </a:pPr>
            <a:r>
              <a:rPr lang="en-US" sz="1000" dirty="0">
                <a:solidFill>
                  <a:srgbClr val="1F2A24"/>
                </a:solidFill>
                <a:latin typeface="Calibri" pitchFamily="34" charset="0"/>
                <a:ea typeface="Calibri" pitchFamily="34" charset="-122"/>
                <a:cs typeface="Calibri" pitchFamily="34" charset="-120"/>
              </a:rPr>
              <a:t>If the caller is a Farmer, FarmerClient calls farmer-service GET /farmer-profiles, forwarding the same JWT.</a:t>
            </a:r>
            <a:endParaRPr lang="en-US" sz="1000" dirty="0"/>
          </a:p>
        </p:txBody>
      </p:sp>
      <p:sp>
        <p:nvSpPr>
          <p:cNvPr id="21" name="Text 19"/>
          <p:cNvSpPr/>
          <p:nvPr/>
        </p:nvSpPr>
        <p:spPr>
          <a:xfrm>
            <a:off x="6455664" y="3803904"/>
            <a:ext cx="310896" cy="310896"/>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6876288" y="3785616"/>
            <a:ext cx="4663440" cy="694944"/>
          </a:xfrm>
          <a:prstGeom prst="rect">
            <a:avLst/>
          </a:prstGeom>
          <a:noFill/>
          <a:ln/>
        </p:spPr>
        <p:txBody>
          <a:bodyPr wrap="square" lIns="0" tIns="0" rIns="0" bIns="0" rtlCol="0" anchor="t"/>
          <a:lstStyle/>
          <a:p>
            <a:pPr indent="0" marL="0">
              <a:lnSpc>
                <a:spcPct val="106000"/>
              </a:lnSpc>
              <a:buNone/>
            </a:pPr>
            <a:r>
              <a:rPr lang="en-US" sz="1000" dirty="0">
                <a:solidFill>
                  <a:srgbClr val="1F2A24"/>
                </a:solidFill>
                <a:latin typeface="Calibri" pitchFamily="34" charset="0"/>
                <a:ea typeface="Calibri" pitchFamily="34" charset="-122"/>
                <a:cs typeface="Calibri" pitchFamily="34" charset="-120"/>
              </a:rPr>
              <a:t>farmer-service scopes that response to the token's userId and returns only the profile ids that user actually owns.</a:t>
            </a:r>
            <a:endParaRPr lang="en-US" sz="1000" dirty="0"/>
          </a:p>
        </p:txBody>
      </p:sp>
      <p:sp>
        <p:nvSpPr>
          <p:cNvPr id="23" name="Text 21"/>
          <p:cNvSpPr/>
          <p:nvPr/>
        </p:nvSpPr>
        <p:spPr>
          <a:xfrm>
            <a:off x="6455664" y="4553712"/>
            <a:ext cx="310896" cy="310896"/>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876288" y="4535424"/>
            <a:ext cx="4663440" cy="694944"/>
          </a:xfrm>
          <a:prstGeom prst="rect">
            <a:avLst/>
          </a:prstGeom>
          <a:noFill/>
          <a:ln/>
        </p:spPr>
        <p:txBody>
          <a:bodyPr wrap="square" lIns="0" tIns="0" rIns="0" bIns="0" rtlCol="0" anchor="t"/>
          <a:lstStyle/>
          <a:p>
            <a:pPr indent="0" marL="0">
              <a:lnSpc>
                <a:spcPct val="106000"/>
              </a:lnSpc>
              <a:buNone/>
            </a:pPr>
            <a:r>
              <a:rPr lang="en-US" sz="1000" dirty="0">
                <a:solidFill>
                  <a:srgbClr val="1F2A24"/>
                </a:solidFill>
                <a:latin typeface="Calibri" pitchFamily="34" charset="0"/>
                <a:ea typeface="Calibri" pitchFamily="34" charset="-122"/>
                <a:cs typeface="Calibri" pitchFamily="34" charset="-120"/>
              </a:rPr>
              <a:t>CropPlanService then queries findByFarmerIdIn(ownedIds); get-by-id, PUT and DELETE each verify ownership first. Officers and Admins stay unrestricted.</a:t>
            </a:r>
            <a:endParaRPr lang="en-US" sz="1000" dirty="0"/>
          </a:p>
        </p:txBody>
      </p:sp>
      <p:sp>
        <p:nvSpPr>
          <p:cNvPr id="25" name="Shape 23"/>
          <p:cNvSpPr/>
          <p:nvPr/>
        </p:nvSpPr>
        <p:spPr>
          <a:xfrm>
            <a:off x="411480" y="5440680"/>
            <a:ext cx="11384280" cy="1005840"/>
          </a:xfrm>
          <a:prstGeom prst="roundRect">
            <a:avLst>
              <a:gd name="adj" fmla="val 4545"/>
            </a:avLst>
          </a:prstGeom>
          <a:solidFill>
            <a:srgbClr val="2C5F2D"/>
          </a:solidFill>
          <a:ln w="12700">
            <a:solidFill>
              <a:srgbClr val="2C5F2D"/>
            </a:solidFill>
            <a:prstDash val="solid"/>
          </a:ln>
        </p:spPr>
      </p:sp>
      <p:sp>
        <p:nvSpPr>
          <p:cNvPr id="26" name="Text 24"/>
          <p:cNvSpPr/>
          <p:nvPr/>
        </p:nvSpPr>
        <p:spPr>
          <a:xfrm>
            <a:off x="658368" y="5495544"/>
            <a:ext cx="10881360" cy="896112"/>
          </a:xfrm>
          <a:prstGeom prst="rect">
            <a:avLst/>
          </a:prstGeom>
          <a:noFill/>
          <a:ln/>
        </p:spPr>
        <p:txBody>
          <a:bodyPr wrap="square" lIns="0" tIns="0" rIns="0" bIns="0" rtlCol="0" anchor="ctr"/>
          <a:lstStyle/>
          <a:p>
            <a:pPr indent="0" marL="0">
              <a:lnSpc>
                <a:spcPct val="115000"/>
              </a:lnSpc>
              <a:buNone/>
            </a:pPr>
            <a:r>
              <a:rPr lang="en-US" sz="1150" b="1" dirty="0">
                <a:solidFill>
                  <a:srgbClr val="97BC62"/>
                </a:solidFill>
                <a:latin typeface="Calibri" pitchFamily="34" charset="0"/>
                <a:ea typeface="Calibri" pitchFamily="34" charset="-122"/>
                <a:cs typeface="Calibri" pitchFamily="34" charset="-120"/>
              </a:rPr>
              <a:t>The lesson I bring to this interview: </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frontend filtering is user experience; authorisation has to be re-derived from the token, inside the service that owns the data.</a:t>
            </a:r>
            <a:endParaRPr lang="en-US" sz="1150" dirty="0"/>
          </a:p>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The same gap is still open in input, produce and notification — I know exactly where it is and the fix is the pattern above.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301C"/>
        </a:solidFill>
      </p:bgPr>
    </p:bg>
    <p:spTree>
      <p:nvGrpSpPr>
        <p:cNvPr id="1" name=""/>
        <p:cNvGrpSpPr/>
        <p:nvPr/>
      </p:nvGrpSpPr>
      <p:grpSpPr>
        <a:xfrm>
          <a:off x="0" y="0"/>
          <a:ext cx="0" cy="0"/>
          <a:chOff x="0" y="0"/>
          <a:chExt cx="0" cy="0"/>
        </a:xfrm>
      </p:grpSpPr>
      <p:sp>
        <p:nvSpPr>
          <p:cNvPr id="2" name="Text 0"/>
          <p:cNvSpPr/>
          <p:nvPr/>
        </p:nvSpPr>
        <p:spPr>
          <a:xfrm>
            <a:off x="502920" y="274320"/>
            <a:ext cx="11155680" cy="256032"/>
          </a:xfrm>
          <a:prstGeom prst="rect">
            <a:avLst/>
          </a:prstGeom>
          <a:noFill/>
          <a:ln/>
        </p:spPr>
        <p:txBody>
          <a:bodyPr wrap="square" lIns="0" tIns="0" rIns="0" bIns="0" rtlCol="0" anchor="ctr"/>
          <a:lstStyle/>
          <a:p>
            <a:pPr indent="0" marL="0">
              <a:buNone/>
            </a:pPr>
            <a:r>
              <a:rPr lang="en-US" sz="1100" b="1" spc="250" kern="0" dirty="0">
                <a:solidFill>
                  <a:srgbClr val="97BC62"/>
                </a:solidFill>
                <a:latin typeface="Calibri" pitchFamily="34" charset="0"/>
                <a:ea typeface="Calibri" pitchFamily="34" charset="-122"/>
                <a:cs typeface="Calibri" pitchFamily="34" charset="-120"/>
              </a:rPr>
              <a:t>WRAP-UP</a:t>
            </a:r>
            <a:endParaRPr lang="en-US" sz="1100" dirty="0"/>
          </a:p>
        </p:txBody>
      </p:sp>
      <p:sp>
        <p:nvSpPr>
          <p:cNvPr id="3" name="Text 1"/>
          <p:cNvSpPr/>
          <p:nvPr/>
        </p:nvSpPr>
        <p:spPr>
          <a:xfrm>
            <a:off x="502920" y="548640"/>
            <a:ext cx="1115568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If I Had Sixty Seconds</a:t>
            </a:r>
            <a:endParaRPr lang="en-US" sz="3000" dirty="0"/>
          </a:p>
        </p:txBody>
      </p:sp>
      <p:sp>
        <p:nvSpPr>
          <p:cNvPr id="4" name="Text 2"/>
          <p:cNvSpPr/>
          <p:nvPr/>
        </p:nvSpPr>
        <p:spPr>
          <a:xfrm>
            <a:off x="502920" y="1078992"/>
            <a:ext cx="11155680" cy="310896"/>
          </a:xfrm>
          <a:prstGeom prst="rect">
            <a:avLst/>
          </a:prstGeom>
          <a:noFill/>
          <a:ln/>
        </p:spPr>
        <p:txBody>
          <a:bodyPr wrap="square" lIns="0" tIns="0" rIns="0" bIns="0" rtlCol="0" anchor="t"/>
          <a:lstStyle/>
          <a:p>
            <a:pPr indent="0" marL="0">
              <a:buNone/>
            </a:pPr>
            <a:r>
              <a:rPr lang="en-US" sz="1250" dirty="0">
                <a:solidFill>
                  <a:srgbClr val="97BC62"/>
                </a:solidFill>
                <a:latin typeface="Calibri" pitchFamily="34" charset="0"/>
                <a:ea typeface="Calibri" pitchFamily="34" charset="-122"/>
                <a:cs typeface="Calibri" pitchFamily="34" charset="-120"/>
              </a:rPr>
              <a:t>The five sentences I would actually say, in order.</a:t>
            </a:r>
            <a:endParaRPr lang="en-US" sz="1250" dirty="0"/>
          </a:p>
        </p:txBody>
      </p:sp>
      <p:sp>
        <p:nvSpPr>
          <p:cNvPr id="5" name="Text 3"/>
          <p:cNvSpPr/>
          <p:nvPr/>
        </p:nvSpPr>
        <p:spPr>
          <a:xfrm>
            <a:off x="548640" y="1728216"/>
            <a:ext cx="384048" cy="384048"/>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097280" y="1691640"/>
            <a:ext cx="7223760" cy="713232"/>
          </a:xfrm>
          <a:prstGeom prst="rect">
            <a:avLst/>
          </a:prstGeom>
          <a:noFill/>
          <a:ln/>
        </p:spPr>
        <p:txBody>
          <a:bodyPr wrap="square" lIns="0" tIns="0" rIns="0" bIns="0" rtlCol="0" anchor="ctr"/>
          <a:lstStyle/>
          <a:p>
            <a:pPr indent="0" marL="0">
              <a:lnSpc>
                <a:spcPct val="108000"/>
              </a:lnSpc>
              <a:buNone/>
            </a:pPr>
            <a:r>
              <a:rPr lang="en-US" sz="1200" dirty="0">
                <a:solidFill>
                  <a:srgbClr val="FFFFFF"/>
                </a:solidFill>
                <a:latin typeface="Calibri" pitchFamily="34" charset="0"/>
                <a:ea typeface="Calibri" pitchFamily="34" charset="-122"/>
                <a:cs typeface="Calibri" pitchFamily="34" charset="-120"/>
              </a:rPr>
              <a:t>AgriLink is one Angular SPA in front of a gateway, eight Spring Boot services and eight MySQL schemas — database per service, no shared tables.</a:t>
            </a:r>
            <a:endParaRPr lang="en-US" sz="1200" dirty="0"/>
          </a:p>
        </p:txBody>
      </p:sp>
      <p:sp>
        <p:nvSpPr>
          <p:cNvPr id="7" name="Text 5"/>
          <p:cNvSpPr/>
          <p:nvPr/>
        </p:nvSpPr>
        <p:spPr>
          <a:xfrm>
            <a:off x="548640" y="2514600"/>
            <a:ext cx="384048" cy="384048"/>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 name="Text 6"/>
          <p:cNvSpPr/>
          <p:nvPr/>
        </p:nvSpPr>
        <p:spPr>
          <a:xfrm>
            <a:off x="1097280" y="2478024"/>
            <a:ext cx="7223760" cy="713232"/>
          </a:xfrm>
          <a:prstGeom prst="rect">
            <a:avLst/>
          </a:prstGeom>
          <a:noFill/>
          <a:ln/>
        </p:spPr>
        <p:txBody>
          <a:bodyPr wrap="square" lIns="0" tIns="0" rIns="0" bIns="0" rtlCol="0" anchor="ctr"/>
          <a:lstStyle/>
          <a:p>
            <a:pPr indent="0" marL="0">
              <a:lnSpc>
                <a:spcPct val="108000"/>
              </a:lnSpc>
              <a:buNone/>
            </a:pPr>
            <a:r>
              <a:rPr lang="en-US" sz="1200" dirty="0">
                <a:solidFill>
                  <a:srgbClr val="FFFFFF"/>
                </a:solidFill>
                <a:latin typeface="Calibri" pitchFamily="34" charset="0"/>
                <a:ea typeface="Calibri" pitchFamily="34" charset="-122"/>
                <a:cs typeface="Calibri" pitchFamily="34" charset="-120"/>
              </a:rPr>
              <a:t>iam-service issues a signed JWT; every other service validates it itself, so authentication is stateless and any instance can serve any request.</a:t>
            </a:r>
            <a:endParaRPr lang="en-US" sz="1200" dirty="0"/>
          </a:p>
        </p:txBody>
      </p:sp>
      <p:sp>
        <p:nvSpPr>
          <p:cNvPr id="9" name="Text 7"/>
          <p:cNvSpPr/>
          <p:nvPr/>
        </p:nvSpPr>
        <p:spPr>
          <a:xfrm>
            <a:off x="548640" y="3300984"/>
            <a:ext cx="384048" cy="384048"/>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0" name="Text 8"/>
          <p:cNvSpPr/>
          <p:nvPr/>
        </p:nvSpPr>
        <p:spPr>
          <a:xfrm>
            <a:off x="1097280" y="3264408"/>
            <a:ext cx="7223760" cy="713232"/>
          </a:xfrm>
          <a:prstGeom prst="rect">
            <a:avLst/>
          </a:prstGeom>
          <a:noFill/>
          <a:ln/>
        </p:spPr>
        <p:txBody>
          <a:bodyPr wrap="square" lIns="0" tIns="0" rIns="0" bIns="0" rtlCol="0" anchor="ctr"/>
          <a:lstStyle/>
          <a:p>
            <a:pPr indent="0" marL="0">
              <a:lnSpc>
                <a:spcPct val="108000"/>
              </a:lnSpc>
              <a:buNone/>
            </a:pPr>
            <a:r>
              <a:rPr lang="en-US" sz="1200" dirty="0">
                <a:solidFill>
                  <a:srgbClr val="FFFFFF"/>
                </a:solidFill>
                <a:latin typeface="Calibri" pitchFamily="34" charset="0"/>
                <a:ea typeface="Calibri" pitchFamily="34" charset="-122"/>
                <a:cs typeface="Calibri" pitchFamily="34" charset="-120"/>
              </a:rPr>
              <a:t>Services register with Eureka and call each other by name over REST — the gateway is the only door the browser knows about.</a:t>
            </a:r>
            <a:endParaRPr lang="en-US" sz="1200" dirty="0"/>
          </a:p>
        </p:txBody>
      </p:sp>
      <p:sp>
        <p:nvSpPr>
          <p:cNvPr id="11" name="Text 9"/>
          <p:cNvSpPr/>
          <p:nvPr/>
        </p:nvSpPr>
        <p:spPr>
          <a:xfrm>
            <a:off x="548640" y="4087368"/>
            <a:ext cx="384048" cy="384048"/>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1097280" y="4050792"/>
            <a:ext cx="7223760" cy="713232"/>
          </a:xfrm>
          <a:prstGeom prst="rect">
            <a:avLst/>
          </a:prstGeom>
          <a:noFill/>
          <a:ln/>
        </p:spPr>
        <p:txBody>
          <a:bodyPr wrap="square" lIns="0" tIns="0" rIns="0" bIns="0" rtlCol="0" anchor="ctr"/>
          <a:lstStyle/>
          <a:p>
            <a:pPr indent="0" marL="0">
              <a:lnSpc>
                <a:spcPct val="108000"/>
              </a:lnSpc>
              <a:buNone/>
            </a:pPr>
            <a:r>
              <a:rPr lang="en-US" sz="1200" dirty="0">
                <a:solidFill>
                  <a:srgbClr val="FFFFFF"/>
                </a:solidFill>
                <a:latin typeface="Calibri" pitchFamily="34" charset="0"/>
                <a:ea typeface="Calibri" pitchFamily="34" charset="-122"/>
                <a:cs typeface="Calibri" pitchFamily="34" charset="-120"/>
              </a:rPr>
              <a:t>My module, crop planning, turns Admin crop templates into farmer sowing plans and officer growth observations, with a forward-only stage rule.</a:t>
            </a:r>
            <a:endParaRPr lang="en-US" sz="1200" dirty="0"/>
          </a:p>
        </p:txBody>
      </p:sp>
      <p:sp>
        <p:nvSpPr>
          <p:cNvPr id="13" name="Text 11"/>
          <p:cNvSpPr/>
          <p:nvPr/>
        </p:nvSpPr>
        <p:spPr>
          <a:xfrm>
            <a:off x="548640" y="4873752"/>
            <a:ext cx="384048" cy="384048"/>
          </a:xfrm>
          <a:prstGeom prst="ellipse">
            <a:avLst/>
          </a:prstGeom>
          <a:solidFill>
            <a:srgbClr val="5F8A3E"/>
          </a:solidFill>
          <a:ln w="12700">
            <a:solidFill>
              <a:srgbClr val="5F8A3E"/>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4" name="Text 12"/>
          <p:cNvSpPr/>
          <p:nvPr/>
        </p:nvSpPr>
        <p:spPr>
          <a:xfrm>
            <a:off x="1097280" y="4837176"/>
            <a:ext cx="7223760" cy="713232"/>
          </a:xfrm>
          <a:prstGeom prst="rect">
            <a:avLst/>
          </a:prstGeom>
          <a:noFill/>
          <a:ln/>
        </p:spPr>
        <p:txBody>
          <a:bodyPr wrap="square" lIns="0" tIns="0" rIns="0" bIns="0" rtlCol="0" anchor="ctr"/>
          <a:lstStyle/>
          <a:p>
            <a:pPr indent="0" marL="0">
              <a:lnSpc>
                <a:spcPct val="108000"/>
              </a:lnSpc>
              <a:buNone/>
            </a:pPr>
            <a:r>
              <a:rPr lang="en-US" sz="1200" dirty="0">
                <a:solidFill>
                  <a:srgbClr val="FFFFFF"/>
                </a:solidFill>
                <a:latin typeface="Calibri" pitchFamily="34" charset="0"/>
                <a:ea typeface="Calibri" pitchFamily="34" charset="-122"/>
                <a:cs typeface="Calibri" pitchFamily="34" charset="-120"/>
              </a:rPr>
              <a:t>And I closed a real authorisation hole by moving farmer scoping out of the UI and into the service, using the token as the only source of identity.</a:t>
            </a:r>
            <a:endParaRPr lang="en-US" sz="1200" dirty="0"/>
          </a:p>
        </p:txBody>
      </p:sp>
      <p:sp>
        <p:nvSpPr>
          <p:cNvPr id="15" name="Shape 13"/>
          <p:cNvSpPr/>
          <p:nvPr/>
        </p:nvSpPr>
        <p:spPr>
          <a:xfrm>
            <a:off x="8549640" y="1645920"/>
            <a:ext cx="3246120" cy="2148840"/>
          </a:xfrm>
          <a:prstGeom prst="roundRect">
            <a:avLst>
              <a:gd name="adj" fmla="val 2128"/>
            </a:avLst>
          </a:prstGeom>
          <a:solidFill>
            <a:srgbClr val="22452A"/>
          </a:solidFill>
          <a:ln w="12700">
            <a:solidFill>
              <a:srgbClr val="5F8A3E"/>
            </a:solidFill>
            <a:prstDash val="solid"/>
          </a:ln>
        </p:spPr>
      </p:sp>
      <p:sp>
        <p:nvSpPr>
          <p:cNvPr id="16" name="Text 14"/>
          <p:cNvSpPr/>
          <p:nvPr/>
        </p:nvSpPr>
        <p:spPr>
          <a:xfrm>
            <a:off x="8778240" y="1792224"/>
            <a:ext cx="278892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Ask me about</a:t>
            </a:r>
            <a:endParaRPr lang="en-US" sz="1400" dirty="0"/>
          </a:p>
        </p:txBody>
      </p:sp>
      <p:sp>
        <p:nvSpPr>
          <p:cNvPr id="17" name="Text 15"/>
          <p:cNvSpPr/>
          <p:nvPr/>
        </p:nvSpPr>
        <p:spPr>
          <a:xfrm>
            <a:off x="8778240" y="2139696"/>
            <a:ext cx="2788920" cy="365760"/>
          </a:xfrm>
          <a:prstGeom prst="rect">
            <a:avLst/>
          </a:prstGeom>
          <a:noFill/>
          <a:ln/>
        </p:spPr>
        <p:txBody>
          <a:bodyPr wrap="square" lIns="0" tIns="0" rIns="0" bIns="0" rtlCol="0" anchor="t"/>
          <a:lstStyle/>
          <a:p>
            <a:pPr marL="342900" indent="-342900">
              <a:buSzPct val="100000"/>
              <a:buChar char="•"/>
            </a:pPr>
            <a:r>
              <a:rPr lang="en-US" sz="1000" dirty="0">
                <a:solidFill>
                  <a:srgbClr val="DCE7D3"/>
                </a:solidFill>
                <a:latin typeface="Calibri" pitchFamily="34" charset="0"/>
                <a:ea typeface="Calibri" pitchFamily="34" charset="-122"/>
                <a:cs typeface="Calibri" pitchFamily="34" charset="-120"/>
              </a:rPr>
              <a:t>the 403-triggered silent token refresh</a:t>
            </a:r>
            <a:endParaRPr lang="en-US" sz="1000" dirty="0"/>
          </a:p>
        </p:txBody>
      </p:sp>
      <p:sp>
        <p:nvSpPr>
          <p:cNvPr id="18" name="Text 16"/>
          <p:cNvSpPr/>
          <p:nvPr/>
        </p:nvSpPr>
        <p:spPr>
          <a:xfrm>
            <a:off x="8778240" y="2542032"/>
            <a:ext cx="2788920" cy="365760"/>
          </a:xfrm>
          <a:prstGeom prst="rect">
            <a:avLst/>
          </a:prstGeom>
          <a:noFill/>
          <a:ln/>
        </p:spPr>
        <p:txBody>
          <a:bodyPr wrap="square" lIns="0" tIns="0" rIns="0" bIns="0" rtlCol="0" anchor="t"/>
          <a:lstStyle/>
          <a:p>
            <a:pPr marL="342900" indent="-342900">
              <a:buSzPct val="100000"/>
              <a:buChar char="•"/>
            </a:pPr>
            <a:r>
              <a:rPr lang="en-US" sz="1000" dirty="0">
                <a:solidFill>
                  <a:srgbClr val="DCE7D3"/>
                </a:solidFill>
                <a:latin typeface="Calibri" pitchFamily="34" charset="0"/>
                <a:ea typeface="Calibri" pitchFamily="34" charset="-122"/>
                <a:cs typeface="Calibri" pitchFamily="34" charset="-120"/>
              </a:rPr>
              <a:t>database-per-service trade-offs</a:t>
            </a:r>
            <a:endParaRPr lang="en-US" sz="1000" dirty="0"/>
          </a:p>
        </p:txBody>
      </p:sp>
      <p:sp>
        <p:nvSpPr>
          <p:cNvPr id="19" name="Text 17"/>
          <p:cNvSpPr/>
          <p:nvPr/>
        </p:nvSpPr>
        <p:spPr>
          <a:xfrm>
            <a:off x="8778240" y="2944368"/>
            <a:ext cx="2788920" cy="365760"/>
          </a:xfrm>
          <a:prstGeom prst="rect">
            <a:avLst/>
          </a:prstGeom>
          <a:noFill/>
          <a:ln/>
        </p:spPr>
        <p:txBody>
          <a:bodyPr wrap="square" lIns="0" tIns="0" rIns="0" bIns="0" rtlCol="0" anchor="t"/>
          <a:lstStyle/>
          <a:p>
            <a:pPr marL="342900" indent="-342900">
              <a:buSzPct val="100000"/>
              <a:buChar char="•"/>
            </a:pPr>
            <a:r>
              <a:rPr lang="en-US" sz="1000" dirty="0">
                <a:solidFill>
                  <a:srgbClr val="DCE7D3"/>
                </a:solidFill>
                <a:latin typeface="Calibri" pitchFamily="34" charset="0"/>
                <a:ea typeface="Calibri" pitchFamily="34" charset="-122"/>
                <a:cs typeface="Calibri" pitchFamily="34" charset="-120"/>
              </a:rPr>
              <a:t>how Eureka and the gateway route one call</a:t>
            </a:r>
            <a:endParaRPr lang="en-US" sz="1000" dirty="0"/>
          </a:p>
        </p:txBody>
      </p:sp>
      <p:sp>
        <p:nvSpPr>
          <p:cNvPr id="20" name="Text 18"/>
          <p:cNvSpPr/>
          <p:nvPr/>
        </p:nvSpPr>
        <p:spPr>
          <a:xfrm>
            <a:off x="8778240" y="3346704"/>
            <a:ext cx="2788920" cy="365760"/>
          </a:xfrm>
          <a:prstGeom prst="rect">
            <a:avLst/>
          </a:prstGeom>
          <a:noFill/>
          <a:ln/>
        </p:spPr>
        <p:txBody>
          <a:bodyPr wrap="square" lIns="0" tIns="0" rIns="0" bIns="0" rtlCol="0" anchor="t"/>
          <a:lstStyle/>
          <a:p>
            <a:pPr marL="342900" indent="-342900">
              <a:buSzPct val="100000"/>
              <a:buChar char="•"/>
            </a:pPr>
            <a:r>
              <a:rPr lang="en-US" sz="1000" dirty="0">
                <a:solidFill>
                  <a:srgbClr val="DCE7D3"/>
                </a:solidFill>
                <a:latin typeface="Calibri" pitchFamily="34" charset="0"/>
                <a:ea typeface="Calibri" pitchFamily="34" charset="-122"/>
                <a:cs typeface="Calibri" pitchFamily="34" charset="-120"/>
              </a:rPr>
              <a:t>why the crop enums differ from the rest</a:t>
            </a:r>
            <a:endParaRPr lang="en-US" sz="1000" dirty="0"/>
          </a:p>
        </p:txBody>
      </p:sp>
      <p:sp>
        <p:nvSpPr>
          <p:cNvPr id="21" name="Shape 19"/>
          <p:cNvSpPr/>
          <p:nvPr/>
        </p:nvSpPr>
        <p:spPr>
          <a:xfrm>
            <a:off x="8549640" y="3950208"/>
            <a:ext cx="3246120" cy="1371600"/>
          </a:xfrm>
          <a:prstGeom prst="roundRect">
            <a:avLst>
              <a:gd name="adj" fmla="val 3333"/>
            </a:avLst>
          </a:prstGeom>
          <a:solidFill>
            <a:srgbClr val="22452A"/>
          </a:solidFill>
          <a:ln w="12700">
            <a:solidFill>
              <a:srgbClr val="5F8A3E"/>
            </a:solidFill>
            <a:prstDash val="solid"/>
          </a:ln>
        </p:spPr>
      </p:sp>
      <p:sp>
        <p:nvSpPr>
          <p:cNvPr id="22" name="Text 20"/>
          <p:cNvSpPr/>
          <p:nvPr/>
        </p:nvSpPr>
        <p:spPr>
          <a:xfrm>
            <a:off x="8778240" y="4078224"/>
            <a:ext cx="2788920" cy="256032"/>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Targets &amp; scope</a:t>
            </a:r>
            <a:endParaRPr lang="en-US" sz="1400" dirty="0"/>
          </a:p>
        </p:txBody>
      </p:sp>
      <p:sp>
        <p:nvSpPr>
          <p:cNvPr id="23" name="Text 21"/>
          <p:cNvSpPr/>
          <p:nvPr/>
        </p:nvSpPr>
        <p:spPr>
          <a:xfrm>
            <a:off x="8778240" y="4389120"/>
            <a:ext cx="2788920" cy="822960"/>
          </a:xfrm>
          <a:prstGeom prst="rect">
            <a:avLst/>
          </a:prstGeom>
          <a:noFill/>
          <a:ln/>
        </p:spPr>
        <p:txBody>
          <a:bodyPr wrap="square" lIns="0" tIns="0" rIns="0" bIns="0" rtlCol="0" anchor="t"/>
          <a:lstStyle/>
          <a:p>
            <a:pPr indent="0" marL="0">
              <a:lnSpc>
                <a:spcPct val="106000"/>
              </a:lnSpc>
              <a:buNone/>
            </a:pPr>
            <a:r>
              <a:rPr lang="en-US" sz="950" dirty="0">
                <a:solidFill>
                  <a:srgbClr val="DCE7D3"/>
                </a:solidFill>
                <a:latin typeface="Calibri" pitchFamily="34" charset="0"/>
                <a:ea typeface="Calibri" pitchFamily="34" charset="-122"/>
                <a:cs typeface="Calibri" pitchFamily="34" charset="-120"/>
              </a:rPr>
              <a:t>20,000+ concurrent users at sowing peak · 99.9% uptime · PII and bank details protected · in-app alerts only in Phase 1</a:t>
            </a:r>
            <a:endParaRPr lang="en-US" sz="950" dirty="0"/>
          </a:p>
        </p:txBody>
      </p:sp>
      <p:sp>
        <p:nvSpPr>
          <p:cNvPr id="24" name="Shape 22"/>
          <p:cNvSpPr/>
          <p:nvPr/>
        </p:nvSpPr>
        <p:spPr>
          <a:xfrm>
            <a:off x="411480" y="5532120"/>
            <a:ext cx="11384280" cy="822960"/>
          </a:xfrm>
          <a:prstGeom prst="roundRect">
            <a:avLst>
              <a:gd name="adj" fmla="val 5556"/>
            </a:avLst>
          </a:prstGeom>
          <a:solidFill>
            <a:srgbClr val="22452A"/>
          </a:solidFill>
          <a:ln w="12700">
            <a:solidFill>
              <a:srgbClr val="5F8A3E"/>
            </a:solidFill>
            <a:prstDash val="solid"/>
          </a:ln>
        </p:spPr>
      </p:sp>
      <p:sp>
        <p:nvSpPr>
          <p:cNvPr id="25" name="Text 23"/>
          <p:cNvSpPr/>
          <p:nvPr/>
        </p:nvSpPr>
        <p:spPr>
          <a:xfrm>
            <a:off x="658368" y="5586984"/>
            <a:ext cx="10881360" cy="713232"/>
          </a:xfrm>
          <a:prstGeom prst="rect">
            <a:avLst/>
          </a:prstGeom>
          <a:noFill/>
          <a:ln/>
        </p:spPr>
        <p:txBody>
          <a:bodyPr wrap="square" lIns="0" tIns="0" rIns="0" bIns="0" rtlCol="0" anchor="ctr"/>
          <a:lstStyle/>
          <a:p>
            <a:pPr indent="0" marL="0">
              <a:lnSpc>
                <a:spcPct val="115000"/>
              </a:lnSpc>
              <a:buNone/>
            </a:pPr>
            <a:r>
              <a:rPr lang="en-US" sz="1150" b="1" dirty="0">
                <a:solidFill>
                  <a:srgbClr val="97BC62"/>
                </a:solidFill>
                <a:latin typeface="Calibri" pitchFamily="34" charset="0"/>
                <a:ea typeface="Calibri" pitchFamily="34" charset="-122"/>
                <a:cs typeface="Calibri" pitchFamily="34" charset="-120"/>
              </a:rPr>
              <a:t>Slide order for the interview: </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lifecycle (what it does) → architecture (how it is built) → login &amp; guarded call (how it runs) → crop planning (what I built) → the fix (how I think).</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AgriLink — Workflow Walkthrough</dc:title>
  <dc:subject>PptxGenJS Presentation</dc:subject>
  <dc:creator>AgriLink</dc:creator>
  <cp:lastModifiedBy>AgriLink</cp:lastModifiedBy>
  <cp:revision>1</cp:revision>
  <dcterms:created xsi:type="dcterms:W3CDTF">2026-08-06T16:10:09Z</dcterms:created>
  <dcterms:modified xsi:type="dcterms:W3CDTF">2026-08-06T16:10:09Z</dcterms:modified>
</cp:coreProperties>
</file>